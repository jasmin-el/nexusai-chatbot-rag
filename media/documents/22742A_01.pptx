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8" r:id="rId14"/>
    <p:sldId id="289" r:id="rId15"/>
    <p:sldId id="268" r:id="rId16"/>
    <p:sldId id="269" r:id="rId17"/>
    <p:sldId id="270" r:id="rId18"/>
    <p:sldId id="271" r:id="rId19"/>
    <p:sldId id="272" r:id="rId20"/>
    <p:sldId id="290" r:id="rId21"/>
    <p:sldId id="273" r:id="rId22"/>
    <p:sldId id="274" r:id="rId23"/>
    <p:sldId id="275" r:id="rId24"/>
    <p:sldId id="276" r:id="rId25"/>
    <p:sldId id="294" r:id="rId26"/>
    <p:sldId id="277" r:id="rId27"/>
    <p:sldId id="278" r:id="rId28"/>
    <p:sldId id="279" r:id="rId29"/>
    <p:sldId id="280" r:id="rId30"/>
    <p:sldId id="281" r:id="rId31"/>
    <p:sldId id="282" r:id="rId32"/>
    <p:sldId id="283" r:id="rId33"/>
    <p:sldId id="291" r:id="rId34"/>
    <p:sldId id="292" r:id="rId35"/>
    <p:sldId id="295" r:id="rId36"/>
    <p:sldId id="284" r:id="rId37"/>
    <p:sldId id="285" r:id="rId38"/>
    <p:sldId id="286" r:id="rId39"/>
    <p:sldId id="287" r:id="rId40"/>
    <p:sldId id="293" r:id="rId41"/>
  </p:sldIdLst>
  <p:sldSz cx="9144000" cy="6858000" type="screen4x3"/>
  <p:notesSz cx="6858000" cy="9144000"/>
  <p:embeddedFontLst>
    <p:embeddedFont>
      <p:font typeface="Segoe UI" panose="020B0502040204020203"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
      <p:font typeface="Calibri" panose="020F0502020204030204" pitchFamily="3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441" autoAdjust="0"/>
    <p:restoredTop sz="63283" autoAdjust="0"/>
  </p:normalViewPr>
  <p:slideViewPr>
    <p:cSldViewPr>
      <p:cViewPr varScale="1">
        <p:scale>
          <a:sx n="67" d="100"/>
          <a:sy n="67" d="100"/>
        </p:scale>
        <p:origin x="1620" y="7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38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F3DBC9-755B-4D68-8AD1-B7A4CFA2EB59}" type="datetimeFigureOut">
              <a:rPr lang="en-US" smtClean="0"/>
              <a:t>3/16/2017</a:t>
            </a:fld>
            <a:endParaRPr lang="fr-FR"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7DA02D-7972-4BD4-9622-065EB71E6770}" type="slidenum">
              <a:rPr lang="en-US" smtClean="0"/>
              <a:t>‹#›</a:t>
            </a:fld>
            <a:endParaRPr lang="fr-FR" dirty="0"/>
          </a:p>
        </p:txBody>
      </p:sp>
    </p:spTree>
    <p:extLst>
      <p:ext uri="{BB962C8B-B14F-4D97-AF65-F5344CB8AC3E}">
        <p14:creationId xmlns:p14="http://schemas.microsoft.com/office/powerpoint/2010/main" val="1050846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aka.ms/Ah8978"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aka.ms/Y86bqa"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aka.ms/E2lons"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go.microsoft.com/fwlink/?LinkID=266738"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aka.ms/Lnxifx"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Présentation : </a:t>
            </a:r>
            <a:r>
              <a:rPr lang="fr-FR" sz="1000" b="1" dirty="0">
                <a:latin typeface="Arial"/>
              </a:rPr>
              <a:t>75 minutes</a:t>
            </a:r>
            <a:endParaRPr lang="fr-FR" sz="1000" dirty="0">
              <a:latin typeface="Arial"/>
              <a:ea typeface="Calibri"/>
              <a:cs typeface="Times New Roman"/>
            </a:endParaRPr>
          </a:p>
          <a:p>
            <a:pPr>
              <a:lnSpc>
                <a:spcPct val="115000"/>
              </a:lnSpc>
              <a:spcAft>
                <a:spcPts val="1000"/>
              </a:spcAft>
            </a:pPr>
            <a:r>
              <a:rPr lang="fr-FR" sz="1000" dirty="0">
                <a:latin typeface="Arial"/>
              </a:rPr>
              <a:t>Atelier pratique :</a:t>
            </a:r>
            <a:r>
              <a:rPr lang="fr-FR" sz="1000" b="1" dirty="0">
                <a:latin typeface="Arial"/>
              </a:rPr>
              <a:t> 50 minutes</a:t>
            </a:r>
            <a:endParaRPr lang="fr-FR" sz="1000" dirty="0">
              <a:latin typeface="Arial"/>
              <a:ea typeface="Calibri"/>
              <a:cs typeface="Times New Roman"/>
            </a:endParaRPr>
          </a:p>
          <a:p>
            <a:pPr>
              <a:lnSpc>
                <a:spcPct val="115000"/>
              </a:lnSpc>
              <a:spcAft>
                <a:spcPts val="1000"/>
              </a:spcAft>
            </a:pPr>
            <a:r>
              <a:rPr lang="fr-FR" sz="1000" dirty="0">
                <a:latin typeface="Arial"/>
              </a:rPr>
              <a:t>À la fin de ce module, les stagiaires seront à même de :</a:t>
            </a:r>
            <a:endParaRPr lang="fr-FR"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fr-FR" sz="1000" dirty="0">
                <a:effectLst/>
                <a:latin typeface="Arial"/>
              </a:rPr>
              <a:t>Décrire la structure d’Active Directory Domain Services (AD DS)</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effectLst/>
                <a:latin typeface="Arial"/>
              </a:rPr>
              <a:t>Décrire l’objectif des contrôleurs de domaine </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effectLst/>
                <a:latin typeface="Arial"/>
              </a:rPr>
              <a:t>Installer un contrôleur de domaine.</a:t>
            </a:r>
            <a:endParaRPr lang="fr-FR" sz="1000" dirty="0">
              <a:effectLst/>
              <a:latin typeface="Arial"/>
              <a:ea typeface="Times New Roman"/>
              <a:cs typeface="Times New Roman"/>
            </a:endParaRPr>
          </a:p>
          <a:p>
            <a:pPr>
              <a:lnSpc>
                <a:spcPct val="115000"/>
              </a:lnSpc>
              <a:spcAft>
                <a:spcPts val="1000"/>
              </a:spcAft>
            </a:pPr>
            <a:r>
              <a:rPr lang="fr-FR" sz="1000" b="1" dirty="0">
                <a:latin typeface="Arial"/>
              </a:rPr>
              <a:t>Documents de cours</a:t>
            </a:r>
            <a:endParaRPr lang="fr-FR" sz="1000" dirty="0">
              <a:latin typeface="Arial"/>
              <a:ea typeface="Calibri"/>
              <a:cs typeface="Times New Roman"/>
            </a:endParaRPr>
          </a:p>
          <a:p>
            <a:pPr>
              <a:lnSpc>
                <a:spcPct val="115000"/>
              </a:lnSpc>
              <a:spcAft>
                <a:spcPts val="1000"/>
              </a:spcAft>
            </a:pPr>
            <a:r>
              <a:rPr lang="fr-FR" sz="1000" dirty="0">
                <a:latin typeface="Arial"/>
              </a:rPr>
              <a:t>Pour animer ce module, vous aurez besoin du fichier Microsoft PowerPoint 22742A_01.pptx.</a:t>
            </a:r>
            <a:endParaRPr lang="fr-FR" sz="1000" dirty="0">
              <a:latin typeface="Arial"/>
              <a:ea typeface="Calibri"/>
              <a:cs typeface="Times New Roman"/>
            </a:endParaRPr>
          </a:p>
          <a:p>
            <a:pPr>
              <a:lnSpc>
                <a:spcPct val="115000"/>
              </a:lnSpc>
              <a:spcAft>
                <a:spcPts val="1000"/>
              </a:spcAft>
            </a:pPr>
            <a:r>
              <a:rPr lang="fr-FR" sz="1000" b="1" dirty="0">
                <a:latin typeface="Arial"/>
              </a:rPr>
              <a:t>Préparation</a:t>
            </a:r>
            <a:endParaRPr lang="fr-FR" sz="1000" dirty="0">
              <a:latin typeface="Arial"/>
              <a:ea typeface="Calibri"/>
              <a:cs typeface="Times New Roman"/>
            </a:endParaRPr>
          </a:p>
          <a:p>
            <a:pPr>
              <a:lnSpc>
                <a:spcPct val="115000"/>
              </a:lnSpc>
              <a:spcAft>
                <a:spcPts val="1000"/>
              </a:spcAft>
            </a:pPr>
            <a:r>
              <a:rPr lang="fr-FR" sz="1000" dirty="0">
                <a:latin typeface="Arial"/>
              </a:rPr>
              <a:t>Pour préparer ce module, vous devez effectuer les tâches suivantes :</a:t>
            </a:r>
            <a:endParaRPr lang="fr-FR"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Lire tous les matériaux de ce module.</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S’exercer à effectuer les</a:t>
            </a:r>
            <a:r>
              <a:rPr lang="fr-FR" sz="1000" dirty="0">
                <a:effectLst/>
                <a:latin typeface="Arial"/>
              </a:rPr>
              <a:t> démonstrations et</a:t>
            </a:r>
            <a:r>
              <a:rPr lang="fr-FR" sz="1000" dirty="0">
                <a:solidFill>
                  <a:srgbClr val="000000"/>
                </a:solidFill>
                <a:effectLst/>
                <a:latin typeface="Arial"/>
              </a:rPr>
              <a:t> l’atelier pratique.</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Passer en revue la section « Contrôle des acquis et éléments à retenir » et réfléchir à la façon de l’utiliser pour que les stagiaires puissent approfondir leurs connaissances et les mettre en pratique dans le cadre de leur fonction.</a:t>
            </a:r>
            <a:endParaRPr lang="fr-FR" sz="1000" dirty="0">
              <a:effectLst/>
              <a:latin typeface="Arial"/>
              <a:ea typeface="Times New Roman"/>
              <a:cs typeface="Times New Roman"/>
            </a:endParaRPr>
          </a:p>
          <a:p>
            <a:pPr>
              <a:lnSpc>
                <a:spcPct val="115000"/>
              </a:lnSpc>
              <a:spcAft>
                <a:spcPts val="1000"/>
              </a:spcAft>
            </a:pPr>
            <a:r>
              <a:rPr lang="fr-FR" sz="1000" dirty="0">
                <a:latin typeface="Arial"/>
              </a:rPr>
              <a:t>Pour préparer ce cours, il est impératif de réaliser l’exercice vous-même. Cela vous permet de comprendre la façon dont les ateliers pratiques se déroulent, ainsi que les concepts qu’ils décrivent. C’est également une manière de fournir des conseils utiles aux stagiaires qui rencontrent des problèmes lors des exercices. Vous serez également plus en mesure d’organiser votre cours afin de vous assurer que tous les concepts abordés dans les ateliers sont également traités dans votre atelier pratique.</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1</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948465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 </a:t>
            </a:r>
          </a:p>
        </p:txBody>
      </p:sp>
      <p:sp>
        <p:nvSpPr>
          <p:cNvPr id="4" name="Slide Number Placeholder 3"/>
          <p:cNvSpPr>
            <a:spLocks noGrp="1"/>
          </p:cNvSpPr>
          <p:nvPr>
            <p:ph type="sldNum" sz="quarter" idx="10"/>
          </p:nvPr>
        </p:nvSpPr>
        <p:spPr/>
        <p:txBody>
          <a:bodyPr/>
          <a:lstStyle/>
          <a:p>
            <a:fld id="{247DA02D-7972-4BD4-9622-065EB71E6770}" type="slidenum">
              <a:rPr lang="en-US" smtClean="0"/>
              <a:t>2</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410333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pPr>
            <a:r>
              <a:rPr lang="fr-FR" sz="1000" dirty="0">
                <a:effectLst/>
                <a:latin typeface="Arial"/>
              </a:rPr>
              <a:t>AD DS est la base de l’identité et de l’authentification Windows. Il est important que les stagiaires comprennent ce qu’est AD DS.</a:t>
            </a:r>
            <a:endParaRPr lang="fr-FR" sz="1000" dirty="0">
              <a:effectLst/>
              <a:latin typeface="Arial"/>
              <a:ea typeface="Times New Roman"/>
              <a:cs typeface="Times New Roman"/>
            </a:endParaRPr>
          </a:p>
          <a:p>
            <a:pPr>
              <a:lnSpc>
                <a:spcPct val="115000"/>
              </a:lnSpc>
              <a:spcBef>
                <a:spcPts val="600"/>
              </a:spcBef>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Quels sont les deux principaux objectifs des UO ?</a:t>
            </a:r>
            <a:endParaRPr lang="fr-FR" sz="1000" dirty="0">
              <a:latin typeface="Arial"/>
              <a:ea typeface="Calibri"/>
              <a:cs typeface="Times New Roman"/>
            </a:endParaRP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L</a:t>
            </a:r>
            <a:r>
              <a:rPr lang="fr-FR" sz="1000" dirty="0">
                <a:solidFill>
                  <a:srgbClr val="000000"/>
                </a:solidFill>
                <a:latin typeface="Arial"/>
              </a:rPr>
              <a:t>es deux objectifs principaux de UO sont de fournir un cadre pour la délégation de l’administration et de fournir une structure qui permet un déploiement GPO ciblé.</a:t>
            </a:r>
            <a:endParaRPr lang="fr-FR" sz="1000" dirty="0">
              <a:latin typeface="Arial"/>
              <a:ea typeface="Calibri"/>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Pourquoi auriez-vous besoin de déployer un arbre supplémentaire dans la forêt AD DS ?</a:t>
            </a:r>
            <a:endParaRPr lang="fr-FR" sz="1000" dirty="0">
              <a:latin typeface="Arial"/>
              <a:ea typeface="Calibri"/>
              <a:cs typeface="Times New Roman"/>
            </a:endParaRP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Vous auriez déployé un arbre supplémentaire dans la forêt AD DS si vous aviez besoin de plus d’un espace de nom Domain Name System (DNS).</a:t>
            </a:r>
          </a:p>
        </p:txBody>
      </p:sp>
      <p:sp>
        <p:nvSpPr>
          <p:cNvPr id="4" name="Slide Number Placeholder 3"/>
          <p:cNvSpPr>
            <a:spLocks noGrp="1"/>
          </p:cNvSpPr>
          <p:nvPr>
            <p:ph type="sldNum" sz="quarter" idx="10"/>
          </p:nvPr>
        </p:nvSpPr>
        <p:spPr/>
        <p:txBody>
          <a:bodyPr/>
          <a:lstStyle/>
          <a:p>
            <a:fld id="{247DA02D-7972-4BD4-9622-065EB71E6770}" type="slidenum">
              <a:rPr lang="en-US" smtClean="0"/>
              <a:t>3</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59145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Expliquer les composants logiques et physiques qui composent AD DS. Décrivez brièvement votre parcours.</a:t>
            </a:r>
          </a:p>
        </p:txBody>
      </p:sp>
      <p:sp>
        <p:nvSpPr>
          <p:cNvPr id="4" name="Slide Number Placeholder 3"/>
          <p:cNvSpPr>
            <a:spLocks noGrp="1"/>
          </p:cNvSpPr>
          <p:nvPr>
            <p:ph type="sldNum" sz="quarter" idx="10"/>
          </p:nvPr>
        </p:nvSpPr>
        <p:spPr/>
        <p:txBody>
          <a:bodyPr/>
          <a:lstStyle/>
          <a:p>
            <a:fld id="{247DA02D-7972-4BD4-9622-065EB71E6770}" type="slidenum">
              <a:rPr lang="en-US" smtClean="0"/>
              <a:t>4</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543556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solidFill>
                  <a:srgbClr val="000000"/>
                </a:solidFill>
                <a:latin typeface="Arial"/>
              </a:rPr>
              <a:t>Renforcer le concept que le schéma définit les règles et la syntaxe de la base de données AD DS et fournit le modèle pour les objets qui s’y trouvent.</a:t>
            </a:r>
            <a:endParaRPr lang="fr-FR" sz="1000" dirty="0">
              <a:latin typeface="Arial"/>
              <a:ea typeface="Calibri"/>
              <a:cs typeface="Times New Roman"/>
            </a:endParaRPr>
          </a:p>
          <a:p>
            <a:pPr>
              <a:lnSpc>
                <a:spcPct val="115000"/>
              </a:lnSpc>
              <a:spcAft>
                <a:spcPts val="1000"/>
              </a:spcAft>
            </a:pPr>
            <a:r>
              <a:rPr lang="fr-FR" sz="1000" dirty="0">
                <a:latin typeface="Arial"/>
              </a:rPr>
              <a:t>En option, vous pouvez montrer le composant logiciel enfichable du schéma Active Directory pour montrer comment les objets sont définis à partir des attributs.</a:t>
            </a:r>
            <a:endParaRPr lang="fr-FR" sz="1000" dirty="0">
              <a:latin typeface="Arial"/>
              <a:ea typeface="Calibri"/>
              <a:cs typeface="Times New Roman"/>
            </a:endParaRPr>
          </a:p>
          <a:p>
            <a:pPr>
              <a:lnSpc>
                <a:spcPct val="115000"/>
              </a:lnSpc>
              <a:spcAft>
                <a:spcPts val="1000"/>
              </a:spcAft>
            </a:pPr>
            <a:r>
              <a:rPr lang="fr-FR" sz="1000" dirty="0">
                <a:latin typeface="Arial"/>
              </a:rPr>
              <a:t>Vous pouvez également montrer la hiérarchie des objets et les attributs hérités. Par exemple, l’objet parent d’Utilisateur est Personne organisationnelle, l’objet parent de Personne organisationnelle est Personne et l’objet parent de Personne est un objet appelé Haut.</a:t>
            </a:r>
          </a:p>
          <a:p>
            <a:pPr>
              <a:lnSpc>
                <a:spcPct val="115000"/>
              </a:lnSpc>
              <a:spcAft>
                <a:spcPts val="1000"/>
              </a:spcAft>
            </a:pPr>
            <a:r>
              <a:rPr lang="fr-FR" sz="1000" dirty="0">
                <a:latin typeface="Arial"/>
              </a:rPr>
              <a:t>Faites remarquer que les attributs sont définis à chaque niveau de la hiérarchie. Cela signifie que l’objet Utilisateur contient tous les attributs qui sont définis sur la classe Utilisateur et tous les attributs définis plus haut dans la hiérarchie des objets (Personne organisationnelle, Personne, Haut).</a:t>
            </a:r>
          </a:p>
        </p:txBody>
      </p:sp>
      <p:sp>
        <p:nvSpPr>
          <p:cNvPr id="4" name="Slide Number Placeholder 3"/>
          <p:cNvSpPr>
            <a:spLocks noGrp="1"/>
          </p:cNvSpPr>
          <p:nvPr>
            <p:ph type="sldNum" sz="quarter" idx="10"/>
          </p:nvPr>
        </p:nvSpPr>
        <p:spPr/>
        <p:txBody>
          <a:bodyPr/>
          <a:lstStyle/>
          <a:p>
            <a:fld id="{247DA02D-7972-4BD4-9622-065EB71E6770}" type="slidenum">
              <a:rPr lang="en-US" smtClean="0"/>
              <a:t>5</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897355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Utiliser cette diapositive pour expliquer les relations entre le domaine racine de forêt, un domaine enfant et une autre arborescence. Insister sur le fait qu’aucune différence administrative n’existe entre le domaine enfant et une autre arborescence, en dehors des noms.</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6</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259757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Expliquez qu’un modèle de réplication multimaître signifie que chaque contrôleur de domaine peut apporter des modifications à la plupart des objets de répertoire. Soulignez le fait que le domaine AD DS fournit une structure pour la gestion des utilisateurs et des ordinateurs.</a:t>
            </a:r>
          </a:p>
        </p:txBody>
      </p:sp>
      <p:sp>
        <p:nvSpPr>
          <p:cNvPr id="4" name="Slide Number Placeholder 3"/>
          <p:cNvSpPr>
            <a:spLocks noGrp="1"/>
          </p:cNvSpPr>
          <p:nvPr>
            <p:ph type="sldNum" sz="quarter" idx="10"/>
          </p:nvPr>
        </p:nvSpPr>
        <p:spPr/>
        <p:txBody>
          <a:bodyPr/>
          <a:lstStyle/>
          <a:p>
            <a:fld id="{247DA02D-7972-4BD4-9622-065EB71E6770}" type="slidenum">
              <a:rPr lang="en-US" smtClean="0"/>
              <a:t>7</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31926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Établissez clairement pour les stagiaires la différence entre les unités organisationnelles (UO) et les conteneurs et expliquez que les conteneurs ne sont pas des UO. Bien que les conteneurs peuvent contenir des objets, ils ne peuvent pas avoir d’objets de stratégie de groupe (GPO) qui leur sont liés. Par conséquent, si vous souhaitez affecter un GPO autre qu’un GPO de niveau de domaine à un objet, il doit être dans une UO.</a:t>
            </a:r>
          </a:p>
          <a:p>
            <a:pPr>
              <a:lnSpc>
                <a:spcPct val="115000"/>
              </a:lnSpc>
              <a:spcAft>
                <a:spcPts val="1000"/>
              </a:spcAft>
            </a:pPr>
            <a:r>
              <a:rPr lang="fr-FR" sz="1000" dirty="0">
                <a:latin typeface="Arial"/>
              </a:rPr>
              <a:t>Expliquez aux stagiaires que les objets deviennent plus souvent orphelins lorsqu’un administrateur d’un contrôleur de domaine supprime un objet de conteneur, généralement une UO et qu’un administrateur d’un autre contrôleur de domaine crée un objet enfant, comme un utilisateur, dans ce conteneur avant que la suppression ne soit répliquée.</a:t>
            </a:r>
          </a:p>
          <a:p>
            <a:pPr>
              <a:lnSpc>
                <a:spcPct val="115000"/>
              </a:lnSpc>
              <a:spcAft>
                <a:spcPts val="1000"/>
              </a:spcAft>
            </a:pPr>
            <a:r>
              <a:rPr lang="fr-FR" sz="1000" dirty="0">
                <a:latin typeface="Arial"/>
              </a:rPr>
              <a:t>Rappelez aux stagiaires que la structure de l’UO ne correspond généralement pas l’organigramme, mais qu’elle est conçue pour prendre en charge la délégation de l’administration et devrait être un cadre pour soutenir les liens GPO. Dans une grande organisation (avec 50 000 utilisateurs et ordinateurs par exemple), il est beaucoup plus gérable de diviser les objets en UO au lieu d’essayer de les gérer dans une seule très grande unité.</a:t>
            </a:r>
          </a:p>
          <a:p>
            <a:pPr>
              <a:lnSpc>
                <a:spcPct val="115000"/>
              </a:lnSpc>
              <a:spcAft>
                <a:spcPts val="1000"/>
              </a:spcAft>
            </a:pPr>
            <a:r>
              <a:rPr lang="fr-FR" sz="1000" dirty="0">
                <a:latin typeface="Arial"/>
              </a:rPr>
              <a:t>Abordez certains des critères qui pourraient conduire la conception de la structure de l’UO, tels que l’emplacement géographique, le département, le type d’objet et le centre de coûts.</a:t>
            </a:r>
          </a:p>
        </p:txBody>
      </p:sp>
      <p:sp>
        <p:nvSpPr>
          <p:cNvPr id="4" name="Slide Number Placeholder 3"/>
          <p:cNvSpPr>
            <a:spLocks noGrp="1"/>
          </p:cNvSpPr>
          <p:nvPr>
            <p:ph type="sldNum" sz="quarter" idx="10"/>
          </p:nvPr>
        </p:nvSpPr>
        <p:spPr/>
        <p:txBody>
          <a:bodyPr/>
          <a:lstStyle/>
          <a:p>
            <a:fld id="{247DA02D-7972-4BD4-9622-065EB71E6770}" type="slidenum">
              <a:rPr lang="en-US" smtClean="0"/>
              <a:t>8</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072602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Revoyez brièvement les points de la diapositive.</a:t>
            </a:r>
          </a:p>
        </p:txBody>
      </p:sp>
      <p:sp>
        <p:nvSpPr>
          <p:cNvPr id="4" name="Slide Number Placeholder 3"/>
          <p:cNvSpPr>
            <a:spLocks noGrp="1"/>
          </p:cNvSpPr>
          <p:nvPr>
            <p:ph type="sldNum" sz="quarter" idx="10"/>
          </p:nvPr>
        </p:nvSpPr>
        <p:spPr/>
        <p:txBody>
          <a:bodyPr/>
          <a:lstStyle/>
          <a:p>
            <a:fld id="{247DA02D-7972-4BD4-9622-065EB71E6770}" type="slidenum">
              <a:rPr lang="en-US" smtClean="0"/>
              <a:t>9</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4149248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Fournissez aux stagiaires un aperçu de Microsoft Azure Active Directory (Azure AD). Insistez sur le fait que cela ne remplace pas une solution Active Directory sur site, mais cela assure la gestion des identités pour les applications basées sur le cloud. Expliquez qu’Azure AD est hébergé sur du matériel Microsoft et que les abonnés sont seulement responsables de la gestion de leurs utilisateurs et non pas du logiciel ou du matériel sous-jacent.</a:t>
            </a:r>
          </a:p>
          <a:p>
            <a:pPr>
              <a:lnSpc>
                <a:spcPct val="115000"/>
              </a:lnSpc>
              <a:spcAft>
                <a:spcPts val="1000"/>
              </a:spcAft>
            </a:pPr>
            <a:r>
              <a:rPr lang="fr-FR" sz="1000" dirty="0">
                <a:latin typeface="Arial"/>
              </a:rPr>
              <a:t>Pour préparer ce module, voir : « Documentation Active Directory Azure » à : </a:t>
            </a:r>
            <a:r>
              <a:rPr lang="fr-FR" sz="1000" u="sng" dirty="0">
                <a:solidFill>
                  <a:srgbClr val="0000FF"/>
                </a:solidFill>
                <a:latin typeface="Arial"/>
              </a:rPr>
              <a:t>http://aka.ms/Y86bqa</a:t>
            </a:r>
            <a:r>
              <a:rPr lang="fr-FR"/>
              <a:t> </a:t>
            </a:r>
          </a:p>
        </p:txBody>
      </p:sp>
      <p:sp>
        <p:nvSpPr>
          <p:cNvPr id="4" name="Slide Number Placeholder 3"/>
          <p:cNvSpPr>
            <a:spLocks noGrp="1"/>
          </p:cNvSpPr>
          <p:nvPr>
            <p:ph type="sldNum" sz="quarter" idx="10"/>
          </p:nvPr>
        </p:nvSpPr>
        <p:spPr/>
        <p:txBody>
          <a:bodyPr/>
          <a:lstStyle/>
          <a:p>
            <a:fld id="{247DA02D-7972-4BD4-9622-065EB71E6770}" type="slidenum">
              <a:rPr lang="en-US" smtClean="0"/>
              <a:t>10</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62942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 Expliquez les différents outils de gestion AD DS, leur utilisation et leur historique. </a:t>
            </a:r>
          </a:p>
        </p:txBody>
      </p:sp>
      <p:sp>
        <p:nvSpPr>
          <p:cNvPr id="4" name="Slide Number Placeholder 3"/>
          <p:cNvSpPr>
            <a:spLocks noGrp="1"/>
          </p:cNvSpPr>
          <p:nvPr>
            <p:ph type="sldNum" sz="quarter" idx="10"/>
          </p:nvPr>
        </p:nvSpPr>
        <p:spPr/>
        <p:txBody>
          <a:bodyPr/>
          <a:lstStyle/>
          <a:p>
            <a:fld id="{247DA02D-7972-4BD4-9622-065EB71E6770}" type="slidenum">
              <a:rPr lang="en-US" smtClean="0"/>
              <a:t>11</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652478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À l’issue de la démonstration, laissez tous les ordinateurs virtuels s’exécuter pour les démonstrations suivantes. Si vous rencontrez des problèmes lors de la création de l’ordinateur, assurez-vous que les deux contrôleurs de domaine </a:t>
            </a:r>
            <a:r>
              <a:rPr lang="fr-FR" sz="1000" b="1" dirty="0">
                <a:latin typeface="Arial"/>
              </a:rPr>
              <a:t>22742A-LON-DC1</a:t>
            </a:r>
            <a:r>
              <a:rPr lang="fr-FR" sz="1000" dirty="0">
                <a:latin typeface="Arial"/>
              </a:rPr>
              <a:t> et </a:t>
            </a:r>
            <a:r>
              <a:rPr lang="fr-FR" sz="1000" b="1" dirty="0">
                <a:latin typeface="Arial"/>
              </a:rPr>
              <a:t>22742A-LON-DC2</a:t>
            </a:r>
            <a:r>
              <a:rPr lang="fr-FR" sz="1000" dirty="0">
                <a:latin typeface="Arial"/>
              </a:rPr>
              <a:t> ont été lancés et répliqués. Sinon, le propriétaire du rôle d’opérations à maître unique flottant (FMSO) ne peut pas être validé et la création de nouveaux objets peut échouer.</a:t>
            </a:r>
          </a:p>
          <a:p>
            <a:pPr>
              <a:lnSpc>
                <a:spcPct val="115000"/>
              </a:lnSpc>
              <a:spcAft>
                <a:spcPts val="1000"/>
              </a:spcAft>
            </a:pPr>
            <a:r>
              <a:rPr lang="fr-FR" sz="1000" dirty="0">
                <a:solidFill>
                  <a:srgbClr val="000000"/>
                </a:solidFill>
                <a:latin typeface="Arial"/>
              </a:rPr>
              <a:t>Avant d’effectuer cette démonstration, consultez le sujet Vue d’ensemble du Centre d’administration Active Directory à l’adresse </a:t>
            </a:r>
            <a:r>
              <a:rPr lang="en-US" sz="1000" u="sng" dirty="0">
                <a:latin typeface="Arial"/>
                <a:ea typeface="Calibri"/>
                <a:cs typeface="Segoe UI"/>
                <a:hlinkClick r:id="rId3"/>
              </a:rPr>
              <a:t>http://aka.ms/Ah8978</a:t>
            </a:r>
            <a:r>
              <a:rPr lang="en-US" sz="1000" dirty="0">
                <a:latin typeface="Arial"/>
                <a:ea typeface="Calibri"/>
                <a:cs typeface="Segoe UI"/>
              </a:rPr>
              <a:t> </a:t>
            </a:r>
            <a:r>
              <a:rPr lang="fr-FR" sz="1000" dirty="0">
                <a:solidFill>
                  <a:srgbClr val="000000"/>
                </a:solidFill>
                <a:latin typeface="Arial"/>
              </a:rPr>
              <a:t>et les noms des éléments de l’interface utilisateur.</a:t>
            </a:r>
            <a:endParaRPr lang="fr-FR" sz="1000" dirty="0">
              <a:latin typeface="Arial"/>
              <a:ea typeface="Calibri"/>
              <a:cs typeface="Times New Roman"/>
            </a:endParaRPr>
          </a:p>
          <a:p>
            <a:pPr>
              <a:lnSpc>
                <a:spcPct val="115000"/>
              </a:lnSpc>
              <a:spcAft>
                <a:spcPts val="1000"/>
              </a:spcAft>
            </a:pPr>
            <a:r>
              <a:rPr lang="fr-FR" sz="1000" dirty="0">
                <a:latin typeface="Arial"/>
              </a:rPr>
              <a:t>Assurez-vous de souligner la différence visuelle entre une UO et un conteneur : une UO est représentée par un dossier avec un livre (ou carré) sur lui et un conteneur est représenté par un dossier vide.</a:t>
            </a:r>
          </a:p>
          <a:p>
            <a:pPr>
              <a:lnSpc>
                <a:spcPct val="115000"/>
              </a:lnSpc>
              <a:spcAft>
                <a:spcPts val="1000"/>
              </a:spcAft>
            </a:pPr>
            <a:r>
              <a:rPr lang="fr-FR" sz="1000" b="1" dirty="0">
                <a:latin typeface="Arial"/>
              </a:rPr>
              <a:t>Étapes de préparation</a:t>
            </a:r>
            <a:endParaRPr lang="fr-FR" sz="1000" dirty="0">
              <a:latin typeface="Arial"/>
              <a:ea typeface="Calibri"/>
              <a:cs typeface="Times New Roman"/>
            </a:endParaRPr>
          </a:p>
          <a:p>
            <a:pPr>
              <a:lnSpc>
                <a:spcPct val="115000"/>
              </a:lnSpc>
              <a:spcAft>
                <a:spcPts val="1000"/>
              </a:spcAft>
            </a:pPr>
            <a:r>
              <a:rPr lang="fr-FR" sz="1000" dirty="0">
                <a:latin typeface="Arial"/>
              </a:rPr>
              <a:t>Pour cette démonstration, vous avez besoin de l’ordinateur virtuel </a:t>
            </a:r>
            <a:r>
              <a:rPr lang="fr-FR" sz="1000" b="1" dirty="0">
                <a:latin typeface="Arial"/>
              </a:rPr>
              <a:t>22742A-LON-DC1</a:t>
            </a:r>
            <a:r>
              <a:rPr lang="fr-FR" sz="1000" dirty="0">
                <a:latin typeface="Arial"/>
              </a:rPr>
              <a:t>. Se connecter en tant qu’</a:t>
            </a:r>
            <a:r>
              <a:rPr lang="fr-FR" sz="1000" b="1" dirty="0">
                <a:latin typeface="Arial"/>
              </a:rPr>
              <a:t>Adatum\Administrator</a:t>
            </a:r>
            <a:r>
              <a:rPr lang="fr-FR" sz="1000" dirty="0">
                <a:latin typeface="Arial"/>
              </a:rPr>
              <a:t> avec le mot de passe </a:t>
            </a:r>
            <a:r>
              <a:rPr lang="fr-FR" sz="1000" b="1" dirty="0">
                <a:latin typeface="Arial"/>
              </a:rPr>
              <a:t>Pa$$w0rd.</a:t>
            </a:r>
            <a:r>
              <a:rPr lang="fr-FR" sz="1000" dirty="0">
                <a:latin typeface="Arial"/>
              </a:rPr>
              <a:t>.</a:t>
            </a:r>
          </a:p>
          <a:p>
            <a:pPr>
              <a:lnSpc>
                <a:spcPct val="115000"/>
              </a:lnSpc>
              <a:spcAft>
                <a:spcPts val="1000"/>
              </a:spcAft>
            </a:pPr>
            <a:r>
              <a:rPr lang="fr-FR" sz="1000" b="1" dirty="0">
                <a:latin typeface="Arial"/>
              </a:rPr>
              <a:t>Procédure de démonstration</a:t>
            </a:r>
            <a:endParaRPr lang="fr-FR" sz="1000" dirty="0">
              <a:latin typeface="Arial"/>
              <a:ea typeface="Calibri"/>
              <a:cs typeface="Times New Roman"/>
            </a:endParaRPr>
          </a:p>
          <a:p>
            <a:pPr>
              <a:lnSpc>
                <a:spcPts val="1300"/>
              </a:lnSpc>
              <a:spcBef>
                <a:spcPts val="900"/>
              </a:spcBef>
              <a:spcAft>
                <a:spcPts val="300"/>
              </a:spcAft>
            </a:pPr>
            <a:r>
              <a:rPr lang="fr-FR" sz="1000" b="1" dirty="0">
                <a:effectLst/>
                <a:latin typeface="Arial"/>
              </a:rPr>
              <a:t>Naviguez dans le Centre d’administration Active Directory.</a:t>
            </a:r>
          </a:p>
          <a:p>
            <a:pPr marL="342900" marR="0" lvl="0" indent="-342900">
              <a:lnSpc>
                <a:spcPct val="115000"/>
              </a:lnSpc>
              <a:spcBef>
                <a:spcPts val="0"/>
              </a:spcBef>
              <a:spcAft>
                <a:spcPts val="995"/>
              </a:spcAft>
              <a:buFont typeface="+mj-lt"/>
              <a:buAutoNum type="arabicPeriod"/>
            </a:pPr>
            <a:r>
              <a:rPr lang="fr-FR" sz="1000" dirty="0">
                <a:effectLst/>
                <a:latin typeface="Arial"/>
              </a:rPr>
              <a:t>Sur </a:t>
            </a:r>
            <a:r>
              <a:rPr lang="fr-FR" sz="1000" b="1" dirty="0">
                <a:effectLst/>
                <a:latin typeface="Arial"/>
              </a:rPr>
              <a:t>LON-DC1</a:t>
            </a:r>
            <a:r>
              <a:rPr lang="fr-FR" sz="1000" dirty="0">
                <a:effectLst/>
                <a:latin typeface="Arial"/>
              </a:rPr>
              <a:t>, dans le Gestionnaire de serveur, cliquez sur </a:t>
            </a:r>
            <a:r>
              <a:rPr lang="fr-FR" sz="1000" b="1" dirty="0">
                <a:effectLst/>
                <a:latin typeface="Arial"/>
              </a:rPr>
              <a:t>Outils</a:t>
            </a:r>
            <a:r>
              <a:rPr lang="fr-FR" sz="1000" dirty="0">
                <a:effectLst/>
                <a:latin typeface="Arial"/>
              </a:rPr>
              <a:t>, puis sur </a:t>
            </a:r>
            <a:r>
              <a:rPr lang="fr-FR" sz="1000" b="1" dirty="0">
                <a:effectLst/>
                <a:latin typeface="Arial"/>
              </a:rPr>
              <a:t>Centre d’administration Active Directory.</a:t>
            </a:r>
          </a:p>
          <a:p>
            <a:pPr marL="342900" marR="0" lvl="0" indent="-342900">
              <a:lnSpc>
                <a:spcPct val="115000"/>
              </a:lnSpc>
              <a:spcBef>
                <a:spcPts val="0"/>
              </a:spcBef>
              <a:spcAft>
                <a:spcPts val="995"/>
              </a:spcAft>
              <a:buFont typeface="+mj-lt"/>
              <a:buAutoNum type="arabicPeriod"/>
            </a:pPr>
            <a:r>
              <a:rPr lang="fr-FR" sz="1000" dirty="0">
                <a:effectLst/>
                <a:latin typeface="Arial"/>
              </a:rPr>
              <a:t>Cliquez sur </a:t>
            </a:r>
            <a:r>
              <a:rPr lang="fr-FR" sz="1000" b="1" dirty="0">
                <a:effectLst/>
                <a:latin typeface="Arial"/>
              </a:rPr>
              <a:t>Adatum (local)</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fr-FR" sz="1000" dirty="0">
                <a:effectLst/>
                <a:latin typeface="Arial"/>
              </a:rPr>
              <a:t>Cliquez sur</a:t>
            </a:r>
            <a:r>
              <a:rPr lang="fr-FR" sz="1000" b="1" dirty="0">
                <a:effectLst/>
                <a:latin typeface="Arial"/>
              </a:rPr>
              <a:t> Contrôle d’accès dynamique</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fr-FR" sz="1000" dirty="0">
                <a:effectLst/>
                <a:latin typeface="Arial"/>
              </a:rPr>
              <a:t>Cliquez sur </a:t>
            </a:r>
            <a:r>
              <a:rPr lang="fr-FR" sz="1000" b="1" dirty="0">
                <a:effectLst/>
                <a:latin typeface="Arial"/>
              </a:rPr>
              <a:t>Recherche globale</a:t>
            </a:r>
            <a:r>
              <a:rPr lang="fr-FR" sz="1000" dirty="0">
                <a:effectLst/>
                <a:latin typeface="Arial"/>
              </a:rPr>
              <a:t>.</a:t>
            </a:r>
          </a:p>
          <a:p>
            <a:pPr marL="342900" marR="0" lvl="0" indent="-342900">
              <a:lnSpc>
                <a:spcPct val="115000"/>
              </a:lnSpc>
              <a:spcBef>
                <a:spcPts val="0"/>
              </a:spcBef>
              <a:spcAft>
                <a:spcPts val="995"/>
              </a:spcAft>
              <a:buFont typeface="+mj-lt"/>
              <a:buAutoNum type="arabicPeriod"/>
            </a:pPr>
            <a:r>
              <a:rPr lang="fr-FR" sz="1000" dirty="0">
                <a:effectLst/>
                <a:latin typeface="Arial"/>
              </a:rPr>
              <a:t>Dans le volet de navigation, cliquez sur l’onglet </a:t>
            </a:r>
            <a:r>
              <a:rPr lang="fr-FR" sz="1000" b="1" dirty="0">
                <a:effectLst/>
                <a:latin typeface="Arial"/>
              </a:rPr>
              <a:t>Arborescence</a:t>
            </a:r>
            <a:r>
              <a:rPr lang="fr-FR" sz="1000" dirty="0">
                <a:effectLst/>
                <a:latin typeface="Arial"/>
              </a:rPr>
              <a:t>, puis développez le nœud </a:t>
            </a:r>
            <a:r>
              <a:rPr lang="fr-FR" sz="1000" b="1" dirty="0">
                <a:effectLst/>
                <a:latin typeface="Arial"/>
              </a:rPr>
              <a:t>Adatum (local)</a:t>
            </a:r>
            <a:r>
              <a:rPr lang="fr-FR" sz="1000" dirty="0">
                <a:effectLst/>
                <a:latin typeface="Arial"/>
              </a:rPr>
              <a:t> pour afficher les détails du domaine Adatum.com.</a:t>
            </a:r>
          </a:p>
          <a:p>
            <a:pPr>
              <a:lnSpc>
                <a:spcPts val="1300"/>
              </a:lnSpc>
              <a:spcBef>
                <a:spcPts val="900"/>
              </a:spcBef>
              <a:spcAft>
                <a:spcPts val="300"/>
              </a:spcAft>
            </a:pPr>
            <a:r>
              <a:rPr lang="fr-FR" sz="1000" b="1" dirty="0">
                <a:effectLst/>
                <a:latin typeface="Arial"/>
              </a:rPr>
              <a:t>Effectuer une tâche administrative au sein du Centre d’administration Active Directory</a:t>
            </a:r>
          </a:p>
          <a:p>
            <a:pPr marL="342900" marR="0" lvl="0" indent="-342900">
              <a:lnSpc>
                <a:spcPct val="115000"/>
              </a:lnSpc>
              <a:spcBef>
                <a:spcPts val="0"/>
              </a:spcBef>
              <a:spcAft>
                <a:spcPts val="995"/>
              </a:spcAft>
              <a:buFont typeface="+mj-lt"/>
              <a:buAutoNum type="arabicPeriod"/>
            </a:pPr>
            <a:r>
              <a:rPr lang="fr-FR" sz="1000" dirty="0">
                <a:effectLst/>
                <a:latin typeface="Arial"/>
              </a:rPr>
              <a:t>Dans le Centre d’administration Active Directory, cliquez sur </a:t>
            </a:r>
            <a:r>
              <a:rPr lang="fr-FR" sz="1000" b="1" dirty="0">
                <a:effectLst/>
                <a:latin typeface="Arial"/>
              </a:rPr>
              <a:t>Aperçu</a:t>
            </a:r>
            <a:r>
              <a:rPr lang="fr-FR" sz="1000" dirty="0">
                <a:effectLst/>
                <a:latin typeface="Arial"/>
              </a:rPr>
              <a:t>.</a:t>
            </a:r>
          </a:p>
          <a:p>
            <a:pPr marL="342900" indent="-342900">
              <a:lnSpc>
                <a:spcPct val="115000"/>
              </a:lnSpc>
              <a:spcAft>
                <a:spcPts val="995"/>
              </a:spcAft>
              <a:buFont typeface="+mj-lt"/>
              <a:buAutoNum type="arabicPeriod"/>
            </a:pPr>
            <a:r>
              <a:rPr lang="fr-FR" sz="1000" dirty="0">
                <a:solidFill>
                  <a:prstClr val="black"/>
                </a:solidFill>
                <a:latin typeface="Arial"/>
              </a:rPr>
              <a:t>Dans la zone </a:t>
            </a:r>
            <a:r>
              <a:rPr lang="fr-FR" sz="1000" b="1" dirty="0">
                <a:solidFill>
                  <a:prstClr val="black"/>
                </a:solidFill>
                <a:latin typeface="Arial"/>
              </a:rPr>
              <a:t>Réinitialiser le mot de passe, </a:t>
            </a:r>
            <a:r>
              <a:rPr lang="fr-FR" sz="1000" dirty="0">
                <a:solidFill>
                  <a:prstClr val="black"/>
                </a:solidFill>
                <a:latin typeface="Arial"/>
              </a:rPr>
              <a:t>dans la zone de texte </a:t>
            </a:r>
            <a:r>
              <a:rPr lang="fr-FR" sz="1000" b="1" dirty="0">
                <a:solidFill>
                  <a:prstClr val="black"/>
                </a:solidFill>
                <a:latin typeface="Arial"/>
              </a:rPr>
              <a:t>Nom d’utilisateur,</a:t>
            </a:r>
            <a:r>
              <a:rPr lang="fr-FR" sz="1000" dirty="0">
                <a:solidFill>
                  <a:prstClr val="black"/>
                </a:solidFill>
                <a:latin typeface="Arial"/>
              </a:rPr>
              <a:t> tapez </a:t>
            </a:r>
            <a:r>
              <a:rPr lang="fr-FR" sz="1000" b="1" dirty="0">
                <a:solidFill>
                  <a:prstClr val="black"/>
                </a:solidFill>
                <a:latin typeface="Arial"/>
              </a:rPr>
              <a:t>Adatum\David.</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endParaRPr lang="fr-FR"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12</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Tree>
    <p:extLst>
      <p:ext uri="{BB962C8B-B14F-4D97-AF65-F5344CB8AC3E}">
        <p14:creationId xmlns:p14="http://schemas.microsoft.com/office/powerpoint/2010/main" val="2937340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3"/>
            </a:pPr>
            <a:r>
              <a:rPr lang="fr-FR" sz="1000" dirty="0">
                <a:solidFill>
                  <a:prstClr val="black"/>
                </a:solidFill>
                <a:latin typeface="Arial"/>
              </a:rPr>
              <a:t>Désactivez la case à cocher </a:t>
            </a:r>
            <a:r>
              <a:rPr lang="fr-FR" sz="1000" b="1" dirty="0">
                <a:solidFill>
                  <a:prstClr val="black"/>
                </a:solidFill>
                <a:latin typeface="Arial"/>
              </a:rPr>
              <a:t>L’utilisateur doit changer le mot de passe à la prochaine connexion</a:t>
            </a:r>
            <a:r>
              <a:rPr lang="fr-FR" sz="1000" dirty="0">
                <a:solidFill>
                  <a:prstClr val="black"/>
                </a:solidFill>
                <a:latin typeface="Arial"/>
              </a:rPr>
              <a:t> , puis cliquez sur </a:t>
            </a:r>
            <a:r>
              <a:rPr lang="fr-FR" sz="1000" b="1" dirty="0">
                <a:solidFill>
                  <a:prstClr val="black"/>
                </a:solidFill>
                <a:latin typeface="Arial"/>
              </a:rPr>
              <a:t>Appliquer</a:t>
            </a:r>
            <a:r>
              <a:rPr lang="fr-FR" sz="1000" dirty="0">
                <a:solidFill>
                  <a:prstClr val="black"/>
                </a:solidFill>
                <a:latin typeface="Arial"/>
              </a:rPr>
              <a:t>.</a:t>
            </a:r>
          </a:p>
          <a:p>
            <a:pPr marL="342900" lvl="0" indent="-342900">
              <a:lnSpc>
                <a:spcPct val="115000"/>
              </a:lnSpc>
              <a:spcAft>
                <a:spcPts val="995"/>
              </a:spcAft>
              <a:buFont typeface="+mj-lt"/>
              <a:buAutoNum type="arabicPeriod" startAt="3"/>
            </a:pPr>
            <a:r>
              <a:rPr lang="fr-FR" sz="1000" dirty="0">
                <a:solidFill>
                  <a:prstClr val="black"/>
                </a:solidFill>
                <a:latin typeface="Arial"/>
              </a:rPr>
              <a:t>dans la zone </a:t>
            </a:r>
            <a:r>
              <a:rPr lang="fr-FR" sz="1000" b="1" dirty="0">
                <a:solidFill>
                  <a:prstClr val="black"/>
                </a:solidFill>
                <a:latin typeface="Arial"/>
              </a:rPr>
              <a:t>Recherche globale</a:t>
            </a:r>
            <a:r>
              <a:rPr lang="fr-FR" sz="1000" dirty="0">
                <a:solidFill>
                  <a:prstClr val="black"/>
                </a:solidFill>
                <a:latin typeface="Arial"/>
              </a:rPr>
              <a:t>, dans la zone </a:t>
            </a:r>
            <a:r>
              <a:rPr lang="fr-FR" sz="1000" b="1" dirty="0">
                <a:solidFill>
                  <a:prstClr val="black"/>
                </a:solidFill>
                <a:latin typeface="Arial"/>
              </a:rPr>
              <a:t>Rechercher</a:t>
            </a:r>
            <a:r>
              <a:rPr lang="fr-FR" sz="1000" dirty="0">
                <a:solidFill>
                  <a:prstClr val="black"/>
                </a:solidFill>
                <a:latin typeface="Arial"/>
              </a:rPr>
              <a:t>, saisissez </a:t>
            </a:r>
            <a:r>
              <a:rPr lang="fr-FR" sz="1000" b="1" dirty="0">
                <a:solidFill>
                  <a:prstClr val="black"/>
                </a:solidFill>
                <a:latin typeface="Arial"/>
              </a:rPr>
              <a:t>Lon</a:t>
            </a:r>
            <a:r>
              <a:rPr lang="fr-FR" sz="1000" dirty="0">
                <a:solidFill>
                  <a:prstClr val="black"/>
                </a:solidFill>
                <a:latin typeface="Arial"/>
              </a:rPr>
              <a:t>, puis appuyez sur Entrée.</a:t>
            </a:r>
          </a:p>
          <a:p>
            <a:pPr lvl="0">
              <a:lnSpc>
                <a:spcPts val="1300"/>
              </a:lnSpc>
              <a:spcBef>
                <a:spcPts val="900"/>
              </a:spcBef>
              <a:spcAft>
                <a:spcPts val="300"/>
              </a:spcAft>
            </a:pPr>
            <a:r>
              <a:rPr lang="fr-FR" sz="1000" b="1" dirty="0">
                <a:solidFill>
                  <a:prstClr val="black"/>
                </a:solidFill>
                <a:latin typeface="Arial"/>
              </a:rPr>
              <a:t>Création d’un objet</a:t>
            </a:r>
          </a:p>
          <a:p>
            <a:pPr marL="342900" lvl="0" indent="-342900">
              <a:lnSpc>
                <a:spcPct val="115000"/>
              </a:lnSpc>
              <a:spcAft>
                <a:spcPts val="995"/>
              </a:spcAft>
              <a:buFont typeface="+mj-lt"/>
              <a:buAutoNum type="arabicPeriod"/>
            </a:pPr>
            <a:r>
              <a:rPr lang="fr-FR" sz="1000" dirty="0">
                <a:solidFill>
                  <a:prstClr val="black"/>
                </a:solidFill>
                <a:latin typeface="Arial"/>
              </a:rPr>
              <a:t>Dans le Centre d’administration Active Directory, dans l’arborescence du volet de navigation, développez </a:t>
            </a:r>
            <a:r>
              <a:rPr lang="fr-FR" sz="1000" b="1" dirty="0">
                <a:solidFill>
                  <a:prstClr val="black"/>
                </a:solidFill>
                <a:latin typeface="Arial"/>
              </a:rPr>
              <a:t>Adatum (local)</a:t>
            </a:r>
            <a:r>
              <a:rPr lang="fr-FR" sz="1000" dirty="0">
                <a:solidFill>
                  <a:prstClr val="black"/>
                </a:solidFill>
                <a:latin typeface="Arial"/>
              </a:rPr>
              <a:t>, Puis cliquez sur le conteneur </a:t>
            </a:r>
            <a:r>
              <a:rPr lang="fr-FR" sz="1000" b="1" dirty="0">
                <a:solidFill>
                  <a:prstClr val="black"/>
                </a:solidFill>
                <a:latin typeface="Arial"/>
              </a:rPr>
              <a:t>Ordinateurs</a:t>
            </a:r>
            <a:r>
              <a:rPr lang="fr-FR" sz="1000" dirty="0">
                <a:solidFill>
                  <a:prstClr val="black"/>
                </a:solidFill>
                <a:latin typeface="Arial"/>
              </a:rPr>
              <a:t>.</a:t>
            </a:r>
          </a:p>
          <a:p>
            <a:pPr marL="342900" lvl="0" indent="-342900">
              <a:lnSpc>
                <a:spcPct val="115000"/>
              </a:lnSpc>
              <a:spcAft>
                <a:spcPts val="995"/>
              </a:spcAft>
              <a:buFont typeface="+mj-lt"/>
              <a:buAutoNum type="arabicPeriod"/>
            </a:pPr>
            <a:r>
              <a:rPr lang="fr-FR" sz="1000" dirty="0">
                <a:solidFill>
                  <a:prstClr val="black"/>
                </a:solidFill>
                <a:latin typeface="Arial"/>
              </a:rPr>
              <a:t>Dans le volet </a:t>
            </a:r>
            <a:r>
              <a:rPr lang="fr-FR" sz="1000" b="1" dirty="0">
                <a:solidFill>
                  <a:prstClr val="black"/>
                </a:solidFill>
                <a:latin typeface="Arial"/>
              </a:rPr>
              <a:t>Tâches</a:t>
            </a:r>
            <a:r>
              <a:rPr lang="fr-FR" sz="1000" dirty="0">
                <a:solidFill>
                  <a:prstClr val="black"/>
                </a:solidFill>
                <a:latin typeface="Arial"/>
              </a:rPr>
              <a:t> dans la section </a:t>
            </a:r>
            <a:r>
              <a:rPr lang="fr-FR" sz="1000" b="1" dirty="0">
                <a:solidFill>
                  <a:prstClr val="black"/>
                </a:solidFill>
                <a:latin typeface="Arial"/>
              </a:rPr>
              <a:t>Ordinateurs</a:t>
            </a:r>
            <a:r>
              <a:rPr lang="fr-FR" sz="1000" dirty="0">
                <a:solidFill>
                  <a:prstClr val="black"/>
                </a:solidFill>
                <a:latin typeface="Arial"/>
              </a:rPr>
              <a:t> , cliquez sur </a:t>
            </a:r>
            <a:r>
              <a:rPr lang="fr-FR" sz="1000" b="1" dirty="0">
                <a:solidFill>
                  <a:prstClr val="black"/>
                </a:solidFill>
                <a:latin typeface="Arial"/>
              </a:rPr>
              <a:t>Nouveau</a:t>
            </a:r>
            <a:r>
              <a:rPr lang="fr-FR" sz="1000" dirty="0">
                <a:solidFill>
                  <a:prstClr val="black"/>
                </a:solidFill>
                <a:latin typeface="Arial"/>
              </a:rPr>
              <a:t>, puis sélectionnez </a:t>
            </a:r>
            <a:r>
              <a:rPr lang="fr-FR" sz="1000" b="1" dirty="0">
                <a:solidFill>
                  <a:prstClr val="black"/>
                </a:solidFill>
                <a:latin typeface="Arial"/>
              </a:rPr>
              <a:t>Ordinateur</a:t>
            </a:r>
            <a:r>
              <a:rPr lang="fr-FR" sz="1000" dirty="0">
                <a:solidFill>
                  <a:prstClr val="black"/>
                </a:solidFill>
                <a:latin typeface="Arial"/>
              </a:rPr>
              <a:t>.</a:t>
            </a:r>
          </a:p>
          <a:p>
            <a:pPr marL="342900" lvl="0" indent="-342900">
              <a:lnSpc>
                <a:spcPct val="115000"/>
              </a:lnSpc>
              <a:spcAft>
                <a:spcPts val="995"/>
              </a:spcAft>
              <a:buFont typeface="+mj-lt"/>
              <a:buAutoNum type="arabicPeriod"/>
            </a:pPr>
            <a:r>
              <a:rPr lang="fr-FR" sz="1000" dirty="0">
                <a:solidFill>
                  <a:prstClr val="black"/>
                </a:solidFill>
                <a:latin typeface="Arial"/>
              </a:rPr>
              <a:t>Dans la boîte de dialogue </a:t>
            </a:r>
            <a:r>
              <a:rPr lang="fr-FR" sz="1000" b="1" dirty="0">
                <a:solidFill>
                  <a:prstClr val="black"/>
                </a:solidFill>
                <a:latin typeface="Arial"/>
              </a:rPr>
              <a:t>Créer un ordinateur</a:t>
            </a:r>
            <a:r>
              <a:rPr lang="fr-FR" sz="1000" dirty="0">
                <a:solidFill>
                  <a:prstClr val="black"/>
                </a:solidFill>
                <a:latin typeface="Arial"/>
              </a:rPr>
              <a:t>, saisissez les informations suivantes, puis cliquez sur </a:t>
            </a:r>
            <a:r>
              <a:rPr lang="fr-FR" sz="1000" b="1" dirty="0">
                <a:solidFill>
                  <a:prstClr val="black"/>
                </a:solidFill>
                <a:latin typeface="Arial"/>
              </a:rPr>
              <a:t>OK</a:t>
            </a:r>
            <a:r>
              <a:rPr lang="fr-FR" sz="1000" dirty="0">
                <a:solidFill>
                  <a:prstClr val="black"/>
                </a:solidFill>
                <a:latin typeface="Arial"/>
              </a:rPr>
              <a:t> :</a:t>
            </a:r>
          </a:p>
          <a:p>
            <a:pPr marL="800100" lvl="1" indent="-342900">
              <a:lnSpc>
                <a:spcPct val="115000"/>
              </a:lnSpc>
              <a:spcAft>
                <a:spcPts val="995"/>
              </a:spcAft>
              <a:buFont typeface="Courier New" panose="02070309020205020404" pitchFamily="49" charset="0"/>
              <a:buChar char="o"/>
            </a:pPr>
            <a:r>
              <a:rPr lang="fr-FR" sz="1000" dirty="0">
                <a:solidFill>
                  <a:prstClr val="black"/>
                </a:solidFill>
                <a:latin typeface="Arial"/>
              </a:rPr>
              <a:t>Nom de l’ordinateur : </a:t>
            </a:r>
            <a:r>
              <a:rPr lang="fr-FR" sz="1000" b="1" dirty="0">
                <a:solidFill>
                  <a:prstClr val="black"/>
                </a:solidFill>
                <a:latin typeface="Arial"/>
              </a:rPr>
              <a:t>LON-CL4</a:t>
            </a:r>
            <a:endParaRPr lang="fr-FR" sz="1000" dirty="0">
              <a:solidFill>
                <a:prstClr val="black"/>
              </a:solidFill>
              <a:latin typeface="Arial"/>
              <a:ea typeface="Times New Roman"/>
              <a:cs typeface="Times New Roman"/>
            </a:endParaRPr>
          </a:p>
          <a:p>
            <a:pPr marL="800100" lvl="1" indent="-342900">
              <a:lnSpc>
                <a:spcPct val="115000"/>
              </a:lnSpc>
              <a:spcAft>
                <a:spcPts val="995"/>
              </a:spcAft>
              <a:buFont typeface="Courier New" panose="02070309020205020404" pitchFamily="49" charset="0"/>
              <a:buChar char="o"/>
            </a:pPr>
            <a:r>
              <a:rPr lang="fr-FR" sz="1000" dirty="0">
                <a:solidFill>
                  <a:prstClr val="black"/>
                </a:solidFill>
                <a:latin typeface="Arial"/>
              </a:rPr>
              <a:t>Ordinateur (NetBIOS) : </a:t>
            </a:r>
            <a:r>
              <a:rPr lang="fr-FR" sz="1000" b="1" dirty="0">
                <a:solidFill>
                  <a:prstClr val="black"/>
                </a:solidFill>
                <a:latin typeface="Arial"/>
              </a:rPr>
              <a:t>LON-CL4</a:t>
            </a:r>
            <a:endParaRPr lang="fr-FR"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fr-FR" sz="1000" dirty="0">
                <a:solidFill>
                  <a:prstClr val="black"/>
                </a:solidFill>
                <a:latin typeface="Arial"/>
              </a:rPr>
              <a:t>Cliquez sur </a:t>
            </a:r>
            <a:r>
              <a:rPr lang="fr-FR" sz="1000" b="1" dirty="0">
                <a:solidFill>
                  <a:prstClr val="black"/>
                </a:solidFill>
                <a:latin typeface="Arial"/>
              </a:rPr>
              <a:t>OK</a:t>
            </a:r>
            <a:r>
              <a:rPr lang="fr-FR" sz="1000" dirty="0">
                <a:solidFill>
                  <a:prstClr val="black"/>
                </a:solidFill>
                <a:latin typeface="Arial"/>
              </a:rPr>
              <a:t>.</a:t>
            </a:r>
          </a:p>
          <a:p>
            <a:pPr lvl="0">
              <a:lnSpc>
                <a:spcPts val="1300"/>
              </a:lnSpc>
              <a:spcBef>
                <a:spcPts val="900"/>
              </a:spcBef>
              <a:spcAft>
                <a:spcPts val="300"/>
              </a:spcAft>
            </a:pPr>
            <a:r>
              <a:rPr lang="fr-FR" sz="1000" b="1" dirty="0">
                <a:solidFill>
                  <a:prstClr val="black"/>
                </a:solidFill>
                <a:latin typeface="Arial"/>
              </a:rPr>
              <a:t>Voir tous les attributs de l’objet</a:t>
            </a:r>
          </a:p>
          <a:p>
            <a:pPr marL="342900" lvl="0" indent="-342900">
              <a:lnSpc>
                <a:spcPct val="115000"/>
              </a:lnSpc>
              <a:spcAft>
                <a:spcPts val="995"/>
              </a:spcAft>
              <a:buFont typeface="+mj-lt"/>
              <a:buAutoNum type="arabicPeriod"/>
            </a:pPr>
            <a:r>
              <a:rPr lang="fr-FR" sz="1000" dirty="0">
                <a:solidFill>
                  <a:prstClr val="black"/>
                </a:solidFill>
                <a:latin typeface="Arial"/>
              </a:rPr>
              <a:t>Dans le Centre d’administration Active Directory, double-cliquez sur </a:t>
            </a:r>
            <a:r>
              <a:rPr lang="fr-FR" sz="1000" b="1" dirty="0">
                <a:solidFill>
                  <a:prstClr val="black"/>
                </a:solidFill>
                <a:latin typeface="Arial"/>
              </a:rPr>
              <a:t>Adatum (local)</a:t>
            </a:r>
            <a:r>
              <a:rPr lang="fr-FR" sz="1000" dirty="0">
                <a:solidFill>
                  <a:prstClr val="black"/>
                </a:solidFill>
                <a:latin typeface="Arial"/>
              </a:rPr>
              <a:t>, puis dans la liste de gestion, double-cliquez sur </a:t>
            </a:r>
            <a:r>
              <a:rPr lang="fr-FR" sz="1000" b="1" dirty="0">
                <a:solidFill>
                  <a:prstClr val="black"/>
                </a:solidFill>
                <a:latin typeface="Arial"/>
              </a:rPr>
              <a:t>Ordinateurs</a:t>
            </a:r>
            <a:r>
              <a:rPr lang="fr-FR" sz="1000" dirty="0">
                <a:solidFill>
                  <a:prstClr val="black"/>
                </a:solidFill>
                <a:latin typeface="Arial"/>
              </a:rPr>
              <a:t>.</a:t>
            </a:r>
          </a:p>
          <a:p>
            <a:pPr marL="342900" lvl="0" indent="-342900">
              <a:lnSpc>
                <a:spcPct val="115000"/>
              </a:lnSpc>
              <a:spcAft>
                <a:spcPts val="995"/>
              </a:spcAft>
              <a:buFont typeface="+mj-lt"/>
              <a:buAutoNum type="arabicPeriod"/>
            </a:pPr>
            <a:r>
              <a:rPr lang="fr-FR" sz="1000" dirty="0">
                <a:solidFill>
                  <a:prstClr val="black"/>
                </a:solidFill>
                <a:latin typeface="Arial"/>
              </a:rPr>
              <a:t>Sélectionner </a:t>
            </a:r>
            <a:r>
              <a:rPr lang="fr-FR" sz="1000" b="1" dirty="0">
                <a:solidFill>
                  <a:prstClr val="black"/>
                </a:solidFill>
                <a:latin typeface="Arial"/>
              </a:rPr>
              <a:t>LON-CL4</a:t>
            </a:r>
            <a:r>
              <a:rPr lang="fr-FR" sz="1000" dirty="0">
                <a:solidFill>
                  <a:prstClr val="black"/>
                </a:solidFill>
                <a:latin typeface="Arial"/>
              </a:rPr>
              <a:t>, puis dans le volet </a:t>
            </a:r>
            <a:r>
              <a:rPr lang="fr-FR" sz="1000" b="1" dirty="0">
                <a:solidFill>
                  <a:prstClr val="black"/>
                </a:solidFill>
                <a:latin typeface="Arial"/>
              </a:rPr>
              <a:t>Tâches</a:t>
            </a:r>
            <a:r>
              <a:rPr lang="fr-FR" sz="1000" dirty="0">
                <a:solidFill>
                  <a:prstClr val="black"/>
                </a:solidFill>
                <a:latin typeface="Arial"/>
              </a:rPr>
              <a:t> dans la section </a:t>
            </a:r>
            <a:r>
              <a:rPr lang="fr-FR" sz="1000" b="1" dirty="0">
                <a:solidFill>
                  <a:prstClr val="black"/>
                </a:solidFill>
                <a:latin typeface="Arial"/>
              </a:rPr>
              <a:t>LON-CL4</a:t>
            </a:r>
            <a:r>
              <a:rPr lang="fr-FR" sz="1000" dirty="0">
                <a:solidFill>
                  <a:prstClr val="black"/>
                </a:solidFill>
                <a:latin typeface="Arial"/>
              </a:rPr>
              <a:t> , cliquez sur </a:t>
            </a:r>
            <a:r>
              <a:rPr lang="fr-FR" sz="1000" b="1" dirty="0">
                <a:solidFill>
                  <a:prstClr val="black"/>
                </a:solidFill>
                <a:latin typeface="Arial"/>
              </a:rPr>
              <a:t>Propriétés</a:t>
            </a:r>
            <a:r>
              <a:rPr lang="fr-FR" sz="1000" dirty="0">
                <a:solidFill>
                  <a:prstClr val="black"/>
                </a:solidFill>
                <a:latin typeface="Arial"/>
              </a:rPr>
              <a:t>.</a:t>
            </a:r>
          </a:p>
          <a:p>
            <a:pPr marL="342900" lvl="0" indent="-342900">
              <a:lnSpc>
                <a:spcPct val="115000"/>
              </a:lnSpc>
              <a:spcAft>
                <a:spcPts val="995"/>
              </a:spcAft>
              <a:buFont typeface="+mj-lt"/>
              <a:buAutoNum type="arabicPeriod"/>
            </a:pPr>
            <a:r>
              <a:rPr lang="fr-FR" sz="1000" dirty="0">
                <a:solidFill>
                  <a:prstClr val="black"/>
                </a:solidFill>
                <a:latin typeface="Arial"/>
              </a:rPr>
              <a:t>Dans la fenêtre </a:t>
            </a:r>
            <a:r>
              <a:rPr lang="fr-FR" sz="1000" b="1" dirty="0">
                <a:solidFill>
                  <a:prstClr val="black"/>
                </a:solidFill>
                <a:latin typeface="Arial"/>
              </a:rPr>
              <a:t>propriétés LON-CL4</a:t>
            </a:r>
            <a:r>
              <a:rPr lang="fr-FR" sz="1000" dirty="0">
                <a:solidFill>
                  <a:prstClr val="black"/>
                </a:solidFill>
                <a:latin typeface="Arial"/>
              </a:rPr>
              <a:t>, faites défiler jusqu’à la section </a:t>
            </a:r>
            <a:r>
              <a:rPr lang="fr-FR" sz="1000" b="1" dirty="0">
                <a:solidFill>
                  <a:prstClr val="black"/>
                </a:solidFill>
                <a:latin typeface="Arial"/>
              </a:rPr>
              <a:t>Extensions</a:t>
            </a:r>
            <a:r>
              <a:rPr lang="fr-FR" sz="1000" dirty="0">
                <a:solidFill>
                  <a:prstClr val="black"/>
                </a:solidFill>
                <a:latin typeface="Arial"/>
              </a:rPr>
              <a:t>, cliquez sur l’onglet </a:t>
            </a:r>
            <a:r>
              <a:rPr lang="fr-FR" sz="1000" b="1" dirty="0">
                <a:solidFill>
                  <a:prstClr val="black"/>
                </a:solidFill>
                <a:latin typeface="Arial"/>
              </a:rPr>
              <a:t>Éditeur d’attribut</a:t>
            </a:r>
            <a:r>
              <a:rPr lang="fr-FR" sz="1000" dirty="0">
                <a:solidFill>
                  <a:prstClr val="black"/>
                </a:solidFill>
                <a:latin typeface="Arial"/>
              </a:rPr>
              <a:t>. Vous remarquerez que tous les attributs de l’objet ordinateur sont disponibles ici.</a:t>
            </a:r>
          </a:p>
          <a:p>
            <a:pPr marL="342900" lvl="0" indent="-342900">
              <a:lnSpc>
                <a:spcPct val="115000"/>
              </a:lnSpc>
              <a:spcAft>
                <a:spcPts val="995"/>
              </a:spcAft>
              <a:buFont typeface="+mj-lt"/>
              <a:buAutoNum type="arabicPeriod"/>
            </a:pPr>
            <a:r>
              <a:rPr lang="fr-FR" sz="1000" dirty="0">
                <a:solidFill>
                  <a:prstClr val="black"/>
                </a:solidFill>
                <a:latin typeface="Arial"/>
              </a:rPr>
              <a:t>Cliquez sur </a:t>
            </a:r>
            <a:r>
              <a:rPr lang="fr-FR" sz="1000" b="1" dirty="0">
                <a:solidFill>
                  <a:prstClr val="black"/>
                </a:solidFill>
                <a:latin typeface="Arial"/>
              </a:rPr>
              <a:t>Annuler</a:t>
            </a:r>
            <a:r>
              <a:rPr lang="fr-FR" sz="1000" dirty="0">
                <a:solidFill>
                  <a:prstClr val="black"/>
                </a:solidFill>
                <a:latin typeface="Arial"/>
              </a:rPr>
              <a:t> pour fermer la fenêtre </a:t>
            </a:r>
            <a:r>
              <a:rPr lang="fr-FR" sz="1000" b="1" dirty="0">
                <a:solidFill>
                  <a:prstClr val="black"/>
                </a:solidFill>
                <a:latin typeface="Arial"/>
              </a:rPr>
              <a:t>Propriétés LON-CL4</a:t>
            </a:r>
            <a:r>
              <a:rPr lang="fr-FR" sz="1000" dirty="0">
                <a:solidFill>
                  <a:prstClr val="black"/>
                </a:solidFill>
                <a:latin typeface="Arial"/>
              </a:rPr>
              <a:t>.</a:t>
            </a:r>
          </a:p>
        </p:txBody>
      </p:sp>
      <p:sp>
        <p:nvSpPr>
          <p:cNvPr id="4" name="Slide Number Placeholder 3"/>
          <p:cNvSpPr>
            <a:spLocks noGrp="1"/>
          </p:cNvSpPr>
          <p:nvPr>
            <p:ph type="sldNum" sz="quarter" idx="10"/>
          </p:nvPr>
        </p:nvSpPr>
        <p:spPr/>
        <p:txBody>
          <a:bodyPr/>
          <a:lstStyle/>
          <a:p>
            <a:fld id="{247DA02D-7972-4BD4-9622-065EB71E6770}" type="slidenum">
              <a:rPr lang="en-US" smtClean="0"/>
              <a:t>13</a:t>
            </a:fld>
            <a:endParaRPr lang="fr-FR"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480262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fr-FR" sz="1000" b="1" dirty="0">
                <a:solidFill>
                  <a:prstClr val="black"/>
                </a:solidFill>
                <a:latin typeface="Arial"/>
              </a:rPr>
              <a:t>Utilisez la visionneuse Windows PowerShell Histoiry</a:t>
            </a:r>
          </a:p>
          <a:p>
            <a:pPr marL="342900" lvl="0" indent="-342900">
              <a:lnSpc>
                <a:spcPct val="115000"/>
              </a:lnSpc>
              <a:spcAft>
                <a:spcPts val="995"/>
              </a:spcAft>
              <a:buFont typeface="+mj-lt"/>
              <a:buAutoNum type="arabicPeriod"/>
            </a:pPr>
            <a:r>
              <a:rPr lang="fr-FR" sz="1000" dirty="0">
                <a:solidFill>
                  <a:prstClr val="black"/>
                </a:solidFill>
                <a:latin typeface="Arial"/>
              </a:rPr>
              <a:t>Dans le Centre d’administration Active Directory, cliquez sur la barre d’outils </a:t>
            </a:r>
            <a:r>
              <a:rPr lang="fr-FR" sz="1000" b="1" dirty="0">
                <a:solidFill>
                  <a:prstClr val="black"/>
                </a:solidFill>
                <a:latin typeface="Arial"/>
              </a:rPr>
              <a:t>Historique Windows PowerShell</a:t>
            </a:r>
            <a:r>
              <a:rPr lang="fr-FR" sz="1000" dirty="0">
                <a:solidFill>
                  <a:prstClr val="black"/>
                </a:solidFill>
                <a:latin typeface="Arial"/>
              </a:rPr>
              <a:t> dans la partie inférieure de l’écran.</a:t>
            </a:r>
          </a:p>
          <a:p>
            <a:pPr marL="342900" lvl="0" indent="-342900">
              <a:lnSpc>
                <a:spcPct val="115000"/>
              </a:lnSpc>
              <a:spcAft>
                <a:spcPts val="995"/>
              </a:spcAft>
              <a:buFont typeface="+mj-lt"/>
              <a:buAutoNum type="arabicPeriod" startAt="2"/>
            </a:pPr>
            <a:r>
              <a:rPr lang="fr-FR" sz="1000" dirty="0">
                <a:solidFill>
                  <a:prstClr val="black"/>
                </a:solidFill>
                <a:latin typeface="Arial"/>
              </a:rPr>
              <a:t>Voir les détails de l’applet de commande </a:t>
            </a:r>
            <a:r>
              <a:rPr lang="fr-FR" sz="1000" b="1" dirty="0">
                <a:solidFill>
                  <a:prstClr val="black"/>
                </a:solidFill>
                <a:latin typeface="Arial"/>
              </a:rPr>
              <a:t>New AD-Computer</a:t>
            </a:r>
            <a:r>
              <a:rPr lang="fr-FR" sz="1000" dirty="0">
                <a:solidFill>
                  <a:prstClr val="black"/>
                </a:solidFill>
                <a:latin typeface="Arial"/>
              </a:rPr>
              <a:t> qui a été utilisé pour exécuter la tâche la plus récente.</a:t>
            </a:r>
          </a:p>
          <a:p>
            <a:pPr marL="342900" lvl="0" indent="-342900">
              <a:lnSpc>
                <a:spcPct val="115000"/>
              </a:lnSpc>
              <a:spcAft>
                <a:spcPts val="995"/>
              </a:spcAft>
              <a:buFont typeface="+mj-lt"/>
              <a:buAutoNum type="arabicPeriod" startAt="2"/>
            </a:pPr>
            <a:r>
              <a:rPr lang="fr-FR" sz="1000" dirty="0">
                <a:solidFill>
                  <a:prstClr val="black"/>
                </a:solidFill>
                <a:latin typeface="Arial"/>
              </a:rPr>
              <a:t>Sur </a:t>
            </a:r>
            <a:r>
              <a:rPr lang="fr-FR" sz="1000" b="1" dirty="0">
                <a:solidFill>
                  <a:prstClr val="black"/>
                </a:solidFill>
                <a:latin typeface="Arial"/>
              </a:rPr>
              <a:t>LON-DC1</a:t>
            </a:r>
            <a:r>
              <a:rPr lang="fr-FR" sz="1000" dirty="0">
                <a:solidFill>
                  <a:prstClr val="black"/>
                </a:solidFill>
                <a:latin typeface="Arial"/>
              </a:rPr>
              <a:t>, fermer toutes les fenêtres actives.</a:t>
            </a:r>
            <a:endParaRPr lang="fr-FR" dirty="0"/>
          </a:p>
        </p:txBody>
      </p:sp>
      <p:sp>
        <p:nvSpPr>
          <p:cNvPr id="4" name="Slide Number Placeholder 3"/>
          <p:cNvSpPr>
            <a:spLocks noGrp="1"/>
          </p:cNvSpPr>
          <p:nvPr>
            <p:ph type="sldNum" sz="quarter" idx="10"/>
          </p:nvPr>
        </p:nvSpPr>
        <p:spPr/>
        <p:txBody>
          <a:bodyPr/>
          <a:lstStyle/>
          <a:p>
            <a:fld id="{247DA02D-7972-4BD4-9622-065EB71E6770}" type="slidenum">
              <a:rPr lang="en-US" smtClean="0"/>
              <a:t>14</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675432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Donnez un bref aperçu du contenu de la leçon.</a:t>
            </a: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latin typeface="Arial"/>
              </a:rPr>
              <a:t>Est-ce qu’un contrôleur de domaine doit être un catalogue global ?</a:t>
            </a: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Le placement de catalogue global affecte un utilisateur le temps qu’il prend pour se connecter. Par conséquent, vous devez soigneusement planifier le placement de catalogue global. Dans un environnement de domaine unique, chaque contrôleur de domaine doit héberger le catalogue global, parce que chaque contrôleur de domaine détient déjà une copie complète du domaine. Dans un scénario à plusieurs domaines, vous devez prendre en compte les temps de connexion de l’utilisateur, les dépendances de programme, la nécessité d’une haute disponibilité du catalogue global et le trafic de réplication lors de la planification du placement du catalogue global.</a:t>
            </a:r>
            <a:endParaRPr lang="fr-FR" sz="1000" dirty="0">
              <a:latin typeface="Arial"/>
              <a:ea typeface="Calibri"/>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latin typeface="Arial"/>
              </a:rPr>
              <a:t>Dans une forêt à plusieurs domaines, une copie du catalogue global doit être enregistrée sur chaque contrôleur de domaine.</a:t>
            </a:r>
          </a:p>
          <a:p>
            <a:pPr>
              <a:lnSpc>
                <a:spcPct val="115000"/>
              </a:lnSpc>
              <a:spcAft>
                <a:spcPts val="1000"/>
              </a:spcAft>
            </a:pPr>
            <a:r>
              <a:rPr lang="fr-FR" sz="1000" dirty="0">
                <a:latin typeface="Arial"/>
              </a:rPr>
              <a:t>(   ) Faux</a:t>
            </a:r>
          </a:p>
          <a:p>
            <a:pPr>
              <a:lnSpc>
                <a:spcPct val="115000"/>
              </a:lnSpc>
              <a:spcAft>
                <a:spcPts val="1000"/>
              </a:spcAft>
            </a:pPr>
            <a:r>
              <a:rPr lang="fr-FR" sz="1000" dirty="0">
                <a:latin typeface="Arial"/>
              </a:rPr>
              <a:t>(   ) Vrai</a:t>
            </a: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 ) Faux</a:t>
            </a:r>
          </a:p>
          <a:p>
            <a:pPr>
              <a:lnSpc>
                <a:spcPct val="115000"/>
              </a:lnSpc>
              <a:spcAft>
                <a:spcPts val="1000"/>
              </a:spcAft>
            </a:pPr>
            <a:r>
              <a:rPr lang="fr-FR" sz="1000" dirty="0">
                <a:latin typeface="Arial"/>
              </a:rPr>
              <a:t>(   ) Vrai</a:t>
            </a:r>
          </a:p>
          <a:p>
            <a:pPr>
              <a:lnSpc>
                <a:spcPct val="115000"/>
              </a:lnSpc>
              <a:spcAft>
                <a:spcPts val="1000"/>
              </a:spcAft>
            </a:pPr>
            <a:r>
              <a:rPr lang="fr-FR" sz="1000" b="1" dirty="0">
                <a:latin typeface="Arial"/>
              </a:rPr>
              <a:t>Commentaires</a:t>
            </a:r>
          </a:p>
          <a:p>
            <a:pPr>
              <a:lnSpc>
                <a:spcPct val="115000"/>
              </a:lnSpc>
              <a:spcAft>
                <a:spcPts val="1000"/>
              </a:spcAft>
            </a:pPr>
            <a:r>
              <a:rPr lang="fr-FR" sz="1000" dirty="0">
                <a:latin typeface="Arial"/>
              </a:rPr>
              <a:t>Dans un seul domaine, tous les contrôleurs de domaine doivent être configurés pour contenir une copie du catalogue global. Cependant, dans un environnement à plusieurs domaines, le contrôleur d’infrastructure ne devrait pas être un serveur de catalogue global à moins que tous les contrôleurs de domaine du domaine soient également des serveurs de catalogue global. </a:t>
            </a:r>
          </a:p>
          <a:p>
            <a:pPr>
              <a:lnSpc>
                <a:spcPct val="115000"/>
              </a:lnSpc>
              <a:spcAft>
                <a:spcPts val="1000"/>
              </a:spcAft>
            </a:pPr>
            <a:endParaRPr lang="fr-FR" sz="1000" b="1" dirty="0">
              <a:latin typeface="Arial"/>
              <a:ea typeface="Calibri"/>
              <a:cs typeface="Times New Roman"/>
            </a:endParaRPr>
          </a:p>
          <a:p>
            <a:pPr>
              <a:lnSpc>
                <a:spcPct val="115000"/>
              </a:lnSpc>
              <a:spcAft>
                <a:spcPts val="1000"/>
              </a:spcAft>
            </a:pPr>
            <a:endParaRPr lang="fr-FR" sz="1000" b="1"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15</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572573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Souligner le fait que la base de données et les services sont stockés sur des serveurs appelés contrôleurs de domaine.</a:t>
            </a:r>
            <a:endParaRPr lang="fr-FR" sz="1000" dirty="0">
              <a:latin typeface="Arial"/>
              <a:ea typeface="Calibri"/>
              <a:cs typeface="Times New Roman"/>
            </a:endParaRPr>
          </a:p>
          <a:p>
            <a:pPr>
              <a:lnSpc>
                <a:spcPct val="115000"/>
              </a:lnSpc>
              <a:spcAft>
                <a:spcPts val="1000"/>
              </a:spcAft>
            </a:pPr>
            <a:r>
              <a:rPr lang="fr-FR" sz="1000" dirty="0">
                <a:latin typeface="Arial"/>
              </a:rPr>
              <a:t>Les contrôleurs de domaine (serveurs qui exécutent le rôle AD DS) hébergent la base de données AD DS, SYSVOL, le service d’authentification Kerberos et d’autres services AD DS. Pour des raisons de redondance, il est préférable d’avoir au moins deux contrôleurs de domaine disponibles.</a:t>
            </a:r>
            <a:endParaRPr lang="fr-FR" sz="1000" dirty="0">
              <a:latin typeface="Arial"/>
              <a:ea typeface="Calibri"/>
              <a:cs typeface="Times New Roman"/>
            </a:endParaRPr>
          </a:p>
          <a:p>
            <a:pPr>
              <a:lnSpc>
                <a:spcPct val="115000"/>
              </a:lnSpc>
              <a:spcAft>
                <a:spcPts val="1000"/>
              </a:spcAft>
            </a:pPr>
            <a:r>
              <a:rPr lang="fr-FR" sz="1000" dirty="0">
                <a:latin typeface="Arial"/>
              </a:rPr>
              <a:t>Mettre en avant le fait que tous les contrôleurs de domaine dans un domaine sont fondamentalement égaux. Chaque contrôleur de domaine contient une copie du magasin d’annuaires et des mises à jour des données AD DS peuvent être réalisées sur tous les contrôleurs de domaine, sauf pour les contrôleurs de domaine en lecture seule (RODC).</a:t>
            </a:r>
            <a:endParaRPr lang="fr-FR" sz="1000" dirty="0">
              <a:latin typeface="Arial"/>
              <a:ea typeface="Calibri"/>
              <a:cs typeface="Times New Roman"/>
            </a:endParaRPr>
          </a:p>
          <a:p>
            <a:pPr>
              <a:lnSpc>
                <a:spcPct val="115000"/>
              </a:lnSpc>
              <a:spcAft>
                <a:spcPts val="1000"/>
              </a:spcAft>
            </a:pPr>
            <a:r>
              <a:rPr lang="fr-FR" sz="1000" dirty="0">
                <a:latin typeface="Arial"/>
              </a:rPr>
              <a:t>Insister sur l’importance d’avoir plusieurs contrôleurs de domaine dans chaque domaine. Cela permet d’obtenir un équilibrage de charge, mais plus important encore, cela fournit également une recouvrabilité si une panne de serveur se produit.</a:t>
            </a:r>
            <a:endParaRPr lang="fr-FR" sz="1000" dirty="0">
              <a:latin typeface="Arial"/>
              <a:ea typeface="Calibri"/>
              <a:cs typeface="Times New Roman"/>
            </a:endParaRPr>
          </a:p>
          <a:p>
            <a:pPr>
              <a:lnSpc>
                <a:spcPct val="115000"/>
              </a:lnSpc>
              <a:spcAft>
                <a:spcPts val="1000"/>
              </a:spcAft>
            </a:pPr>
            <a:r>
              <a:rPr lang="fr-FR" sz="1000" dirty="0">
                <a:latin typeface="Arial"/>
              </a:rPr>
              <a:t>Mentionner le fait que tous les contrôleurs de domaine sont impliqués dans l’authentification et l’autorisation et que, par conséquent, le système connaît une redondance avec moins de points d’échec.</a:t>
            </a:r>
            <a:endParaRPr lang="fr-FR" sz="1000" dirty="0">
              <a:latin typeface="Arial"/>
              <a:ea typeface="Calibri"/>
              <a:cs typeface="Times New Roman"/>
            </a:endParaRPr>
          </a:p>
          <a:p>
            <a:pPr>
              <a:lnSpc>
                <a:spcPct val="115000"/>
              </a:lnSpc>
              <a:spcAft>
                <a:spcPts val="1000"/>
              </a:spcAft>
            </a:pPr>
            <a:r>
              <a:rPr lang="fr-FR" sz="1000" dirty="0">
                <a:latin typeface="Arial"/>
              </a:rPr>
              <a:t>Cette rubrique ne fournit pas beaucoup d’informations sur les bonnes pratiques. Si les stagiaires sont intéressés, approfondir sur l’installation de contrôleurs de domaine dans des sites distants pour aider à protéger contre une connexion à un réseau étendu (WAN) non disponible. Il est également possible de parler de l’augmentation du nombre de contrôleurs de domaine pour tenir compte de la redondance et de performance.</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16</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518278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Décrire le rôle du serveur de catalogue global dans les recherches pour les objets dans les domaines d’une forêt. Définir un catalogue global comme un contrôleur de domaine qui reproduit le jeu d’attributs partiel (PAS) pour chaque domaine de la forêt. Le contrôleur de domaine n’a pas besoin du PAS pour son propre domaine, car il a déjà la copie complète de la base de données de domaine et il a seulement besoin des changements effectués dans d’autres domaines. Voilà pourquoi, dans un environnement de domaine unique, faire de chaque contrôleur de domaine un serveur de catalogue global n’apporte aucune réplication importante.</a:t>
            </a:r>
          </a:p>
        </p:txBody>
      </p:sp>
      <p:sp>
        <p:nvSpPr>
          <p:cNvPr id="4" name="Slide Number Placeholder 3"/>
          <p:cNvSpPr>
            <a:spLocks noGrp="1"/>
          </p:cNvSpPr>
          <p:nvPr>
            <p:ph type="sldNum" sz="quarter" idx="10"/>
          </p:nvPr>
        </p:nvSpPr>
        <p:spPr/>
        <p:txBody>
          <a:bodyPr/>
          <a:lstStyle/>
          <a:p>
            <a:fld id="{247DA02D-7972-4BD4-9622-065EB71E6770}" type="slidenum">
              <a:rPr lang="en-US" smtClean="0"/>
              <a:t>17</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825494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 </a:t>
            </a:r>
          </a:p>
        </p:txBody>
      </p:sp>
      <p:sp>
        <p:nvSpPr>
          <p:cNvPr id="4" name="Slide Number Placeholder 3"/>
          <p:cNvSpPr>
            <a:spLocks noGrp="1"/>
          </p:cNvSpPr>
          <p:nvPr>
            <p:ph type="sldNum" sz="quarter" idx="10"/>
          </p:nvPr>
        </p:nvSpPr>
        <p:spPr/>
        <p:txBody>
          <a:bodyPr/>
          <a:lstStyle/>
          <a:p>
            <a:fld id="{247DA02D-7972-4BD4-9622-065EB71E6770}" type="slidenum">
              <a:rPr lang="en-US" smtClean="0"/>
              <a:t>18</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788502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Montrer les enregistrements SRV en DNS brièvement ou non, en fonction du niveau des stagiaires et de leur intérêt.</a:t>
            </a:r>
          </a:p>
          <a:p>
            <a:pPr>
              <a:lnSpc>
                <a:spcPct val="115000"/>
              </a:lnSpc>
              <a:spcAft>
                <a:spcPts val="1000"/>
              </a:spcAft>
            </a:pPr>
            <a:r>
              <a:rPr lang="fr-FR" sz="1000" dirty="0">
                <a:latin typeface="Arial"/>
              </a:rPr>
              <a:t>Après avoir montré les sous-domaines qui commencent par un trait de soulignement (</a:t>
            </a:r>
            <a:r>
              <a:rPr lang="fr-FR" sz="1000" b="1" dirty="0">
                <a:latin typeface="Arial"/>
              </a:rPr>
              <a:t>_</a:t>
            </a:r>
            <a:r>
              <a:rPr lang="fr-FR" sz="1000" dirty="0">
                <a:latin typeface="Arial"/>
              </a:rPr>
              <a:t>), expliquer que les contrôleurs de domaine enregistrent plusieurs enregistrements SRV de sorte que l’on peut les rechercher de plusieurs façons. Rechercher un enregistrement SRV dans </a:t>
            </a:r>
            <a:r>
              <a:rPr lang="fr-FR" sz="1000" b="1" dirty="0">
                <a:latin typeface="Arial"/>
              </a:rPr>
              <a:t>_tcp.Default-First-Site-Name._sites.adatum.com</a:t>
            </a:r>
            <a:r>
              <a:rPr lang="fr-FR" sz="1000" dirty="0">
                <a:latin typeface="Arial"/>
              </a:rPr>
              <a:t> qui offre le service d’authentification Kerberos. Examiner le dossier et montrer que le serveur LON-DC1.adatum.com offre le service d’authentification Kerberos sur le port TCP 88 et que le serveur répond du site </a:t>
            </a:r>
            <a:r>
              <a:rPr lang="fr-FR" sz="1000" b="1" dirty="0">
                <a:latin typeface="Arial"/>
              </a:rPr>
              <a:t>Default-First-Site-Name</a:t>
            </a:r>
            <a:r>
              <a:rPr lang="fr-FR" sz="1000" dirty="0">
                <a:latin typeface="Arial"/>
              </a:rPr>
              <a:t>. Il s’agit du contrôleur de domaine à privilégier pour se connecter parce que le contrôleur de domaine est dans le même site AD DS que l’ordinateur client.</a:t>
            </a:r>
          </a:p>
          <a:p>
            <a:pPr>
              <a:lnSpc>
                <a:spcPct val="115000"/>
              </a:lnSpc>
              <a:spcAft>
                <a:spcPts val="1000"/>
              </a:spcAft>
            </a:pPr>
            <a:r>
              <a:rPr lang="fr-FR" sz="1000" dirty="0">
                <a:latin typeface="Arial"/>
              </a:rPr>
              <a:t>Faire remarquer que comme les contrôleurs de domaine enregistrent des enregistrements SRV de nombreuses façons différentes, on peut trouver une solution de rechange si le contrôleur de domaine préféré n’est pas disponible. Alternativement, il est possible d’aller à C:\windows\system32\config, d’ouvrir netlogon.dns dans le Bloc-notes et de voir tous les enregistrements SRV que chaque contrôleur de domaine enregistre dans DNS.</a:t>
            </a:r>
          </a:p>
          <a:p>
            <a:pPr>
              <a:lnSpc>
                <a:spcPct val="115000"/>
              </a:lnSpc>
              <a:spcAft>
                <a:spcPts val="1000"/>
              </a:spcAft>
            </a:pPr>
            <a:r>
              <a:rPr lang="fr-FR" sz="1000" dirty="0">
                <a:solidFill>
                  <a:srgbClr val="000000"/>
                </a:solidFill>
                <a:latin typeface="Arial"/>
              </a:rPr>
              <a:t>Noter que le service Net Logon qui s’exécute sur chaque contrôleur de domaine enregistre les enregistrements SRV dans le DNS. Si les enregistrements SRV ne sont pas entrés dans le DNS correctement, on peut déclencher le contrôleur de domaine pour réenregistrer les enregistrements en redémarrant le service </a:t>
            </a:r>
            <a:r>
              <a:rPr lang="fr-FR" sz="1000" dirty="0">
                <a:latin typeface="Arial"/>
              </a:rPr>
              <a:t>Net Logon</a:t>
            </a:r>
            <a:r>
              <a:rPr lang="fr-FR" sz="1000" dirty="0">
                <a:solidFill>
                  <a:srgbClr val="000000"/>
                </a:solidFill>
                <a:latin typeface="Arial"/>
              </a:rPr>
              <a:t> sur ce contrôleur de domaine. Cela réenregistre seulement les enregistrements SRV. Si vous souhaitez réenregistrer les informations d’enregistrement d’hébergement dans DNS, il faut exécuter </a:t>
            </a:r>
            <a:r>
              <a:rPr lang="fr-FR" sz="1000" b="1" dirty="0">
                <a:latin typeface="Arial"/>
              </a:rPr>
              <a:t>ipconfig /registerdns</a:t>
            </a:r>
            <a:r>
              <a:rPr lang="fr-FR" sz="1000" dirty="0">
                <a:solidFill>
                  <a:srgbClr val="000000"/>
                </a:solidFill>
                <a:latin typeface="Arial"/>
              </a:rPr>
              <a:t> à partir de l’invite </a:t>
            </a:r>
            <a:r>
              <a:rPr lang="fr-FR" sz="1000" dirty="0">
                <a:latin typeface="Arial"/>
              </a:rPr>
              <a:t>de commandes</a:t>
            </a:r>
            <a:r>
              <a:rPr lang="fr-FR" sz="1000" dirty="0">
                <a:solidFill>
                  <a:srgbClr val="000000"/>
                </a:solidFill>
                <a:latin typeface="Arial"/>
              </a:rPr>
              <a:t>, comme vous le feriez pour tout autre ordinateur.</a:t>
            </a:r>
            <a:endParaRPr lang="fr-FR" sz="1000" dirty="0">
              <a:latin typeface="Arial"/>
              <a:ea typeface="Calibri"/>
              <a:cs typeface="Times New Roman"/>
            </a:endParaRPr>
          </a:p>
          <a:p>
            <a:pPr>
              <a:lnSpc>
                <a:spcPct val="115000"/>
              </a:lnSpc>
              <a:spcAft>
                <a:spcPts val="1000"/>
              </a:spcAft>
            </a:pPr>
            <a:r>
              <a:rPr lang="fr-FR" sz="1000" dirty="0">
                <a:latin typeface="Arial"/>
              </a:rPr>
              <a:t>À l’issue de la démonstration, rétablissez l’état initial des ordinateurs virtuels.</a:t>
            </a:r>
          </a:p>
          <a:p>
            <a:pPr>
              <a:lnSpc>
                <a:spcPct val="115000"/>
              </a:lnSpc>
              <a:spcAft>
                <a:spcPts val="1000"/>
              </a:spcAft>
            </a:pPr>
            <a:r>
              <a:rPr lang="fr-FR" sz="1000" b="1" dirty="0">
                <a:latin typeface="Arial"/>
              </a:rPr>
              <a:t>Étapes de préparation</a:t>
            </a:r>
            <a:endParaRPr lang="fr-FR" sz="1000" dirty="0">
              <a:latin typeface="Arial"/>
              <a:ea typeface="Calibri"/>
              <a:cs typeface="Times New Roman"/>
            </a:endParaRPr>
          </a:p>
          <a:p>
            <a:pPr>
              <a:lnSpc>
                <a:spcPct val="115000"/>
              </a:lnSpc>
              <a:spcAft>
                <a:spcPts val="1000"/>
              </a:spcAft>
            </a:pPr>
            <a:r>
              <a:rPr lang="fr-FR" sz="1000" dirty="0">
                <a:latin typeface="Arial"/>
              </a:rPr>
              <a:t>Démarrez l’ordinateur virtuel </a:t>
            </a:r>
            <a:r>
              <a:rPr lang="fr-FR" sz="1000" b="1" dirty="0">
                <a:latin typeface="Arial"/>
              </a:rPr>
              <a:t>22742A‑LON‑DC1</a:t>
            </a:r>
            <a:r>
              <a:rPr lang="fr-FR" sz="1000" dirty="0">
                <a:latin typeface="Arial"/>
              </a:rPr>
              <a:t>.</a:t>
            </a:r>
          </a:p>
          <a:p>
            <a:pPr>
              <a:lnSpc>
                <a:spcPct val="115000"/>
              </a:lnSpc>
              <a:spcAft>
                <a:spcPts val="1000"/>
              </a:spcAft>
            </a:pPr>
            <a:r>
              <a:rPr lang="fr-FR" sz="1000" b="1" dirty="0">
                <a:latin typeface="Arial"/>
              </a:rPr>
              <a:t>Étapes de la démonstration</a:t>
            </a:r>
            <a:endParaRPr lang="fr-FR" sz="1000" dirty="0">
              <a:latin typeface="Arial"/>
              <a:ea typeface="Calibri"/>
              <a:cs typeface="Times New Roman"/>
            </a:endParaRPr>
          </a:p>
          <a:p>
            <a:pPr>
              <a:lnSpc>
                <a:spcPts val="1300"/>
              </a:lnSpc>
              <a:spcBef>
                <a:spcPts val="900"/>
              </a:spcBef>
              <a:spcAft>
                <a:spcPts val="300"/>
              </a:spcAft>
            </a:pPr>
            <a:r>
              <a:rPr lang="fr-FR" sz="1000" b="1" dirty="0">
                <a:effectLst/>
                <a:latin typeface="Arial"/>
              </a:rPr>
              <a:t>Affichez les enregistrements SRV dans DNS</a:t>
            </a:r>
          </a:p>
          <a:p>
            <a:pPr marL="342900" marR="0" lvl="0" indent="-342900">
              <a:lnSpc>
                <a:spcPct val="115000"/>
              </a:lnSpc>
              <a:spcBef>
                <a:spcPts val="0"/>
              </a:spcBef>
              <a:spcAft>
                <a:spcPts val="995"/>
              </a:spcAft>
              <a:buFont typeface="+mj-lt"/>
              <a:buAutoNum type="arabicPeriod"/>
              <a:tabLst>
                <a:tab pos="228600" algn="l"/>
                <a:tab pos="228600" algn="l"/>
                <a:tab pos="685800" algn="l"/>
              </a:tabLst>
            </a:pPr>
            <a:r>
              <a:rPr lang="fr-FR" sz="1000" dirty="0">
                <a:effectLst/>
                <a:latin typeface="Arial"/>
              </a:rPr>
              <a:t>Sur </a:t>
            </a:r>
            <a:r>
              <a:rPr lang="fr-FR" sz="1000" b="1" dirty="0">
                <a:effectLst/>
                <a:latin typeface="Arial"/>
              </a:rPr>
              <a:t>LON‑DC1</a:t>
            </a:r>
            <a:r>
              <a:rPr lang="fr-FR" sz="1000" dirty="0">
                <a:effectLst/>
                <a:latin typeface="Arial"/>
              </a:rPr>
              <a:t>, connectez-vous avec le nom d’utilisateur </a:t>
            </a:r>
            <a:r>
              <a:rPr lang="fr-FR" sz="1000" b="1" dirty="0">
                <a:effectLst/>
                <a:latin typeface="Arial"/>
              </a:rPr>
              <a:t>Adatum\\Administrator</a:t>
            </a:r>
            <a:r>
              <a:rPr lang="fr-FR" sz="1000" dirty="0">
                <a:effectLst/>
                <a:latin typeface="Arial"/>
              </a:rPr>
              <a:t> et le mot de passe </a:t>
            </a:r>
            <a:r>
              <a:rPr lang="fr-FR" sz="1000" b="1" dirty="0">
                <a:effectLst/>
                <a:latin typeface="Arial"/>
              </a:rPr>
              <a:t>Pa$$w0rd</a:t>
            </a:r>
            <a:r>
              <a:rPr lang="fr-FR" sz="1000" dirty="0">
                <a:effectLst/>
                <a:latin typeface="Arial"/>
              </a:rPr>
              <a:t>.</a:t>
            </a:r>
          </a:p>
          <a:p>
            <a:pPr marL="342900" marR="0" lvl="0" indent="-342900">
              <a:lnSpc>
                <a:spcPct val="115000"/>
              </a:lnSpc>
              <a:spcBef>
                <a:spcPts val="0"/>
              </a:spcBef>
              <a:spcAft>
                <a:spcPts val="995"/>
              </a:spcAft>
              <a:buFont typeface="+mj-lt"/>
              <a:buAutoNum type="arabicPeriod"/>
              <a:tabLst>
                <a:tab pos="228600" algn="l"/>
                <a:tab pos="228600" algn="l"/>
                <a:tab pos="685800" algn="l"/>
              </a:tabLst>
            </a:pPr>
            <a:r>
              <a:rPr lang="fr-FR" sz="1000" dirty="0">
                <a:effectLst/>
                <a:latin typeface="Arial"/>
              </a:rPr>
              <a:t>Dans </a:t>
            </a:r>
            <a:r>
              <a:rPr lang="fr-FR" sz="1000" b="1" dirty="0">
                <a:effectLst/>
                <a:latin typeface="Arial"/>
              </a:rPr>
              <a:t>Gestionnaire de serveur</a:t>
            </a:r>
            <a:r>
              <a:rPr lang="fr-FR" sz="1000" dirty="0">
                <a:effectLst/>
                <a:latin typeface="Arial"/>
              </a:rPr>
              <a:t>, cliquez sur le menu </a:t>
            </a:r>
            <a:r>
              <a:rPr lang="fr-FR" sz="1000" b="1" dirty="0">
                <a:effectLst/>
                <a:latin typeface="Arial"/>
              </a:rPr>
              <a:t>Outils</a:t>
            </a:r>
            <a:r>
              <a:rPr lang="fr-FR" sz="1000" dirty="0">
                <a:effectLst/>
                <a:latin typeface="Arial"/>
              </a:rPr>
              <a:t>.</a:t>
            </a:r>
          </a:p>
          <a:p>
            <a:pPr marL="342900" marR="0" lvl="0" indent="-342900">
              <a:lnSpc>
                <a:spcPct val="115000"/>
              </a:lnSpc>
              <a:spcBef>
                <a:spcPts val="0"/>
              </a:spcBef>
              <a:spcAft>
                <a:spcPts val="995"/>
              </a:spcAft>
              <a:buFont typeface="+mj-lt"/>
              <a:buAutoNum type="arabicPeriod"/>
              <a:tabLst>
                <a:tab pos="228600" algn="l"/>
                <a:tab pos="228600" algn="l"/>
                <a:tab pos="685800" algn="l"/>
              </a:tabLst>
            </a:pPr>
            <a:endParaRPr lang="fr-FR" sz="1000" dirty="0">
              <a:effectLst/>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19</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Tree>
    <p:extLst>
      <p:ext uri="{BB962C8B-B14F-4D97-AF65-F5344CB8AC3E}">
        <p14:creationId xmlns:p14="http://schemas.microsoft.com/office/powerpoint/2010/main" val="346733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3"/>
              <a:tabLst>
                <a:tab pos="228600" algn="l"/>
                <a:tab pos="228600" algn="l"/>
                <a:tab pos="685800" algn="l"/>
              </a:tabLst>
            </a:pPr>
            <a:r>
              <a:rPr lang="fr-FR" sz="1000" dirty="0">
                <a:solidFill>
                  <a:prstClr val="black"/>
                </a:solidFill>
                <a:latin typeface="Arial"/>
              </a:rPr>
              <a:t>Dans la liste </a:t>
            </a:r>
            <a:r>
              <a:rPr lang="fr-FR" sz="1000" b="1" dirty="0">
                <a:solidFill>
                  <a:prstClr val="black"/>
                </a:solidFill>
                <a:latin typeface="Arial"/>
              </a:rPr>
              <a:t>Outils</a:t>
            </a:r>
            <a:r>
              <a:rPr lang="fr-FR" sz="1000" dirty="0">
                <a:solidFill>
                  <a:prstClr val="black"/>
                </a:solidFill>
                <a:latin typeface="Arial"/>
              </a:rPr>
              <a:t>, cliquez sur </a:t>
            </a:r>
            <a:r>
              <a:rPr lang="fr-FR" sz="1000" b="1" dirty="0">
                <a:solidFill>
                  <a:prstClr val="black"/>
                </a:solidFill>
                <a:latin typeface="Arial"/>
              </a:rPr>
              <a:t>DNS</a:t>
            </a:r>
            <a:r>
              <a:rPr lang="fr-FR" sz="1000" dirty="0">
                <a:solidFill>
                  <a:prstClr val="black"/>
                </a:solidFill>
                <a:latin typeface="Arial"/>
              </a:rPr>
              <a:t>.</a:t>
            </a:r>
          </a:p>
          <a:p>
            <a:pPr marL="342900" lvl="0" indent="-342900">
              <a:lnSpc>
                <a:spcPct val="115000"/>
              </a:lnSpc>
              <a:spcAft>
                <a:spcPts val="995"/>
              </a:spcAft>
              <a:buFont typeface="+mj-lt"/>
              <a:buAutoNum type="arabicPeriod" startAt="3"/>
              <a:tabLst>
                <a:tab pos="228600" algn="l"/>
                <a:tab pos="228600" algn="l"/>
                <a:tab pos="685800" algn="l"/>
              </a:tabLst>
            </a:pPr>
            <a:r>
              <a:rPr lang="fr-FR" sz="1000" dirty="0">
                <a:solidFill>
                  <a:prstClr val="black"/>
                </a:solidFill>
                <a:latin typeface="Arial"/>
              </a:rPr>
              <a:t>Dans la fenêtre </a:t>
            </a:r>
            <a:r>
              <a:rPr lang="fr-FR" sz="1000" b="1" dirty="0">
                <a:solidFill>
                  <a:prstClr val="black"/>
                </a:solidFill>
                <a:latin typeface="Arial"/>
              </a:rPr>
              <a:t>Gestionnaire DNS</a:t>
            </a:r>
            <a:r>
              <a:rPr lang="fr-FR" sz="1000" dirty="0">
                <a:solidFill>
                  <a:prstClr val="black"/>
                </a:solidFill>
                <a:latin typeface="Arial"/>
              </a:rPr>
              <a:t>, dans le menu de l’arborescence, développez </a:t>
            </a:r>
            <a:r>
              <a:rPr lang="fr-FR" sz="1000" b="1" dirty="0">
                <a:solidFill>
                  <a:prstClr val="black"/>
                </a:solidFill>
                <a:latin typeface="Arial"/>
              </a:rPr>
              <a:t>LON‑DC1</a:t>
            </a:r>
            <a:r>
              <a:rPr lang="fr-FR" sz="1000" dirty="0">
                <a:solidFill>
                  <a:prstClr val="black"/>
                </a:solidFill>
                <a:latin typeface="Arial"/>
              </a:rPr>
              <a:t>, développez </a:t>
            </a:r>
            <a:r>
              <a:rPr lang="fr-FR" sz="1000" b="1" dirty="0">
                <a:solidFill>
                  <a:prstClr val="black"/>
                </a:solidFill>
                <a:latin typeface="Arial"/>
              </a:rPr>
              <a:t>Zones de recherche directes</a:t>
            </a:r>
            <a:r>
              <a:rPr lang="fr-FR" sz="1000" dirty="0">
                <a:solidFill>
                  <a:prstClr val="black"/>
                </a:solidFill>
                <a:latin typeface="Arial"/>
              </a:rPr>
              <a:t>, puis cliquez sur </a:t>
            </a:r>
            <a:r>
              <a:rPr lang="fr-FR" sz="1000" b="1" dirty="0">
                <a:solidFill>
                  <a:prstClr val="black"/>
                </a:solidFill>
                <a:latin typeface="Arial"/>
              </a:rPr>
              <a:t>Adatum.com</a:t>
            </a:r>
            <a:r>
              <a:rPr lang="fr-FR" sz="1000" dirty="0">
                <a:solidFill>
                  <a:prstClr val="black"/>
                </a:solidFill>
                <a:latin typeface="Arial"/>
              </a:rPr>
              <a:t>. Afficher les quatre sous-zones DNS suivantes :</a:t>
            </a:r>
          </a:p>
          <a:p>
            <a:pPr marL="800100" lvl="1" indent="-342900">
              <a:lnSpc>
                <a:spcPct val="115000"/>
              </a:lnSpc>
              <a:spcAft>
                <a:spcPts val="995"/>
              </a:spcAft>
              <a:buFont typeface="Courier New" panose="02070309020205020404" pitchFamily="49" charset="0"/>
              <a:buChar char="o"/>
            </a:pPr>
            <a:r>
              <a:rPr lang="fr-FR" sz="1000" b="1" dirty="0">
                <a:solidFill>
                  <a:prstClr val="black"/>
                </a:solidFill>
                <a:latin typeface="Arial"/>
              </a:rPr>
              <a:t>_msdcs</a:t>
            </a:r>
            <a:endParaRPr lang="fr-FR" sz="1000" dirty="0">
              <a:solidFill>
                <a:prstClr val="black"/>
              </a:solidFill>
              <a:latin typeface="Arial"/>
              <a:ea typeface="Times New Roman"/>
              <a:cs typeface="Times New Roman"/>
            </a:endParaRPr>
          </a:p>
          <a:p>
            <a:pPr marL="800100" lvl="1" indent="-342900">
              <a:lnSpc>
                <a:spcPct val="115000"/>
              </a:lnSpc>
              <a:spcAft>
                <a:spcPts val="995"/>
              </a:spcAft>
              <a:buFont typeface="Courier New" panose="02070309020205020404" pitchFamily="49" charset="0"/>
              <a:buChar char="o"/>
            </a:pPr>
            <a:r>
              <a:rPr lang="fr-FR" sz="1000" b="1" dirty="0">
                <a:solidFill>
                  <a:prstClr val="black"/>
                </a:solidFill>
                <a:latin typeface="Arial"/>
              </a:rPr>
              <a:t>_sites</a:t>
            </a:r>
            <a:endParaRPr lang="fr-FR" sz="1000" dirty="0">
              <a:solidFill>
                <a:prstClr val="black"/>
              </a:solidFill>
              <a:latin typeface="Arial"/>
              <a:ea typeface="Times New Roman"/>
              <a:cs typeface="Times New Roman"/>
            </a:endParaRPr>
          </a:p>
          <a:p>
            <a:pPr marL="800100" lvl="1" indent="-342900">
              <a:lnSpc>
                <a:spcPct val="115000"/>
              </a:lnSpc>
              <a:spcAft>
                <a:spcPts val="995"/>
              </a:spcAft>
              <a:buFont typeface="Courier New" panose="02070309020205020404" pitchFamily="49" charset="0"/>
              <a:buChar char="o"/>
            </a:pPr>
            <a:r>
              <a:rPr lang="fr-FR" sz="1000" b="1" dirty="0">
                <a:solidFill>
                  <a:prstClr val="black"/>
                </a:solidFill>
                <a:latin typeface="Arial"/>
              </a:rPr>
              <a:t>_tcp</a:t>
            </a:r>
            <a:endParaRPr lang="fr-FR" sz="1000" dirty="0">
              <a:solidFill>
                <a:prstClr val="black"/>
              </a:solidFill>
              <a:latin typeface="Arial"/>
              <a:ea typeface="Times New Roman"/>
              <a:cs typeface="Times New Roman"/>
            </a:endParaRPr>
          </a:p>
          <a:p>
            <a:pPr marL="800100" lvl="1" indent="-342900">
              <a:lnSpc>
                <a:spcPct val="115000"/>
              </a:lnSpc>
              <a:spcAft>
                <a:spcPts val="995"/>
              </a:spcAft>
              <a:buFont typeface="Courier New" panose="02070309020205020404" pitchFamily="49" charset="0"/>
              <a:buChar char="o"/>
            </a:pPr>
            <a:r>
              <a:rPr lang="fr-FR" sz="1000" b="1" dirty="0">
                <a:solidFill>
                  <a:prstClr val="black"/>
                </a:solidFill>
                <a:latin typeface="Arial"/>
              </a:rPr>
              <a:t>_udp</a:t>
            </a:r>
            <a:endParaRPr lang="fr-FR"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5"/>
              <a:tabLst>
                <a:tab pos="228600" algn="l"/>
                <a:tab pos="228600" algn="l"/>
                <a:tab pos="685800" algn="l"/>
              </a:tabLst>
            </a:pPr>
            <a:r>
              <a:rPr lang="fr-FR" sz="1000" dirty="0">
                <a:solidFill>
                  <a:prstClr val="black"/>
                </a:solidFill>
                <a:latin typeface="Arial"/>
              </a:rPr>
              <a:t>Développez </a:t>
            </a:r>
            <a:r>
              <a:rPr lang="fr-FR" sz="1000" b="1" dirty="0">
                <a:solidFill>
                  <a:prstClr val="black"/>
                </a:solidFill>
                <a:latin typeface="Arial"/>
              </a:rPr>
              <a:t>Adatum.com</a:t>
            </a:r>
            <a:r>
              <a:rPr lang="fr-FR" sz="1000" dirty="0">
                <a:solidFill>
                  <a:prstClr val="black"/>
                </a:solidFill>
                <a:latin typeface="Arial"/>
              </a:rPr>
              <a:t>, </a:t>
            </a:r>
            <a:r>
              <a:rPr lang="fr-FR" sz="1000" b="1" dirty="0">
                <a:solidFill>
                  <a:prstClr val="black"/>
                </a:solidFill>
                <a:latin typeface="Arial"/>
              </a:rPr>
              <a:t>_sites</a:t>
            </a:r>
            <a:r>
              <a:rPr lang="fr-FR" sz="1000" dirty="0">
                <a:solidFill>
                  <a:prstClr val="black"/>
                </a:solidFill>
                <a:latin typeface="Arial"/>
              </a:rPr>
              <a:t>, </a:t>
            </a:r>
            <a:r>
              <a:rPr lang="fr-FR" sz="1000" b="1" dirty="0">
                <a:solidFill>
                  <a:prstClr val="black"/>
                </a:solidFill>
                <a:latin typeface="Arial"/>
              </a:rPr>
              <a:t>Default‑First‑Site‑Name</a:t>
            </a:r>
            <a:r>
              <a:rPr lang="fr-FR" sz="1000" dirty="0">
                <a:solidFill>
                  <a:prstClr val="black"/>
                </a:solidFill>
                <a:latin typeface="Arial"/>
              </a:rPr>
              <a:t> et </a:t>
            </a:r>
            <a:r>
              <a:rPr lang="fr-FR" sz="1000" b="1" dirty="0">
                <a:solidFill>
                  <a:prstClr val="black"/>
                </a:solidFill>
                <a:latin typeface="Arial"/>
              </a:rPr>
              <a:t>_tcp</a:t>
            </a:r>
            <a:r>
              <a:rPr lang="fr-FR" sz="1000" dirty="0">
                <a:solidFill>
                  <a:prstClr val="black"/>
                </a:solidFill>
                <a:latin typeface="Arial"/>
              </a:rPr>
              <a:t>, puis sélectionnez l’enregistrement suivant :</a:t>
            </a:r>
          </a:p>
          <a:p>
            <a:pPr marL="800100" lvl="1" indent="-342900">
              <a:lnSpc>
                <a:spcPct val="115000"/>
              </a:lnSpc>
              <a:spcAft>
                <a:spcPts val="995"/>
              </a:spcAft>
              <a:buFont typeface="Courier New" panose="02070309020205020404" pitchFamily="49" charset="0"/>
              <a:buChar char="o"/>
            </a:pPr>
            <a:r>
              <a:rPr lang="fr-FR" sz="1000" b="1" dirty="0">
                <a:solidFill>
                  <a:prstClr val="black"/>
                </a:solidFill>
                <a:latin typeface="Arial"/>
              </a:rPr>
              <a:t>_ldap Service Location (SRV) [0][100][389] lon‑dc1.adatum.com</a:t>
            </a:r>
            <a:endParaRPr lang="fr-FR"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6"/>
              <a:tabLst>
                <a:tab pos="228600" algn="l"/>
                <a:tab pos="228600" algn="l"/>
                <a:tab pos="685800" algn="l"/>
              </a:tabLst>
            </a:pPr>
            <a:r>
              <a:rPr lang="fr-FR" sz="1000" dirty="0">
                <a:solidFill>
                  <a:prstClr val="black"/>
                </a:solidFill>
                <a:latin typeface="Arial"/>
              </a:rPr>
              <a:t>Si les stagiaires ont assez d’expérience ou d’intérêt, ouvrez</a:t>
            </a:r>
            <a:r>
              <a:rPr lang="fr-FR" sz="1000" b="1" dirty="0">
                <a:solidFill>
                  <a:prstClr val="black"/>
                </a:solidFill>
                <a:latin typeface="Arial"/>
              </a:rPr>
              <a:t>c:\windows\system32\config</a:t>
            </a:r>
            <a:r>
              <a:rPr lang="fr-FR" sz="1000" dirty="0">
                <a:solidFill>
                  <a:prstClr val="black"/>
                </a:solidFill>
                <a:latin typeface="Arial"/>
              </a:rPr>
              <a:t>, puis le fichier </a:t>
            </a:r>
            <a:r>
              <a:rPr lang="fr-FR" sz="1000" b="1" dirty="0">
                <a:solidFill>
                  <a:prstClr val="black"/>
                </a:solidFill>
                <a:latin typeface="Arial"/>
              </a:rPr>
              <a:t>netlogon.dns</a:t>
            </a:r>
            <a:r>
              <a:rPr lang="fr-FR" sz="1000" dirty="0">
                <a:solidFill>
                  <a:prstClr val="black"/>
                </a:solidFill>
                <a:latin typeface="Arial"/>
              </a:rPr>
              <a:t> dans le Bloc-notes Microsoft. Affichez tous les enregistrements de service (enregistrements SRV) que ce contrôleur de domaine enregistrera dans DNS.</a:t>
            </a:r>
            <a:endParaRPr lang="fr-FR" dirty="0"/>
          </a:p>
        </p:txBody>
      </p:sp>
      <p:sp>
        <p:nvSpPr>
          <p:cNvPr id="4" name="Slide Number Placeholder 3"/>
          <p:cNvSpPr>
            <a:spLocks noGrp="1"/>
          </p:cNvSpPr>
          <p:nvPr>
            <p:ph type="sldNum" sz="quarter" idx="10"/>
          </p:nvPr>
        </p:nvSpPr>
        <p:spPr/>
        <p:txBody>
          <a:bodyPr/>
          <a:lstStyle/>
          <a:p>
            <a:fld id="{247DA02D-7972-4BD4-9622-065EB71E6770}" type="slidenum">
              <a:rPr lang="en-US" smtClean="0"/>
              <a:t>20</a:t>
            </a:fld>
            <a:endParaRPr lang="fr-FR"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1882297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Utiliser cette diapositive pour illustrer la façon dont le processus de connexion fonctionne :</a:t>
            </a:r>
            <a:endParaRPr lang="fr-FR"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fr-FR" sz="1000" dirty="0">
                <a:effectLst/>
                <a:latin typeface="Arial"/>
              </a:rPr>
              <a:t>Dans la première phase, le compte d’utilisateur est authentifié auprès du contrôleur de domaine </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effectLst/>
                <a:latin typeface="Arial"/>
              </a:rPr>
              <a:t>Dans la seconde phase, le compte d’utilisateur demande un ticket au contrôleur de domaine pour obtenir l’autorisation de se connecter avec l’ordinateur local.</a:t>
            </a:r>
            <a:endParaRPr lang="fr-FR" sz="1000" dirty="0">
              <a:effectLst/>
              <a:latin typeface="Arial"/>
              <a:ea typeface="Times New Roman"/>
              <a:cs typeface="Times New Roman"/>
            </a:endParaRPr>
          </a:p>
          <a:p>
            <a:pPr>
              <a:lnSpc>
                <a:spcPct val="115000"/>
              </a:lnSpc>
              <a:spcAft>
                <a:spcPts val="1000"/>
              </a:spcAft>
            </a:pPr>
            <a:r>
              <a:rPr lang="fr-FR" sz="1000" dirty="0">
                <a:latin typeface="Arial"/>
              </a:rPr>
              <a:t>Un service d’annuaire centralisé comme AD DS fournit un seul magasin d’identités, un service d’authentification et un point de gestion pour l’administration.</a:t>
            </a:r>
          </a:p>
          <a:p>
            <a:pPr>
              <a:lnSpc>
                <a:spcPct val="115000"/>
              </a:lnSpc>
              <a:spcAft>
                <a:spcPts val="1000"/>
              </a:spcAft>
            </a:pPr>
            <a:r>
              <a:rPr lang="fr-FR" sz="1000" dirty="0">
                <a:latin typeface="Arial"/>
              </a:rPr>
              <a:t>Insister sur les avantages d’un magasin d’identité unique pour l’amélioration de la sécurité et de gérabilité.</a:t>
            </a:r>
          </a:p>
          <a:p>
            <a:pPr>
              <a:lnSpc>
                <a:spcPct val="115000"/>
              </a:lnSpc>
              <a:spcAft>
                <a:spcPts val="1000"/>
              </a:spcAft>
            </a:pPr>
            <a:r>
              <a:rPr lang="fr-FR" sz="1000" dirty="0">
                <a:latin typeface="Arial"/>
              </a:rPr>
              <a:t>Pour plus d’informations qui pourraient vous aider à préparer à ce sujet, se reporter à :</a:t>
            </a:r>
          </a:p>
          <a:p>
            <a:pPr marL="342900" marR="0" lvl="0" indent="-342900">
              <a:lnSpc>
                <a:spcPct val="115000"/>
              </a:lnSpc>
              <a:spcBef>
                <a:spcPts val="0"/>
              </a:spcBef>
              <a:spcAft>
                <a:spcPts val="995"/>
              </a:spcAft>
              <a:buFont typeface="Symbol"/>
              <a:buChar char=""/>
            </a:pPr>
            <a:r>
              <a:rPr lang="fr-FR" sz="1000" dirty="0">
                <a:effectLst/>
                <a:latin typeface="Arial"/>
              </a:rPr>
              <a:t>« Technical Reference Security Identifiers » à l’adresse : </a:t>
            </a:r>
            <a:r>
              <a:rPr lang="en-US" sz="1000" u="sng" dirty="0">
                <a:solidFill>
                  <a:srgbClr val="0000FF"/>
                </a:solidFill>
                <a:effectLst/>
                <a:latin typeface="Arial"/>
                <a:ea typeface="Times New Roman"/>
                <a:cs typeface="Times New Roman"/>
                <a:hlinkClick r:id="rId3"/>
              </a:rPr>
              <a:t>http://aka.ms/Y86bqa</a:t>
            </a:r>
            <a:r>
              <a:rPr lang="en-US" sz="1000" dirty="0">
                <a:effectLst/>
                <a:latin typeface="Arial"/>
                <a:ea typeface="Times New Roman"/>
                <a:cs typeface="Times New Roman"/>
              </a:rPr>
              <a:t> </a:t>
            </a:r>
            <a:endParaRPr lang="fr-FR" dirty="0"/>
          </a:p>
          <a:p>
            <a:pPr marL="342900" marR="0" lvl="0" indent="-342900">
              <a:lnSpc>
                <a:spcPct val="115000"/>
              </a:lnSpc>
              <a:spcBef>
                <a:spcPts val="0"/>
              </a:spcBef>
              <a:spcAft>
                <a:spcPts val="995"/>
              </a:spcAft>
              <a:buFont typeface="Symbol"/>
              <a:buChar char=""/>
            </a:pPr>
            <a:r>
              <a:rPr lang="fr-FR" sz="1000" dirty="0">
                <a:effectLst/>
                <a:latin typeface="Arial"/>
              </a:rPr>
              <a:t>« Identificateurs de sécurité connus » à l’adresse :</a:t>
            </a:r>
            <a:r>
              <a:rPr lang="en-US" sz="1000" dirty="0">
                <a:effectLst/>
                <a:latin typeface="Arial"/>
                <a:ea typeface="Times New Roman"/>
                <a:cs typeface="Segoe UI"/>
              </a:rPr>
              <a:t> </a:t>
            </a:r>
            <a:r>
              <a:rPr lang="en-US" sz="1000" u="sng" dirty="0">
                <a:solidFill>
                  <a:srgbClr val="0000FF"/>
                </a:solidFill>
                <a:effectLst/>
                <a:latin typeface="Arial"/>
                <a:ea typeface="Times New Roman"/>
                <a:cs typeface="Times New Roman"/>
                <a:hlinkClick r:id="rId4"/>
              </a:rPr>
              <a:t>http://aka.ms/E2lons</a:t>
            </a:r>
            <a:r>
              <a:rPr lang="en-US" sz="1000" dirty="0">
                <a:effectLst/>
                <a:latin typeface="Arial"/>
                <a:ea typeface="Times New Roman"/>
                <a:cs typeface="Times New Roman"/>
              </a:rPr>
              <a:t> </a:t>
            </a:r>
            <a:endParaRPr lang="fr-FR" dirty="0"/>
          </a:p>
        </p:txBody>
      </p:sp>
      <p:sp>
        <p:nvSpPr>
          <p:cNvPr id="4" name="Slide Number Placeholder 3"/>
          <p:cNvSpPr>
            <a:spLocks noGrp="1"/>
          </p:cNvSpPr>
          <p:nvPr>
            <p:ph type="sldNum" sz="quarter" idx="10"/>
          </p:nvPr>
        </p:nvSpPr>
        <p:spPr/>
        <p:txBody>
          <a:bodyPr/>
          <a:lstStyle/>
          <a:p>
            <a:fld id="{247DA02D-7972-4BD4-9622-065EB71E6770}" type="slidenum">
              <a:rPr lang="en-US" smtClean="0"/>
              <a:t>21</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834218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Discuter de chaque rôle de maître d’opérations de façon aussi détaillée que nécessaire.</a:t>
            </a:r>
            <a:endParaRPr lang="fr-FR" sz="1000" dirty="0">
              <a:latin typeface="Arial"/>
              <a:ea typeface="Calibri"/>
              <a:cs typeface="Times New Roman"/>
            </a:endParaRPr>
          </a:p>
          <a:p>
            <a:pPr>
              <a:lnSpc>
                <a:spcPct val="115000"/>
              </a:lnSpc>
              <a:spcAft>
                <a:spcPts val="1000"/>
              </a:spcAft>
            </a:pPr>
            <a:r>
              <a:rPr lang="fr-FR" sz="1000" dirty="0">
                <a:latin typeface="Arial"/>
              </a:rPr>
              <a:t>Penser à souligner le fait que la plupart des rôles de maître sont tellement spécifiques que le maître peut être déconnecté pendant une courte période de temps sans causer de problèmes. Par exemple, il n’y a pas besoin du </a:t>
            </a:r>
            <a:r>
              <a:rPr lang="fr-FR" sz="1000" dirty="0">
                <a:latin typeface="Arial"/>
              </a:rPr>
              <a:t>contrôleur de schéma </a:t>
            </a:r>
            <a:r>
              <a:rPr lang="fr-FR" sz="1000" dirty="0">
                <a:latin typeface="Arial"/>
              </a:rPr>
              <a:t>tant que vous n’apportez pas des modifications au schéma et vous n’avez pas besoin du maître d’opérations des noms de domaine tant que vous n’ajoutez ou ne supprimez pas un domaine dans la forêt.</a:t>
            </a:r>
            <a:endParaRPr lang="fr-FR" sz="1000" dirty="0">
              <a:latin typeface="Arial"/>
              <a:ea typeface="Calibri"/>
              <a:cs typeface="Times New Roman"/>
            </a:endParaRPr>
          </a:p>
          <a:p>
            <a:pPr>
              <a:lnSpc>
                <a:spcPct val="115000"/>
              </a:lnSpc>
              <a:spcAft>
                <a:spcPts val="1000"/>
              </a:spcAft>
            </a:pPr>
            <a:r>
              <a:rPr lang="fr-FR" sz="1000" dirty="0">
                <a:latin typeface="Arial"/>
              </a:rPr>
              <a:t>Faire remarquer que d’autres services de domaine pourraient être lents ou perturbés si un contrôleur de domaine est hors ligne et indisponible. S’assurer de souligner le fait que ces rôles s’exécutent sur tous les contrôleurs de domaine, de sorte que la perte d’un contrôleur de domaine peut causer de graves problèmes.</a:t>
            </a:r>
            <a:endParaRPr lang="fr-FR" sz="1000" dirty="0">
              <a:latin typeface="Arial"/>
              <a:ea typeface="Calibri"/>
              <a:cs typeface="Times New Roman"/>
            </a:endParaRPr>
          </a:p>
          <a:p>
            <a:pPr>
              <a:lnSpc>
                <a:spcPct val="115000"/>
              </a:lnSpc>
              <a:spcAft>
                <a:spcPts val="1000"/>
              </a:spcAft>
            </a:pPr>
            <a:r>
              <a:rPr lang="fr-FR" sz="1000" dirty="0">
                <a:latin typeface="Arial"/>
              </a:rPr>
              <a:t>Les rôles des maîtres d’opérations de domaine sont nécessaires plus régulièrement que ceux dans le domaine racine de forêt, en particulier l’émulateur contrôleur de domaine principal (PDC).</a:t>
            </a:r>
            <a:endParaRPr lang="fr-FR" sz="1000" dirty="0">
              <a:latin typeface="Arial"/>
              <a:ea typeface="Calibri"/>
              <a:cs typeface="Times New Roman"/>
            </a:endParaRPr>
          </a:p>
          <a:p>
            <a:pPr>
              <a:lnSpc>
                <a:spcPct val="115000"/>
              </a:lnSpc>
              <a:spcAft>
                <a:spcPts val="1000"/>
              </a:spcAft>
            </a:pPr>
            <a:r>
              <a:rPr lang="fr-FR" sz="1000" dirty="0">
                <a:latin typeface="Arial"/>
              </a:rPr>
              <a:t>Le maître de l’ID relatif (RID) fournit un pool de RID pour chaque contrôleur de domaine. Si ce maître n’est pas disponible, un contrôleur de domaine va éventuellement tenter de créer un compte et être incapable de le faire.</a:t>
            </a:r>
            <a:endParaRPr lang="fr-FR" sz="1000" dirty="0">
              <a:latin typeface="Arial"/>
              <a:ea typeface="Calibri"/>
              <a:cs typeface="Times New Roman"/>
            </a:endParaRPr>
          </a:p>
          <a:p>
            <a:pPr>
              <a:lnSpc>
                <a:spcPct val="115000"/>
              </a:lnSpc>
              <a:spcAft>
                <a:spcPts val="1000"/>
              </a:spcAft>
            </a:pPr>
            <a:r>
              <a:rPr lang="fr-FR" sz="1000" dirty="0">
                <a:latin typeface="Arial"/>
              </a:rPr>
              <a:t>Décrire les trois fonctions PDC au niveau de détail que le manuel du stagiaire fournit. Souligner le fait que si le maître d’émulateur de contrôleur de domaine principal est indisponible ou lent à répondre, des problèmes dans le domaine sont plus susceptibles de se produire.</a:t>
            </a:r>
            <a:endParaRPr lang="fr-FR" sz="1000" dirty="0">
              <a:latin typeface="Arial"/>
              <a:ea typeface="Calibri"/>
              <a:cs typeface="Times New Roman"/>
            </a:endParaRPr>
          </a:p>
          <a:p>
            <a:pPr>
              <a:lnSpc>
                <a:spcPct val="115000"/>
              </a:lnSpc>
              <a:spcAft>
                <a:spcPts val="1000"/>
              </a:spcAft>
            </a:pPr>
            <a:r>
              <a:rPr lang="fr-FR" sz="1000" dirty="0">
                <a:latin typeface="Arial"/>
              </a:rPr>
              <a:t>Vous pouvez trouver quels contrôleurs de domaine sont des porteurs de maître d’opérations en utilisant la commande </a:t>
            </a:r>
            <a:r>
              <a:rPr lang="fr-FR" sz="1000" b="1" dirty="0">
                <a:latin typeface="Arial"/>
              </a:rPr>
              <a:t>netdom query fsmo</a:t>
            </a:r>
            <a:r>
              <a:rPr lang="fr-FR" sz="1000" dirty="0">
                <a:latin typeface="Arial"/>
              </a:rPr>
              <a:t>.</a:t>
            </a:r>
            <a:endParaRPr lang="fr-FR" sz="1000" dirty="0">
              <a:latin typeface="Arial"/>
              <a:ea typeface="Calibri"/>
              <a:cs typeface="Times New Roman"/>
            </a:endParaRPr>
          </a:p>
          <a:p>
            <a:pPr>
              <a:lnSpc>
                <a:spcPct val="115000"/>
              </a:lnSpc>
              <a:spcAft>
                <a:spcPts val="1000"/>
              </a:spcAft>
            </a:pPr>
            <a:r>
              <a:rPr lang="fr-FR" sz="1000" dirty="0">
                <a:latin typeface="Arial"/>
              </a:rPr>
              <a:t>Pour préparer ce sujet, consulter l’article « Les rôles de maître d’opérations » : </a:t>
            </a:r>
            <a:r>
              <a:rPr lang="en-US" sz="1000" u="sng" dirty="0">
                <a:latin typeface="Arial"/>
                <a:ea typeface="Calibri"/>
                <a:cs typeface="Segoe UI"/>
                <a:hlinkClick r:id="rId3"/>
              </a:rPr>
              <a:t>http://go.microsoft.com/fwlink/?LinkID=266738</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22</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592335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 </a:t>
            </a:r>
          </a:p>
        </p:txBody>
      </p:sp>
      <p:sp>
        <p:nvSpPr>
          <p:cNvPr id="4" name="Slide Number Placeholder 3"/>
          <p:cNvSpPr>
            <a:spLocks noGrp="1"/>
          </p:cNvSpPr>
          <p:nvPr>
            <p:ph type="sldNum" sz="quarter" idx="10"/>
          </p:nvPr>
        </p:nvSpPr>
        <p:spPr/>
        <p:txBody>
          <a:bodyPr/>
          <a:lstStyle/>
          <a:p>
            <a:fld id="{247DA02D-7972-4BD4-9622-065EB71E6770}" type="slidenum">
              <a:rPr lang="en-US" smtClean="0"/>
              <a:t>23</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350777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Selon l’expérience des stagiaires avec AD DS, vous pourriez avoir à expliquer plus en détail les implications du démarrage de l’Assistant Installation des services de domaine Active Directory depuis le Gestionnaire de serveur et non pas avec l’outil </a:t>
            </a:r>
            <a:r>
              <a:rPr lang="fr-FR" sz="1000" b="1" dirty="0">
                <a:latin typeface="Arial"/>
              </a:rPr>
              <a:t>dcpromo</a:t>
            </a:r>
            <a:r>
              <a:rPr lang="fr-FR" sz="1000" dirty="0">
                <a:latin typeface="Arial"/>
              </a:rPr>
              <a:t>.</a:t>
            </a:r>
          </a:p>
          <a:p>
            <a:pPr>
              <a:lnSpc>
                <a:spcPct val="115000"/>
              </a:lnSpc>
              <a:spcAft>
                <a:spcPts val="1000"/>
              </a:spcAft>
            </a:pPr>
            <a:r>
              <a:rPr lang="fr-FR" sz="1000" dirty="0">
                <a:latin typeface="Arial"/>
              </a:rPr>
              <a:t>Dans les versions antérieures de Windows Server, vous démarrez l’Assistant Installation des services de domaine Active Directory en utilisant </a:t>
            </a:r>
            <a:r>
              <a:rPr lang="fr-FR" sz="1000" b="1" dirty="0">
                <a:latin typeface="Arial"/>
              </a:rPr>
              <a:t>dcpromo</a:t>
            </a:r>
            <a:r>
              <a:rPr lang="fr-FR" sz="1000" dirty="0">
                <a:latin typeface="Arial"/>
              </a:rPr>
              <a:t>, mais dans Windows Server 2016, cet outil est utilisé uniquement pour une installation sans assistance alors que les départements informatiques migrent leurs processus sur Windows PowerShell.</a:t>
            </a:r>
            <a:endParaRPr lang="fr-FR" sz="1000" dirty="0">
              <a:latin typeface="Arial"/>
              <a:ea typeface="Calibri"/>
              <a:cs typeface="Times New Roman"/>
            </a:endParaRPr>
          </a:p>
          <a:p>
            <a:pPr>
              <a:lnSpc>
                <a:spcPct val="115000"/>
              </a:lnSpc>
              <a:spcAft>
                <a:spcPts val="1000"/>
              </a:spcAft>
            </a:pPr>
            <a:r>
              <a:rPr lang="fr-FR" sz="1000" dirty="0">
                <a:latin typeface="Arial"/>
              </a:rPr>
              <a:t>Indiquer aux stagiaires que vous pouvez promouvoir à distance un serveur pour être un contrôleur de domaine en utilisant le Gestionnaire de serveur fonctionnant sur Windows Server 2016.</a:t>
            </a:r>
            <a:endParaRPr lang="fr-FR" sz="1000" dirty="0">
              <a:latin typeface="Arial"/>
              <a:ea typeface="Calibri"/>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latin typeface="Arial"/>
              </a:rPr>
              <a:t>Quel est le moyen le plus rapide pour répliquer des contrôleurs de domaine dans un environnement virtualisé ?</a:t>
            </a: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Clonage</a:t>
            </a:r>
          </a:p>
          <a:p>
            <a:pPr>
              <a:lnSpc>
                <a:spcPct val="115000"/>
              </a:lnSpc>
              <a:spcAft>
                <a:spcPts val="1000"/>
              </a:spcAft>
            </a:pPr>
            <a:r>
              <a:rPr lang="fr-FR" sz="1000" b="1" dirty="0">
                <a:latin typeface="Arial"/>
              </a:rPr>
              <a:t>Commentaires</a:t>
            </a:r>
          </a:p>
          <a:p>
            <a:pPr>
              <a:lnSpc>
                <a:spcPct val="115000"/>
              </a:lnSpc>
              <a:spcAft>
                <a:spcPts val="1000"/>
              </a:spcAft>
            </a:pPr>
            <a:r>
              <a:rPr lang="fr-FR" sz="1000" dirty="0">
                <a:latin typeface="Arial"/>
              </a:rPr>
              <a:t>La façon la plus rapide pour déployer plusieurs ordinateurs qui sont configurés de manière identique, en particulier lorsque ces ordinateurs fonctionnent dans un environnement virtualisé, comme Hyper V, est de cloner ces ordinateurs. Le clonage signifie que les disques durs virtuels des ordinateurs sont copiés et que les configurations mineures telles que les noms d’ordinateur et les adresses IP sont modifiées pour être uniques. Les ordinateurs sont alors immédiatement opérationnels. </a:t>
            </a: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latin typeface="Arial"/>
              </a:rPr>
              <a:t>Quelles sont les deux principales considérations pour le déploiement de contrôleurs de domaine pour Azure ?</a:t>
            </a: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Les deux principales considérations sont la restauration et les limites de l’ordinateur virtuel. </a:t>
            </a:r>
          </a:p>
          <a:p>
            <a:pPr>
              <a:lnSpc>
                <a:spcPct val="115000"/>
              </a:lnSpc>
              <a:spcAft>
                <a:spcPts val="1000"/>
              </a:spcAft>
            </a:pP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24</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0151205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171450" lvl="0" indent="-171450">
              <a:buSzPct val="150000"/>
              <a:buFont typeface="Arial" panose="020B0604020202020204" pitchFamily="34" charset="0"/>
              <a:buChar char="•"/>
            </a:pPr>
            <a:r>
              <a:rPr lang="fr-FR" sz="1000" dirty="0">
                <a:latin typeface="Arial" panose="020B0604020202020204" pitchFamily="34" charset="0"/>
              </a:rPr>
              <a:t>Restauration. Lorsqu’un système AD DS est restauré, les numéros de séquence de mise à jour (USN) dupliqués peuvent être créés et parce que la réplication des contrôleurs de domaine dépend des USN, la duplication des numéros puisse causer des problèmes. Pour éviter cela, Windows Server 2016 Active Directory a un identificateur nommé </a:t>
            </a:r>
            <a:r>
              <a:rPr lang="fr-FR" sz="1000" b="1" dirty="0">
                <a:latin typeface="Arial" panose="020B0604020202020204" pitchFamily="34" charset="0"/>
              </a:rPr>
              <a:t>VM-Generation ID</a:t>
            </a:r>
            <a:r>
              <a:rPr lang="fr-FR" sz="1000" dirty="0">
                <a:latin typeface="Arial" panose="020B0604020202020204" pitchFamily="34" charset="0"/>
              </a:rPr>
              <a:t>. </a:t>
            </a:r>
            <a:r>
              <a:rPr lang="fr-FR" sz="1000" b="1" dirty="0">
                <a:latin typeface="Arial" panose="020B0604020202020204" pitchFamily="34" charset="0"/>
              </a:rPr>
              <a:t>VM-Generation ID</a:t>
            </a:r>
            <a:r>
              <a:rPr lang="fr-FR" sz="1000" dirty="0">
                <a:latin typeface="Arial" panose="020B0604020202020204" pitchFamily="34" charset="0"/>
              </a:rPr>
              <a:t> peut détecter une restauration et empêche le contrôleur de domaine virtualisé de répliquer des modifications sortantes jusqu’à ce que l’AD DS virtualisé ait convergé avec les autres contrôleurs de domaine dans le domaine.</a:t>
            </a:r>
          </a:p>
          <a:p>
            <a:pPr marL="171450" lvl="0" indent="-171450">
              <a:buSzPct val="150000"/>
              <a:buFont typeface="Arial" panose="020B0604020202020204" pitchFamily="34" charset="0"/>
              <a:buChar char="•"/>
            </a:pPr>
            <a:endParaRPr lang="fr-FR" sz="1000" dirty="0">
              <a:latin typeface="Arial" panose="020B0604020202020204" pitchFamily="34" charset="0"/>
              <a:cs typeface="Arial" panose="020B0604020202020204" pitchFamily="34" charset="0"/>
            </a:endParaRPr>
          </a:p>
          <a:p>
            <a:pPr marL="171450" lvl="0" indent="-171450">
              <a:buSzPct val="150000"/>
              <a:buFont typeface="Arial" panose="020B0604020202020204" pitchFamily="34" charset="0"/>
              <a:buChar char="•"/>
            </a:pPr>
            <a:r>
              <a:rPr lang="fr-FR" sz="1000" dirty="0">
                <a:latin typeface="Arial" panose="020B0604020202020204" pitchFamily="34" charset="0"/>
              </a:rPr>
              <a:t>Les limites de l’ordinateur virtuel. Les ordinateurs virtuels Azure sont limités à 14 gigaoctets (Go) de mémoire vive (RAM) et à un adaptateur réseau. En outre, la fonction de point de contrôle n’est pas prise en charge.</a:t>
            </a:r>
          </a:p>
          <a:p>
            <a:pPr>
              <a:buSzPct val="150000"/>
            </a:pPr>
            <a:endParaRPr lang="fr-FR" sz="1000" dirty="0"/>
          </a:p>
        </p:txBody>
      </p:sp>
      <p:sp>
        <p:nvSpPr>
          <p:cNvPr id="4" name="Slide Number Placeholder 3"/>
          <p:cNvSpPr>
            <a:spLocks noGrp="1"/>
          </p:cNvSpPr>
          <p:nvPr>
            <p:ph type="sldNum" sz="quarter" idx="10"/>
          </p:nvPr>
        </p:nvSpPr>
        <p:spPr/>
        <p:txBody>
          <a:bodyPr/>
          <a:lstStyle/>
          <a:p>
            <a:fld id="{247DA02D-7972-4BD4-9622-065EB71E6770}" type="slidenum">
              <a:rPr lang="en-US" smtClean="0"/>
              <a:t>25</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8738967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Utiliser le Gestionnaire de serveur pour décrire le processus initial d’installation d’un contrôleur de domaine AD DS. Expliquer que l’Assistant Installation des </a:t>
            </a:r>
            <a:r>
              <a:rPr lang="fr-FR" sz="1000" dirty="0">
                <a:solidFill>
                  <a:srgbClr val="000000"/>
                </a:solidFill>
                <a:latin typeface="Arial"/>
              </a:rPr>
              <a:t>services de domaine</a:t>
            </a:r>
            <a:r>
              <a:rPr lang="fr-FR" sz="1000" dirty="0">
                <a:latin typeface="Arial"/>
              </a:rPr>
              <a:t> est obsolète. Cependant, on peut toujours exécuter la commande </a:t>
            </a:r>
            <a:r>
              <a:rPr lang="fr-FR" sz="1000" b="1" dirty="0">
                <a:latin typeface="Arial"/>
              </a:rPr>
              <a:t>dcpromo</a:t>
            </a:r>
            <a:r>
              <a:rPr lang="fr-FR" sz="1000" dirty="0">
                <a:latin typeface="Arial"/>
              </a:rPr>
              <a:t> avec un fichier de réponses. Cette fonctionnalité a été retenue pour permettre aux entreprises qui utilisent l’automatisation de se convertir aux déploiements WIndows PowerShell. Expliquer que le passage initial installe les fichiers pour AD DS et que l’on peut ensuite continuer à configurer l’installation d’AD DS.</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26</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09105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solidFill>
                  <a:srgbClr val="000000"/>
                </a:solidFill>
                <a:latin typeface="Arial"/>
              </a:rPr>
              <a:t>Expliquer les méthodes prises en charge pour l’installation à distance d’un rôle de contrôleur de domaine sur les serveurs exécutant Windows Server 2016.</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Pour plus d’informations, consultez : « Déploiement d’applets de commandes AD DS dans Windows PowerShell » à l’adresse : </a:t>
            </a:r>
            <a:r>
              <a:rPr lang="en-US" sz="1000" u="sng" dirty="0">
                <a:solidFill>
                  <a:srgbClr val="0000FF"/>
                </a:solidFill>
                <a:latin typeface="Arial"/>
                <a:ea typeface="Calibri"/>
                <a:cs typeface="Times New Roman"/>
                <a:hlinkClick r:id="rId3"/>
              </a:rPr>
              <a:t>http://aka.ms/Lnxifx</a:t>
            </a:r>
            <a:r>
              <a:rPr lang="en-US" sz="1000" dirty="0">
                <a:latin typeface="Arial"/>
                <a:ea typeface="Calibri"/>
                <a:cs typeface="Times New Roman"/>
              </a:rPr>
              <a:t> </a:t>
            </a:r>
            <a:endParaRPr lang="fr-FR" dirty="0"/>
          </a:p>
        </p:txBody>
      </p:sp>
      <p:sp>
        <p:nvSpPr>
          <p:cNvPr id="4" name="Slide Number Placeholder 3"/>
          <p:cNvSpPr>
            <a:spLocks noGrp="1"/>
          </p:cNvSpPr>
          <p:nvPr>
            <p:ph type="sldNum" sz="quarter" idx="10"/>
          </p:nvPr>
        </p:nvSpPr>
        <p:spPr/>
        <p:txBody>
          <a:bodyPr/>
          <a:lstStyle/>
          <a:p>
            <a:fld id="{247DA02D-7972-4BD4-9622-065EB71E6770}" type="slidenum">
              <a:rPr lang="en-US" smtClean="0"/>
              <a:t>27</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420795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FR" sz="1000" dirty="0">
                <a:latin typeface="Arial"/>
              </a:rPr>
              <a:t>Décrir les différentes méthodes pour mettre à niveau une forêt et un domaine et échanger sur les risques et les avantages de chaque méthode. </a:t>
            </a:r>
          </a:p>
          <a:p>
            <a:pPr>
              <a:lnSpc>
                <a:spcPct val="115000"/>
              </a:lnSpc>
              <a:spcAft>
                <a:spcPts val="1000"/>
              </a:spcAft>
            </a:pPr>
            <a:r>
              <a:rPr lang="fr-FR" sz="1000" dirty="0">
                <a:latin typeface="Arial"/>
              </a:rPr>
              <a:t>Expliquer que le processus est le même pour la mise à niveau de toute version de Windows Server, à partir de Windows Server 2008 </a:t>
            </a:r>
          </a:p>
        </p:txBody>
      </p:sp>
      <p:sp>
        <p:nvSpPr>
          <p:cNvPr id="4" name="Slide Number Placeholder 3"/>
          <p:cNvSpPr>
            <a:spLocks noGrp="1"/>
          </p:cNvSpPr>
          <p:nvPr>
            <p:ph type="sldNum" sz="quarter" idx="10"/>
          </p:nvPr>
        </p:nvSpPr>
        <p:spPr/>
        <p:txBody>
          <a:bodyPr/>
          <a:lstStyle/>
          <a:p>
            <a:fld id="{247DA02D-7972-4BD4-9622-065EB71E6770}" type="slidenum">
              <a:rPr lang="en-US" smtClean="0"/>
              <a:t>28</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5728702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F</a:t>
            </a:r>
            <a:r>
              <a:rPr lang="fr-FR" sz="1000" dirty="0">
                <a:solidFill>
                  <a:srgbClr val="000000"/>
                </a:solidFill>
                <a:latin typeface="Arial"/>
              </a:rPr>
              <a:t>aire remarquer aux stagiaires que, parce qu’ils installent le contrôleur de domaine en utilisant la méthode </a:t>
            </a:r>
            <a:r>
              <a:rPr lang="fr-FR" sz="1000" b="1" dirty="0">
                <a:latin typeface="Arial"/>
              </a:rPr>
              <a:t>Installation depuis un support</a:t>
            </a:r>
            <a:r>
              <a:rPr lang="fr-FR" sz="1000" dirty="0">
                <a:solidFill>
                  <a:srgbClr val="000000"/>
                </a:solidFill>
                <a:latin typeface="Arial"/>
              </a:rPr>
              <a:t>, ils doivent activer la case à cocher </a:t>
            </a:r>
            <a:r>
              <a:rPr lang="fr-FR" sz="1000" b="1" dirty="0">
                <a:latin typeface="Arial"/>
              </a:rPr>
              <a:t>Installation depuis un chemin d’accès de support</a:t>
            </a:r>
            <a:r>
              <a:rPr lang="fr-FR" sz="1000" dirty="0">
                <a:solidFill>
                  <a:srgbClr val="000000"/>
                </a:solidFill>
                <a:latin typeface="Arial"/>
              </a:rPr>
              <a:t> puis saisir le chemin d’accès du fichier d’instantané dans la zone </a:t>
            </a:r>
            <a:r>
              <a:rPr lang="fr-FR" sz="1000" b="1" dirty="0">
                <a:latin typeface="Arial"/>
              </a:rPr>
              <a:t>Installation depuis un chemin d’accès de support</a:t>
            </a:r>
            <a:r>
              <a:rPr lang="fr-FR" sz="1000" dirty="0">
                <a:solidFill>
                  <a:srgbClr val="000000"/>
                </a:solidFill>
                <a:latin typeface="Arial"/>
              </a:rPr>
              <a:t>.</a:t>
            </a: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29</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960749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b="1" dirty="0">
                <a:latin typeface="Arial"/>
              </a:rPr>
              <a:t>Remarque</a:t>
            </a:r>
            <a:r>
              <a:rPr lang="fr-FR" sz="1000" dirty="0">
                <a:latin typeface="Arial"/>
              </a:rPr>
              <a:t> : Ce sujet comporte une autre diapositive.</a:t>
            </a:r>
          </a:p>
        </p:txBody>
      </p:sp>
      <p:sp>
        <p:nvSpPr>
          <p:cNvPr id="4" name="Slide Number Placeholder 3"/>
          <p:cNvSpPr>
            <a:spLocks noGrp="1"/>
          </p:cNvSpPr>
          <p:nvPr>
            <p:ph type="sldNum" sz="quarter" idx="10"/>
          </p:nvPr>
        </p:nvSpPr>
        <p:spPr/>
        <p:txBody>
          <a:bodyPr/>
          <a:lstStyle/>
          <a:p>
            <a:fld id="{247DA02D-7972-4BD4-9622-065EB71E6770}" type="slidenum">
              <a:rPr lang="en-US" smtClean="0"/>
              <a:t>30</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489958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Expliqueer aux stagiaires le processus pour qu’un contrôleur de domaine nouvellement cloné démarre, en décrivant chacune des étapes suivantes :</a:t>
            </a:r>
          </a:p>
          <a:p>
            <a:pPr marL="342900" marR="0" lvl="0" indent="-342900">
              <a:lnSpc>
                <a:spcPct val="115000"/>
              </a:lnSpc>
              <a:spcBef>
                <a:spcPts val="0"/>
              </a:spcBef>
              <a:spcAft>
                <a:spcPts val="995"/>
              </a:spcAft>
              <a:buFont typeface="+mj-lt"/>
              <a:buAutoNum type="arabicPeriod"/>
            </a:pPr>
            <a:r>
              <a:rPr lang="fr-FR" sz="1000" dirty="0">
                <a:effectLst/>
                <a:latin typeface="Arial"/>
              </a:rPr>
              <a:t>Le clone vérifie si un identificateur de génération d’ordinateur virtuel existe ; C’est nécessaire et s’il n’y a pas d’identifiant pour la génération de l’ordinateur virtuel, l’ordinateur démarre normalement en l’absence de DCCloneConfig ou alors il renomme DCCloneConfig et redémarre dans Mode restauration des services d’annuaire (DSRM) ; Une sauvegarde est démarrée dans le DSRM et un administrateur de domaine a besoin de suivre de près le problème et de la résoudre afin de faire fonctionner le contrôleur de domaine comme prévu.</a:t>
            </a:r>
          </a:p>
          <a:p>
            <a:pPr marL="342900" marR="0" lvl="0" indent="-342900">
              <a:lnSpc>
                <a:spcPct val="115000"/>
              </a:lnSpc>
              <a:spcBef>
                <a:spcPts val="0"/>
              </a:spcBef>
              <a:spcAft>
                <a:spcPts val="995"/>
              </a:spcAft>
              <a:buFont typeface="+mj-lt"/>
              <a:buAutoNum type="arabicPeriod"/>
            </a:pPr>
            <a:r>
              <a:rPr lang="fr-FR" sz="1000" dirty="0">
                <a:effectLst/>
                <a:latin typeface="Arial"/>
              </a:rPr>
              <a:t>Le clone vérifie si l’identificateur de génération d’ordinateur virtuel a changé et prend l’une des actions suivantes, comme suit :</a:t>
            </a:r>
          </a:p>
          <a:p>
            <a:pPr marL="742950" marR="0" lvl="1" indent="-285750">
              <a:lnSpc>
                <a:spcPct val="115000"/>
              </a:lnSpc>
              <a:spcBef>
                <a:spcPts val="0"/>
              </a:spcBef>
              <a:spcAft>
                <a:spcPts val="995"/>
              </a:spcAft>
              <a:buFont typeface="Courier New" panose="02070309020205020404" pitchFamily="49" charset="0"/>
              <a:buChar char="o"/>
            </a:pPr>
            <a:r>
              <a:rPr lang="fr-FR" sz="1000" dirty="0">
                <a:effectLst/>
                <a:latin typeface="Arial"/>
              </a:rPr>
              <a:t>S’il n’a pas changé, il est le contrôleur de domaine source d’origine ; Si DCCloneConfig existe, il est renommé ; Dans les deux cas, un démarrage normal se produit et le contrôleur de domaine est à nouveau fonctionnel </a:t>
            </a:r>
          </a:p>
          <a:p>
            <a:pPr marL="742950" marR="0" lvl="1" indent="-285750">
              <a:lnSpc>
                <a:spcPct val="115000"/>
              </a:lnSpc>
              <a:spcBef>
                <a:spcPts val="0"/>
              </a:spcBef>
              <a:spcAft>
                <a:spcPts val="995"/>
              </a:spcAft>
              <a:buFont typeface="Courier New" panose="02070309020205020404" pitchFamily="49" charset="0"/>
              <a:buChar char="o"/>
            </a:pPr>
            <a:r>
              <a:rPr lang="fr-FR" sz="1000" dirty="0">
                <a:effectLst/>
                <a:latin typeface="Arial"/>
              </a:rPr>
              <a:t>S’il a changé, les sauvegardes de virtualisation se déclenchent et le processus continue </a:t>
            </a:r>
          </a:p>
          <a:p>
            <a:pPr marL="342900" marR="0" lvl="0" indent="-342900">
              <a:lnSpc>
                <a:spcPct val="115000"/>
              </a:lnSpc>
              <a:spcBef>
                <a:spcPts val="0"/>
              </a:spcBef>
              <a:spcAft>
                <a:spcPts val="995"/>
              </a:spcAft>
              <a:buFont typeface="+mj-lt"/>
              <a:buAutoNum type="arabicPeriod"/>
            </a:pPr>
            <a:r>
              <a:rPr lang="fr-FR" sz="1000" dirty="0">
                <a:effectLst/>
                <a:latin typeface="Arial"/>
              </a:rPr>
              <a:t>Le clone vérifie si DCCloneConfig existe ; Sinon, une vérification est effectuée pour savoir si une adresse IP existe en double et déterminer s’il faut démarrer normalement ou en DSRM. Si le fichier DCCloneConfig existe, l’ordinateur obtient le nom de l’ordinateur et les paramètres de l’adresse IP à partir du fichier ; La base de données AD DS est modifiée et les étapes d’initialisation sont effectuées pour qu’un nouveau contrôleur de domaine soit créé.</a:t>
            </a:r>
          </a:p>
        </p:txBody>
      </p:sp>
      <p:sp>
        <p:nvSpPr>
          <p:cNvPr id="4" name="Slide Number Placeholder 3"/>
          <p:cNvSpPr>
            <a:spLocks noGrp="1"/>
          </p:cNvSpPr>
          <p:nvPr>
            <p:ph type="sldNum" sz="quarter" idx="10"/>
          </p:nvPr>
        </p:nvSpPr>
        <p:spPr/>
        <p:txBody>
          <a:bodyPr/>
          <a:lstStyle/>
          <a:p>
            <a:fld id="{247DA02D-7972-4BD4-9622-065EB71E6770}" type="slidenum">
              <a:rPr lang="en-US" smtClean="0"/>
              <a:t>31</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048592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Démontrer aux stagiaires comment préparer un contrôleur de domaine pour qu’il devienne un contrôleur de domaine source pour le clonage, puis comment créer un clone. Expliquer chaque étape de la démonstration, comme indiqué dans les rubriques précédentes.</a:t>
            </a:r>
          </a:p>
          <a:p>
            <a:pPr>
              <a:lnSpc>
                <a:spcPct val="115000"/>
              </a:lnSpc>
              <a:spcAft>
                <a:spcPts val="1000"/>
              </a:spcAft>
            </a:pPr>
            <a:r>
              <a:rPr lang="fr-FR" sz="1000" dirty="0">
                <a:latin typeface="Arial"/>
              </a:rPr>
              <a:t>Après avoir terminé cette démonstration, supprimer la machine virtuelle LON-DC3, puis rétablir tous les ordinateurs virtuels.</a:t>
            </a:r>
          </a:p>
          <a:p>
            <a:pPr>
              <a:lnSpc>
                <a:spcPct val="115000"/>
              </a:lnSpc>
              <a:spcAft>
                <a:spcPts val="1000"/>
              </a:spcAft>
            </a:pPr>
            <a:r>
              <a:rPr lang="fr-FR" sz="1000" b="1" dirty="0">
                <a:latin typeface="Arial"/>
              </a:rPr>
              <a:t>Étapes de préparation</a:t>
            </a:r>
            <a:endParaRPr lang="fr-FR" sz="1000" dirty="0">
              <a:latin typeface="Arial"/>
              <a:ea typeface="Calibri"/>
              <a:cs typeface="Times New Roman"/>
            </a:endParaRPr>
          </a:p>
          <a:p>
            <a:pPr>
              <a:lnSpc>
                <a:spcPct val="115000"/>
              </a:lnSpc>
              <a:spcAft>
                <a:spcPts val="1000"/>
              </a:spcAft>
            </a:pPr>
            <a:r>
              <a:rPr lang="fr-FR" sz="1000" dirty="0">
                <a:latin typeface="Arial"/>
              </a:rPr>
              <a:t>Pour cette démonstration, utiliser l’environnement d’ordinateur virtuel disponible. Avant de commencer cette démonstration, procéder aux étapes suivantes :</a:t>
            </a:r>
          </a:p>
          <a:p>
            <a:pPr marL="342900" marR="0" lvl="0" indent="-342900">
              <a:lnSpc>
                <a:spcPct val="115000"/>
              </a:lnSpc>
              <a:spcBef>
                <a:spcPts val="0"/>
              </a:spcBef>
              <a:spcAft>
                <a:spcPts val="995"/>
              </a:spcAft>
              <a:buFont typeface="+mj-lt"/>
              <a:buAutoNum type="arabicPeriod"/>
            </a:pPr>
            <a:r>
              <a:rPr lang="fr-FR" sz="1000" dirty="0">
                <a:effectLst/>
                <a:latin typeface="Arial"/>
              </a:rPr>
              <a:t>Sur l’ordinateur hôte, démarrer le </a:t>
            </a:r>
            <a:r>
              <a:rPr lang="fr-FR" sz="1000" b="1" dirty="0">
                <a:effectLst/>
                <a:latin typeface="Arial"/>
              </a:rPr>
              <a:t>Gestionnaire Hyper-V</a:t>
            </a:r>
            <a:r>
              <a:rPr lang="fr-FR" sz="1000" b="0" dirty="0">
                <a:effectLst/>
                <a:latin typeface="Arial"/>
              </a:rPr>
              <a:t>.</a:t>
            </a:r>
            <a:endParaRPr lang="fr-FR" sz="1000" dirty="0">
              <a:effectLst/>
              <a:latin typeface="Arial"/>
            </a:endParaRPr>
          </a:p>
          <a:p>
            <a:pPr marL="342900" marR="0" lvl="0" indent="-342900">
              <a:lnSpc>
                <a:spcPct val="115000"/>
              </a:lnSpc>
              <a:spcBef>
                <a:spcPts val="0"/>
              </a:spcBef>
              <a:spcAft>
                <a:spcPts val="995"/>
              </a:spcAft>
              <a:buFont typeface="+mj-lt"/>
              <a:buAutoNum type="arabicPeriod"/>
            </a:pPr>
            <a:r>
              <a:rPr lang="fr-FR" sz="1000" dirty="0">
                <a:effectLst/>
                <a:latin typeface="Arial"/>
              </a:rPr>
              <a:t>Dans le Gestionnaire Hyper-V, cliquez sur </a:t>
            </a:r>
            <a:r>
              <a:rPr lang="fr-FR" sz="1000" b="1" dirty="0">
                <a:effectLst/>
                <a:latin typeface="Arial"/>
              </a:rPr>
              <a:t>22742A-LON-DC1</a:t>
            </a:r>
            <a:r>
              <a:rPr lang="fr-FR" sz="1000" dirty="0">
                <a:effectLst/>
                <a:latin typeface="Arial"/>
              </a:rPr>
              <a:t> et dans le volet d’</a:t>
            </a:r>
            <a:r>
              <a:rPr lang="fr-FR" sz="1000" b="1" dirty="0">
                <a:effectLst/>
                <a:latin typeface="Arial"/>
              </a:rPr>
              <a:t>Actions</a:t>
            </a:r>
            <a:r>
              <a:rPr lang="fr-FR" sz="1000" dirty="0">
                <a:effectLst/>
                <a:latin typeface="Arial"/>
              </a:rPr>
              <a:t>, sur </a:t>
            </a:r>
            <a:r>
              <a:rPr lang="fr-FR" sz="1000" b="1" dirty="0">
                <a:effectLst/>
                <a:latin typeface="Arial"/>
              </a:rPr>
              <a:t>Démarrer</a:t>
            </a:r>
            <a:r>
              <a:rPr lang="fr-FR" sz="1000" b="0" dirty="0">
                <a:effectLst/>
                <a:latin typeface="Arial"/>
              </a:rPr>
              <a:t>.</a:t>
            </a:r>
            <a:endParaRPr lang="fr-FR" sz="1000" dirty="0">
              <a:effectLst/>
              <a:latin typeface="Arial"/>
            </a:endParaRPr>
          </a:p>
          <a:p>
            <a:pPr marL="342900" marR="0" lvl="0" indent="-342900">
              <a:lnSpc>
                <a:spcPct val="115000"/>
              </a:lnSpc>
              <a:spcBef>
                <a:spcPts val="0"/>
              </a:spcBef>
              <a:spcAft>
                <a:spcPts val="995"/>
              </a:spcAft>
              <a:buFont typeface="+mj-lt"/>
              <a:buAutoNum type="arabicPeriod"/>
            </a:pPr>
            <a:r>
              <a:rPr lang="fr-FR" sz="1000" dirty="0">
                <a:effectLst/>
                <a:latin typeface="Arial"/>
              </a:rPr>
              <a:t>Dans le volet d’</a:t>
            </a:r>
            <a:r>
              <a:rPr lang="fr-FR" sz="1000" b="1" dirty="0">
                <a:effectLst/>
                <a:latin typeface="Arial"/>
              </a:rPr>
              <a:t>Actions</a:t>
            </a:r>
            <a:r>
              <a:rPr lang="fr-FR" sz="1000" dirty="0">
                <a:effectLst/>
                <a:latin typeface="Arial"/>
              </a:rPr>
              <a:t>, appuyez sur </a:t>
            </a:r>
            <a:r>
              <a:rPr lang="fr-FR" sz="1000" b="1" dirty="0">
                <a:effectLst/>
                <a:latin typeface="Arial"/>
              </a:rPr>
              <a:t>Se connecter</a:t>
            </a:r>
            <a:r>
              <a:rPr lang="fr-FR" sz="1000" dirty="0">
                <a:effectLst/>
                <a:latin typeface="Arial"/>
              </a:rPr>
              <a:t> ; Attendre que l’ordinateur virtuel démarre.</a:t>
            </a:r>
          </a:p>
          <a:p>
            <a:pPr marL="342900" marR="0" lvl="0" indent="-342900">
              <a:lnSpc>
                <a:spcPct val="115000"/>
              </a:lnSpc>
              <a:spcBef>
                <a:spcPts val="0"/>
              </a:spcBef>
              <a:spcAft>
                <a:spcPts val="995"/>
              </a:spcAft>
              <a:buFont typeface="+mj-lt"/>
              <a:buAutoNum type="arabicPeriod"/>
            </a:pPr>
            <a:r>
              <a:rPr lang="fr-FR" sz="1000" dirty="0">
                <a:effectLst/>
                <a:latin typeface="Arial"/>
              </a:rPr>
              <a:t>Se connecter en utilisant les informations d’identification suivantes :</a:t>
            </a:r>
          </a:p>
          <a:p>
            <a:pPr marL="742950" marR="0" lvl="1" indent="-285750">
              <a:lnSpc>
                <a:spcPct val="115000"/>
              </a:lnSpc>
              <a:spcBef>
                <a:spcPts val="0"/>
              </a:spcBef>
              <a:spcAft>
                <a:spcPts val="995"/>
              </a:spcAft>
              <a:buFont typeface="Courier New" panose="02070309020205020404" pitchFamily="49" charset="0"/>
              <a:buChar char="o"/>
            </a:pPr>
            <a:r>
              <a:rPr lang="fr-FR" sz="1000" dirty="0">
                <a:effectLst/>
                <a:latin typeface="Arial"/>
              </a:rPr>
              <a:t>Nom d’utilisateur : </a:t>
            </a:r>
            <a:r>
              <a:rPr lang="fr-FR" sz="1000" b="1" dirty="0">
                <a:effectLst/>
                <a:latin typeface="Arial"/>
              </a:rPr>
              <a:t>Adatum\Administrator</a:t>
            </a:r>
            <a:endParaRPr lang="fr-FR"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fr-FR" sz="1000" dirty="0">
                <a:effectLst/>
                <a:latin typeface="Arial"/>
              </a:rPr>
              <a:t>Mot de passe : </a:t>
            </a:r>
            <a:r>
              <a:rPr lang="fr-FR" sz="1000" b="1" dirty="0">
                <a:effectLst/>
                <a:latin typeface="Arial"/>
              </a:rPr>
              <a:t>Pa$$w0rd</a:t>
            </a:r>
            <a:endParaRPr lang="fr-FR" sz="1000" dirty="0">
              <a:effectLst/>
              <a:latin typeface="Arial"/>
              <a:ea typeface="Times New Roman"/>
              <a:cs typeface="Times New Roman"/>
            </a:endParaRPr>
          </a:p>
          <a:p>
            <a:pPr>
              <a:lnSpc>
                <a:spcPct val="115000"/>
              </a:lnSpc>
              <a:spcAft>
                <a:spcPts val="1000"/>
              </a:spcAft>
            </a:pPr>
            <a:r>
              <a:rPr lang="fr-FR" sz="1000" b="1" dirty="0">
                <a:latin typeface="Arial"/>
              </a:rPr>
              <a:t>Remarque : </a:t>
            </a:r>
            <a:r>
              <a:rPr lang="fr-FR" sz="1000" dirty="0">
                <a:latin typeface="Arial"/>
              </a:rPr>
              <a:t>Il est possible que vous ne soyez pas en mesure d’effectuer cette démonstration lors de l’utilisation d’un environnement d’atelier dans le cloud. Cette démonstration exige que vous ayez un accès local à l’hôte Hyper-V.</a:t>
            </a:r>
          </a:p>
          <a:p>
            <a:pPr>
              <a:lnSpc>
                <a:spcPct val="115000"/>
              </a:lnSpc>
              <a:spcAft>
                <a:spcPts val="1000"/>
              </a:spcAft>
            </a:pPr>
            <a:r>
              <a:rPr lang="fr-FR" sz="1000" b="1" dirty="0">
                <a:latin typeface="Arial"/>
              </a:rPr>
              <a:t>Étapes de la démonstration :</a:t>
            </a:r>
          </a:p>
          <a:p>
            <a:pPr>
              <a:lnSpc>
                <a:spcPts val="1300"/>
              </a:lnSpc>
              <a:spcBef>
                <a:spcPts val="900"/>
              </a:spcBef>
              <a:spcAft>
                <a:spcPts val="300"/>
              </a:spcAft>
            </a:pPr>
            <a:r>
              <a:rPr lang="fr-FR" sz="1000" b="1" dirty="0">
                <a:effectLst/>
                <a:latin typeface="Arial"/>
              </a:rPr>
              <a:t>Préparer un contrôleur de domaine source à cloner ;</a:t>
            </a:r>
          </a:p>
          <a:p>
            <a:pPr marL="342900" marR="0" lvl="0" indent="-342900">
              <a:lnSpc>
                <a:spcPct val="115000"/>
              </a:lnSpc>
              <a:spcBef>
                <a:spcPts val="0"/>
              </a:spcBef>
              <a:spcAft>
                <a:spcPts val="995"/>
              </a:spcAft>
              <a:buFont typeface="+mj-lt"/>
              <a:buAutoNum type="arabicPeriod"/>
            </a:pPr>
            <a:r>
              <a:rPr lang="fr-FR" sz="1000" dirty="0">
                <a:effectLst/>
                <a:latin typeface="Arial"/>
              </a:rPr>
              <a:t>Sur </a:t>
            </a:r>
            <a:r>
              <a:rPr lang="fr-FR" sz="1000" b="1" dirty="0">
                <a:effectLst/>
                <a:latin typeface="Arial"/>
              </a:rPr>
              <a:t>LON-DC1</a:t>
            </a:r>
            <a:r>
              <a:rPr lang="fr-FR" sz="1000" dirty="0">
                <a:effectLst/>
                <a:latin typeface="Arial"/>
              </a:rPr>
              <a:t>, dans le </a:t>
            </a:r>
            <a:r>
              <a:rPr lang="fr-FR" sz="1000" b="1" dirty="0">
                <a:effectLst/>
                <a:latin typeface="Arial"/>
              </a:rPr>
              <a:t>Gestionnaire de serveur</a:t>
            </a:r>
            <a:r>
              <a:rPr lang="fr-FR" sz="1000" dirty="0">
                <a:effectLst/>
                <a:latin typeface="Arial"/>
              </a:rPr>
              <a:t>, aller dans </a:t>
            </a:r>
            <a:r>
              <a:rPr lang="fr-FR" sz="1000" b="1" dirty="0">
                <a:effectLst/>
                <a:latin typeface="Arial"/>
              </a:rPr>
              <a:t>Outils</a:t>
            </a:r>
            <a:r>
              <a:rPr lang="fr-FR" sz="1000" dirty="0">
                <a:effectLst/>
                <a:latin typeface="Arial"/>
              </a:rPr>
              <a:t>, puis </a:t>
            </a:r>
            <a:r>
              <a:rPr lang="fr-FR" sz="1000" b="1" dirty="0">
                <a:effectLst/>
                <a:latin typeface="Arial"/>
              </a:rPr>
              <a:t>Centre d’administration Active Directory.</a:t>
            </a:r>
          </a:p>
          <a:p>
            <a:pPr marL="342900" marR="0" lvl="0" indent="-342900">
              <a:lnSpc>
                <a:spcPct val="115000"/>
              </a:lnSpc>
              <a:spcBef>
                <a:spcPts val="0"/>
              </a:spcBef>
              <a:spcAft>
                <a:spcPts val="995"/>
              </a:spcAft>
              <a:buFont typeface="+mj-lt"/>
              <a:buAutoNum type="arabicPeriod"/>
            </a:pPr>
            <a:r>
              <a:rPr lang="fr-FR" sz="1000" dirty="0">
                <a:effectLst/>
                <a:latin typeface="Arial"/>
              </a:rPr>
              <a:t>Dans </a:t>
            </a:r>
            <a:r>
              <a:rPr lang="fr-FR" sz="1000" b="1" dirty="0">
                <a:effectLst/>
                <a:latin typeface="Arial"/>
              </a:rPr>
              <a:t>Centre d’administration Active Directory</a:t>
            </a:r>
            <a:r>
              <a:rPr lang="fr-FR" sz="1000" dirty="0">
                <a:effectLst/>
                <a:latin typeface="Arial"/>
              </a:rPr>
              <a:t>, double-cliquez sur </a:t>
            </a:r>
            <a:r>
              <a:rPr lang="fr-FR" sz="1000" b="1" dirty="0">
                <a:effectLst/>
                <a:latin typeface="Arial"/>
              </a:rPr>
              <a:t>Adatum (local)</a:t>
            </a:r>
            <a:r>
              <a:rPr lang="fr-FR" sz="1000" dirty="0">
                <a:effectLst/>
                <a:latin typeface="Arial"/>
              </a:rPr>
              <a:t>, puis dans la liste de gestion, double-cliquez sur l’UO </a:t>
            </a:r>
            <a:r>
              <a:rPr lang="fr-FR" sz="1000" b="1" dirty="0">
                <a:effectLst/>
                <a:latin typeface="Arial"/>
              </a:rPr>
              <a:t>Contrôleurs de domaine</a:t>
            </a:r>
            <a:r>
              <a:rPr lang="fr-FR" sz="1000" dirty="0">
                <a:effectLst/>
                <a:latin typeface="Arial"/>
              </a:rPr>
              <a:t>.</a:t>
            </a:r>
          </a:p>
        </p:txBody>
      </p:sp>
      <p:sp>
        <p:nvSpPr>
          <p:cNvPr id="4" name="Slide Number Placeholder 3"/>
          <p:cNvSpPr>
            <a:spLocks noGrp="1"/>
          </p:cNvSpPr>
          <p:nvPr>
            <p:ph type="sldNum" sz="quarter" idx="10"/>
          </p:nvPr>
        </p:nvSpPr>
        <p:spPr/>
        <p:txBody>
          <a:bodyPr/>
          <a:lstStyle/>
          <a:p>
            <a:fld id="{247DA02D-7972-4BD4-9622-065EB71E6770}" type="slidenum">
              <a:rPr lang="en-US" smtClean="0"/>
              <a:t>32</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Tree>
    <p:extLst>
      <p:ext uri="{BB962C8B-B14F-4D97-AF65-F5344CB8AC3E}">
        <p14:creationId xmlns:p14="http://schemas.microsoft.com/office/powerpoint/2010/main" val="5278059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3"/>
            </a:pPr>
            <a:r>
              <a:rPr lang="fr-FR" sz="1000" dirty="0">
                <a:latin typeface="Arial"/>
              </a:rPr>
              <a:t>Dans la liste de gestion, sélectionner </a:t>
            </a:r>
            <a:r>
              <a:rPr lang="fr-FR" sz="1000" b="1" dirty="0">
                <a:latin typeface="Arial"/>
              </a:rPr>
              <a:t>LON-DC1</a:t>
            </a:r>
            <a:r>
              <a:rPr lang="fr-FR" sz="1000" dirty="0">
                <a:latin typeface="Arial"/>
              </a:rPr>
              <a:t> si ce n’est pas déjà sélectionné, puis dans le volet </a:t>
            </a:r>
            <a:r>
              <a:rPr lang="fr-FR" sz="1000" b="1" dirty="0">
                <a:latin typeface="Arial"/>
              </a:rPr>
              <a:t>Tâches</a:t>
            </a:r>
            <a:r>
              <a:rPr lang="fr-FR" sz="1000" dirty="0">
                <a:latin typeface="Arial"/>
              </a:rPr>
              <a:t>, dans la section </a:t>
            </a:r>
            <a:r>
              <a:rPr lang="fr-FR" sz="1000" b="1" dirty="0">
                <a:solidFill>
                  <a:prstClr val="black"/>
                </a:solidFill>
                <a:latin typeface="Arial"/>
              </a:rPr>
              <a:t>LON-DC1</a:t>
            </a:r>
            <a:r>
              <a:rPr lang="fr-FR" sz="1000" dirty="0">
                <a:latin typeface="Arial"/>
              </a:rPr>
              <a:t>, cliquez sur </a:t>
            </a:r>
            <a:r>
              <a:rPr lang="fr-FR" sz="1000" b="1" dirty="0">
                <a:solidFill>
                  <a:prstClr val="black"/>
                </a:solidFill>
                <a:latin typeface="Arial"/>
              </a:rPr>
              <a:t>Ajouter au groupe</a:t>
            </a:r>
            <a:r>
              <a:rPr lang="fr-FR" sz="1000" b="0" dirty="0">
                <a:solidFill>
                  <a:schemeClr val="tx1"/>
                </a:solidFill>
                <a:latin typeface="Arial"/>
              </a:rPr>
              <a:t>.</a:t>
            </a:r>
            <a:endParaRPr lang="fr-FR" sz="1000" dirty="0">
              <a:latin typeface="Arial"/>
            </a:endParaRPr>
          </a:p>
          <a:p>
            <a:pPr marL="342900" lvl="0" indent="-342900">
              <a:lnSpc>
                <a:spcPct val="115000"/>
              </a:lnSpc>
              <a:spcAft>
                <a:spcPts val="995"/>
              </a:spcAft>
              <a:buFont typeface="+mj-lt"/>
              <a:buAutoNum type="arabicPeriod" startAt="4"/>
            </a:pPr>
            <a:r>
              <a:rPr lang="fr-FR" sz="1000" dirty="0">
                <a:solidFill>
                  <a:prstClr val="black"/>
                </a:solidFill>
                <a:latin typeface="Arial"/>
              </a:rPr>
              <a:t>Dans la boîte de dialogue </a:t>
            </a:r>
            <a:r>
              <a:rPr lang="fr-FR" sz="1000" b="1" dirty="0">
                <a:solidFill>
                  <a:prstClr val="black"/>
                </a:solidFill>
                <a:latin typeface="Arial"/>
              </a:rPr>
              <a:t>Sélectionner des groupes</a:t>
            </a:r>
            <a:r>
              <a:rPr lang="fr-FR" sz="1000" dirty="0">
                <a:solidFill>
                  <a:prstClr val="black"/>
                </a:solidFill>
                <a:latin typeface="Arial"/>
              </a:rPr>
              <a:t>, dans la boîte de dialogue </a:t>
            </a:r>
            <a:r>
              <a:rPr lang="fr-FR" sz="1000" b="1" dirty="0">
                <a:solidFill>
                  <a:prstClr val="black"/>
                </a:solidFill>
                <a:latin typeface="Arial"/>
              </a:rPr>
              <a:t>Entrez les noms des objets à sélectionner</a:t>
            </a:r>
            <a:r>
              <a:rPr lang="fr-FR" sz="1000" dirty="0">
                <a:solidFill>
                  <a:prstClr val="black"/>
                </a:solidFill>
                <a:latin typeface="Arial"/>
              </a:rPr>
              <a:t>, saisir </a:t>
            </a:r>
            <a:r>
              <a:rPr lang="fr-FR" sz="1000" b="1" dirty="0">
                <a:solidFill>
                  <a:prstClr val="black"/>
                </a:solidFill>
                <a:latin typeface="Arial"/>
              </a:rPr>
              <a:t>Clonable</a:t>
            </a:r>
            <a:r>
              <a:rPr lang="fr-FR" sz="1000" dirty="0">
                <a:solidFill>
                  <a:prstClr val="black"/>
                </a:solidFill>
                <a:latin typeface="Arial"/>
              </a:rPr>
              <a:t>, puis cliquez sur </a:t>
            </a:r>
            <a:r>
              <a:rPr lang="fr-FR" sz="1000" b="1" dirty="0">
                <a:solidFill>
                  <a:prstClr val="black"/>
                </a:solidFill>
                <a:latin typeface="Arial"/>
              </a:rPr>
              <a:t>Vérifier les noms</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startAt="4"/>
            </a:pPr>
            <a:r>
              <a:rPr lang="fr-FR" sz="1000" dirty="0">
                <a:solidFill>
                  <a:prstClr val="black"/>
                </a:solidFill>
                <a:latin typeface="Arial"/>
              </a:rPr>
              <a:t>Assurez-vous que le nom du groupe est élargi à </a:t>
            </a:r>
            <a:r>
              <a:rPr lang="fr-FR" sz="1000" b="1" dirty="0">
                <a:solidFill>
                  <a:prstClr val="black"/>
                </a:solidFill>
                <a:latin typeface="Arial"/>
              </a:rPr>
              <a:t>Contrôleurs de domaine Clonable</a:t>
            </a:r>
            <a:r>
              <a:rPr lang="fr-FR" sz="1000" dirty="0">
                <a:solidFill>
                  <a:prstClr val="black"/>
                </a:solidFill>
                <a:latin typeface="Arial"/>
              </a:rPr>
              <a:t>, puis cliquez sur </a:t>
            </a:r>
            <a:r>
              <a:rPr lang="fr-FR" sz="1000" b="1" dirty="0">
                <a:solidFill>
                  <a:prstClr val="black"/>
                </a:solidFill>
                <a:latin typeface="Arial"/>
              </a:rPr>
              <a:t>OK</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startAt="4"/>
            </a:pPr>
            <a:r>
              <a:rPr lang="fr-FR" sz="1000" dirty="0">
                <a:solidFill>
                  <a:prstClr val="black"/>
                </a:solidFill>
                <a:latin typeface="Arial"/>
              </a:rPr>
              <a:t>Dans le menu Démarrer, cliquez sur </a:t>
            </a:r>
            <a:r>
              <a:rPr lang="fr-FR" sz="1000" b="1" dirty="0">
                <a:solidFill>
                  <a:prstClr val="black"/>
                </a:solidFill>
                <a:latin typeface="Arial"/>
              </a:rPr>
              <a:t>Windows PowerShell</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startAt="4"/>
            </a:pPr>
            <a:r>
              <a:rPr lang="fr-FR" sz="1000" dirty="0">
                <a:solidFill>
                  <a:prstClr val="black"/>
                </a:solidFill>
                <a:latin typeface="Arial"/>
              </a:rPr>
              <a:t>À l’invite de commandes Windows PowerShell, tapez la commande suivante, puis appuyez sur Entrée :</a:t>
            </a:r>
          </a:p>
          <a:p>
            <a:pPr lvl="0">
              <a:lnSpc>
                <a:spcPct val="115000"/>
              </a:lnSpc>
              <a:spcBef>
                <a:spcPts val="600"/>
              </a:spcBef>
              <a:spcAft>
                <a:spcPts val="995"/>
              </a:spcAft>
            </a:pPr>
            <a:r>
              <a:rPr lang="en-US" sz="1000" dirty="0">
                <a:solidFill>
                  <a:prstClr val="black"/>
                </a:solidFill>
                <a:latin typeface="Arial"/>
              </a:rPr>
              <a:t>	</a:t>
            </a:r>
            <a:r>
              <a:rPr lang="fr-FR" sz="1000" dirty="0" err="1">
                <a:solidFill>
                  <a:prstClr val="black"/>
                </a:solidFill>
                <a:latin typeface="Arial"/>
              </a:rPr>
              <a:t>Get-ADDCCloningExcludedApplicationList</a:t>
            </a:r>
            <a:r>
              <a:rPr lang="fr-FR" sz="1000" dirty="0">
                <a:solidFill>
                  <a:prstClr val="black"/>
                </a:solidFill>
                <a:latin typeface="Arial"/>
              </a:rPr>
              <a:t>.</a:t>
            </a:r>
          </a:p>
          <a:p>
            <a:pPr marL="342900" lvl="0" indent="-342900">
              <a:lnSpc>
                <a:spcPct val="115000"/>
              </a:lnSpc>
              <a:spcAft>
                <a:spcPts val="995"/>
              </a:spcAft>
              <a:buFont typeface="+mj-lt"/>
              <a:buAutoNum type="arabicPeriod" startAt="8"/>
              <a:tabLst>
                <a:tab pos="1702435" algn="l"/>
              </a:tabLst>
            </a:pPr>
            <a:r>
              <a:rPr lang="fr-FR" sz="1000" dirty="0">
                <a:solidFill>
                  <a:prstClr val="black"/>
                </a:solidFill>
                <a:latin typeface="Arial"/>
              </a:rPr>
              <a:t>Vérifiez la liste des applications critiques ; Lors de la production, vérifiez chaque application ou utilisez un contrôleur de domaine qui a moins d’applications installées par défaut ; Tapez la commande suivante, puis appuyez sur Entrée.</a:t>
            </a:r>
          </a:p>
          <a:p>
            <a:pPr lvl="0">
              <a:lnSpc>
                <a:spcPct val="115000"/>
              </a:lnSpc>
              <a:spcBef>
                <a:spcPts val="600"/>
              </a:spcBef>
              <a:spcAft>
                <a:spcPts val="995"/>
              </a:spcAft>
            </a:pPr>
            <a:r>
              <a:rPr lang="en-US" sz="1000" dirty="0">
                <a:solidFill>
                  <a:prstClr val="black"/>
                </a:solidFill>
                <a:latin typeface="Arial"/>
              </a:rPr>
              <a:t>	</a:t>
            </a:r>
            <a:r>
              <a:rPr lang="fr-FR" sz="1000" dirty="0">
                <a:solidFill>
                  <a:prstClr val="black"/>
                </a:solidFill>
                <a:latin typeface="Arial"/>
              </a:rPr>
              <a:t>Get-ADDCCloningExcludedApplicationList -GenerateXML.</a:t>
            </a:r>
          </a:p>
          <a:p>
            <a:pPr marL="342900" lvl="0" indent="-342900">
              <a:lnSpc>
                <a:spcPct val="115000"/>
              </a:lnSpc>
              <a:spcAft>
                <a:spcPts val="995"/>
              </a:spcAft>
              <a:buFont typeface="+mj-lt"/>
              <a:buAutoNum type="arabicPeriod" startAt="9"/>
            </a:pPr>
            <a:r>
              <a:rPr lang="fr-FR" sz="1000" dirty="0">
                <a:solidFill>
                  <a:prstClr val="black"/>
                </a:solidFill>
                <a:latin typeface="Arial"/>
              </a:rPr>
              <a:t>Tapez la commande suivante pour créer le fichier DCCloneConfig.xml, puis appuyez sur Entrée.</a:t>
            </a:r>
          </a:p>
          <a:p>
            <a:pPr lvl="0">
              <a:lnSpc>
                <a:spcPct val="115000"/>
              </a:lnSpc>
              <a:spcBef>
                <a:spcPts val="600"/>
              </a:spcBef>
              <a:spcAft>
                <a:spcPts val="995"/>
              </a:spcAft>
            </a:pPr>
            <a:r>
              <a:rPr lang="en-US" sz="1000" dirty="0">
                <a:solidFill>
                  <a:prstClr val="black"/>
                </a:solidFill>
                <a:latin typeface="Arial"/>
              </a:rPr>
              <a:t>	</a:t>
            </a:r>
            <a:r>
              <a:rPr lang="fr-FR" sz="1000" dirty="0">
                <a:solidFill>
                  <a:prstClr val="black"/>
                </a:solidFill>
                <a:latin typeface="Arial"/>
              </a:rPr>
              <a:t>New-ADDCCloneConfigFile.</a:t>
            </a:r>
          </a:p>
          <a:p>
            <a:pPr marL="342900" lvl="0" indent="-342900">
              <a:lnSpc>
                <a:spcPct val="115000"/>
              </a:lnSpc>
              <a:spcAft>
                <a:spcPts val="995"/>
              </a:spcAft>
              <a:buFont typeface="+mj-lt"/>
              <a:buAutoNum type="arabicPeriod" startAt="10"/>
            </a:pPr>
            <a:r>
              <a:rPr lang="fr-FR" sz="1000" dirty="0">
                <a:solidFill>
                  <a:prstClr val="black"/>
                </a:solidFill>
                <a:latin typeface="Arial"/>
              </a:rPr>
              <a:t>Tapez la commande suivante pour arrêter LON-DC1, puis appuyez sur Entrée :</a:t>
            </a:r>
          </a:p>
          <a:p>
            <a:pPr lvl="0">
              <a:lnSpc>
                <a:spcPct val="115000"/>
              </a:lnSpc>
              <a:spcBef>
                <a:spcPts val="600"/>
              </a:spcBef>
              <a:spcAft>
                <a:spcPts val="995"/>
              </a:spcAft>
            </a:pPr>
            <a:r>
              <a:rPr lang="en-US" sz="1000" dirty="0">
                <a:solidFill>
                  <a:prstClr val="black"/>
                </a:solidFill>
                <a:latin typeface="Arial"/>
              </a:rPr>
              <a:t>	</a:t>
            </a:r>
            <a:r>
              <a:rPr lang="fr-FR" sz="1000" dirty="0">
                <a:solidFill>
                  <a:prstClr val="black"/>
                </a:solidFill>
                <a:latin typeface="Arial"/>
              </a:rPr>
              <a:t>Stop-Computer.</a:t>
            </a:r>
          </a:p>
          <a:p>
            <a:pPr marL="342900" lvl="0" indent="-342900">
              <a:lnSpc>
                <a:spcPct val="115000"/>
              </a:lnSpc>
              <a:spcAft>
                <a:spcPts val="995"/>
              </a:spcAft>
              <a:buFont typeface="+mj-lt"/>
              <a:buAutoNum type="arabicPeriod" startAt="11"/>
            </a:pPr>
            <a:r>
              <a:rPr lang="fr-FR" sz="1000" dirty="0">
                <a:solidFill>
                  <a:prstClr val="black"/>
                </a:solidFill>
                <a:latin typeface="Arial"/>
              </a:rPr>
              <a:t>Patientez pendant que la machine virtuelle s’arrête. Vous pourriez être invité à confirmer l’arrêt.</a:t>
            </a:r>
          </a:p>
        </p:txBody>
      </p:sp>
      <p:sp>
        <p:nvSpPr>
          <p:cNvPr id="4" name="Slide Number Placeholder 3"/>
          <p:cNvSpPr>
            <a:spLocks noGrp="1"/>
          </p:cNvSpPr>
          <p:nvPr>
            <p:ph type="sldNum" sz="quarter" idx="10"/>
          </p:nvPr>
        </p:nvSpPr>
        <p:spPr/>
        <p:txBody>
          <a:bodyPr/>
          <a:lstStyle/>
          <a:p>
            <a:fld id="{247DA02D-7972-4BD4-9622-065EB71E6770}" type="slidenum">
              <a:rPr lang="en-US" smtClean="0"/>
              <a:t>33</a:t>
            </a:fld>
            <a:endParaRPr lang="fr-FR"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0224916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fr-FR" sz="1000" b="1" dirty="0">
                <a:solidFill>
                  <a:prstClr val="black"/>
                </a:solidFill>
                <a:latin typeface="Arial"/>
              </a:rPr>
              <a:t>Exporter l’ordinateur virtuel source ;</a:t>
            </a:r>
          </a:p>
          <a:p>
            <a:pPr marL="342900" lvl="0" indent="-342900">
              <a:lnSpc>
                <a:spcPct val="115000"/>
              </a:lnSpc>
              <a:spcAft>
                <a:spcPts val="995"/>
              </a:spcAft>
              <a:buFont typeface="+mj-lt"/>
              <a:buAutoNum type="arabicPeriod"/>
            </a:pPr>
            <a:r>
              <a:rPr lang="fr-FR" sz="1000" dirty="0">
                <a:solidFill>
                  <a:prstClr val="black"/>
                </a:solidFill>
                <a:latin typeface="Arial"/>
              </a:rPr>
              <a:t>Sur l’ordinateur hôte, dans le Gestionnaire Microsoft Hyper-V, dans le volet d’informations, sélectionner l’ordinateur virtuel </a:t>
            </a:r>
            <a:r>
              <a:rPr lang="fr-FR" sz="1000" b="1" dirty="0">
                <a:solidFill>
                  <a:prstClr val="black"/>
                </a:solidFill>
                <a:latin typeface="Arial"/>
              </a:rPr>
              <a:t>22742A-LON-DC1</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Dans le volet </a:t>
            </a:r>
            <a:r>
              <a:rPr lang="fr-FR" sz="1000" b="1" dirty="0">
                <a:solidFill>
                  <a:prstClr val="black"/>
                </a:solidFill>
                <a:latin typeface="Arial"/>
              </a:rPr>
              <a:t>Actions</a:t>
            </a:r>
            <a:r>
              <a:rPr lang="fr-FR" sz="1000" dirty="0">
                <a:solidFill>
                  <a:prstClr val="black"/>
                </a:solidFill>
                <a:latin typeface="Arial"/>
              </a:rPr>
              <a:t>, dans la section </a:t>
            </a:r>
            <a:r>
              <a:rPr lang="fr-FR" sz="1000" b="1" dirty="0">
                <a:solidFill>
                  <a:prstClr val="black"/>
                </a:solidFill>
                <a:latin typeface="Arial"/>
              </a:rPr>
              <a:t>22742A-LON-DC1</a:t>
            </a:r>
            <a:r>
              <a:rPr lang="fr-FR" sz="1000" dirty="0">
                <a:solidFill>
                  <a:prstClr val="black"/>
                </a:solidFill>
                <a:latin typeface="Arial"/>
              </a:rPr>
              <a:t>, cliquez sur </a:t>
            </a:r>
            <a:r>
              <a:rPr lang="fr-FR" sz="1000" b="1" dirty="0">
                <a:solidFill>
                  <a:prstClr val="black"/>
                </a:solidFill>
                <a:latin typeface="Arial"/>
              </a:rPr>
              <a:t>Exporter</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Dans la boîte de dialogue </a:t>
            </a:r>
            <a:r>
              <a:rPr lang="fr-FR" sz="1000" b="1" dirty="0">
                <a:solidFill>
                  <a:prstClr val="black"/>
                </a:solidFill>
                <a:latin typeface="Arial"/>
              </a:rPr>
              <a:t>Exporter l’ordinateur virtuel</a:t>
            </a:r>
            <a:r>
              <a:rPr lang="fr-FR" sz="1000" dirty="0">
                <a:solidFill>
                  <a:prstClr val="black"/>
                </a:solidFill>
                <a:latin typeface="Arial"/>
              </a:rPr>
              <a:t>, allez sur </a:t>
            </a:r>
            <a:r>
              <a:rPr lang="fr-FR" sz="1000" b="1" dirty="0">
                <a:solidFill>
                  <a:prstClr val="black"/>
                </a:solidFill>
                <a:latin typeface="Arial"/>
              </a:rPr>
              <a:t>D:\Program Files\Microsoft Learning\22742</a:t>
            </a:r>
            <a:r>
              <a:rPr lang="fr-FR" sz="1000" dirty="0">
                <a:solidFill>
                  <a:prstClr val="black"/>
                </a:solidFill>
                <a:latin typeface="Arial"/>
              </a:rPr>
              <a:t>, puis cliquez sur </a:t>
            </a:r>
            <a:r>
              <a:rPr lang="fr-FR" sz="1000" b="1" dirty="0">
                <a:solidFill>
                  <a:prstClr val="black"/>
                </a:solidFill>
                <a:latin typeface="Arial"/>
              </a:rPr>
              <a:t>Exporter</a:t>
            </a:r>
            <a:r>
              <a:rPr lang="fr-FR" sz="1000" dirty="0">
                <a:solidFill>
                  <a:prstClr val="black"/>
                </a:solidFill>
                <a:latin typeface="Arial"/>
              </a:rPr>
              <a:t> ; Attendre jusqu’à ce que l’export soit terminé.</a:t>
            </a:r>
          </a:p>
          <a:p>
            <a:pPr marL="342900" lvl="0" indent="-342900">
              <a:lnSpc>
                <a:spcPct val="115000"/>
              </a:lnSpc>
              <a:spcAft>
                <a:spcPts val="995"/>
              </a:spcAft>
              <a:buFont typeface="+mj-lt"/>
              <a:buAutoNum type="arabicPeriod"/>
            </a:pPr>
            <a:r>
              <a:rPr lang="fr-FR" sz="1000" dirty="0">
                <a:solidFill>
                  <a:prstClr val="black"/>
                </a:solidFill>
                <a:latin typeface="Arial"/>
              </a:rPr>
              <a:t>Dans le volet </a:t>
            </a:r>
            <a:r>
              <a:rPr lang="fr-FR" sz="1000" b="1" dirty="0">
                <a:solidFill>
                  <a:prstClr val="black"/>
                </a:solidFill>
                <a:latin typeface="Arial"/>
              </a:rPr>
              <a:t>Actions</a:t>
            </a:r>
            <a:r>
              <a:rPr lang="fr-FR" sz="1000" dirty="0">
                <a:solidFill>
                  <a:prstClr val="black"/>
                </a:solidFill>
                <a:latin typeface="Arial"/>
              </a:rPr>
              <a:t>, dans la section </a:t>
            </a:r>
            <a:r>
              <a:rPr lang="fr-FR" sz="1000" b="1" dirty="0">
                <a:solidFill>
                  <a:prstClr val="black"/>
                </a:solidFill>
                <a:latin typeface="Arial"/>
              </a:rPr>
              <a:t>22742-LON-DC1</a:t>
            </a:r>
            <a:r>
              <a:rPr lang="fr-FR" sz="1000" dirty="0">
                <a:solidFill>
                  <a:prstClr val="black"/>
                </a:solidFill>
                <a:latin typeface="Arial"/>
              </a:rPr>
              <a:t>, cliquez sur </a:t>
            </a:r>
            <a:r>
              <a:rPr lang="fr-FR" sz="1000" b="1" dirty="0">
                <a:solidFill>
                  <a:prstClr val="black"/>
                </a:solidFill>
                <a:latin typeface="Arial"/>
              </a:rPr>
              <a:t>Démarrer</a:t>
            </a:r>
            <a:r>
              <a:rPr lang="fr-FR" sz="1000" dirty="0">
                <a:solidFill>
                  <a:prstClr val="black"/>
                </a:solidFill>
                <a:latin typeface="Arial"/>
              </a:rPr>
              <a:t>.</a:t>
            </a:r>
          </a:p>
          <a:p>
            <a:pPr lvl="0">
              <a:lnSpc>
                <a:spcPts val="1300"/>
              </a:lnSpc>
              <a:spcBef>
                <a:spcPts val="900"/>
              </a:spcBef>
              <a:spcAft>
                <a:spcPts val="300"/>
              </a:spcAft>
            </a:pPr>
            <a:r>
              <a:rPr lang="fr-FR" sz="1000" b="1" dirty="0">
                <a:solidFill>
                  <a:prstClr val="black"/>
                </a:solidFill>
                <a:latin typeface="Arial"/>
              </a:rPr>
              <a:t>Créer et démarrer le contrôleur de domaine cloné.</a:t>
            </a:r>
          </a:p>
          <a:p>
            <a:pPr marL="342900" lvl="0" indent="-342900">
              <a:lnSpc>
                <a:spcPct val="115000"/>
              </a:lnSpc>
              <a:spcAft>
                <a:spcPts val="995"/>
              </a:spcAft>
              <a:buFont typeface="+mj-lt"/>
              <a:buAutoNum type="arabicPeriod"/>
            </a:pPr>
            <a:r>
              <a:rPr lang="fr-FR" sz="1000" dirty="0">
                <a:solidFill>
                  <a:prstClr val="black"/>
                </a:solidFill>
                <a:latin typeface="Arial"/>
              </a:rPr>
              <a:t>Sur l’ordinateur hôte, dans le Gestionnaire HyperV, dans le volet </a:t>
            </a:r>
            <a:r>
              <a:rPr lang="fr-FR" sz="1000" b="1" dirty="0">
                <a:solidFill>
                  <a:prstClr val="black"/>
                </a:solidFill>
                <a:latin typeface="Arial"/>
              </a:rPr>
              <a:t>Actions</a:t>
            </a:r>
            <a:r>
              <a:rPr lang="fr-FR" sz="1000" dirty="0">
                <a:solidFill>
                  <a:prstClr val="black"/>
                </a:solidFill>
                <a:latin typeface="Arial"/>
              </a:rPr>
              <a:t>, dans la section qui porte le nom de l’ordinateur hôte, cliquez sur </a:t>
            </a:r>
            <a:r>
              <a:rPr lang="fr-FR" sz="1000" b="1" dirty="0">
                <a:solidFill>
                  <a:prstClr val="black"/>
                </a:solidFill>
                <a:latin typeface="Arial"/>
              </a:rPr>
              <a:t>Importer l’ordinateur virtuel</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Dans l’Assistant Importation d‘ordinateur virtuel, sur la page </a:t>
            </a:r>
            <a:r>
              <a:rPr lang="fr-FR" sz="1000" b="1" dirty="0">
                <a:solidFill>
                  <a:prstClr val="black"/>
                </a:solidFill>
                <a:latin typeface="Arial"/>
              </a:rPr>
              <a:t>Avant de commencer</a:t>
            </a:r>
            <a:r>
              <a:rPr lang="fr-FR" sz="1000" dirty="0">
                <a:solidFill>
                  <a:prstClr val="black"/>
                </a:solidFill>
                <a:latin typeface="Arial"/>
              </a:rPr>
              <a:t>, faire </a:t>
            </a:r>
            <a:r>
              <a:rPr lang="fr-FR" sz="1000" b="1" dirty="0">
                <a:solidFill>
                  <a:prstClr val="black"/>
                </a:solidFill>
                <a:latin typeface="Arial"/>
              </a:rPr>
              <a:t>Suivant</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Sur la page </a:t>
            </a:r>
            <a:r>
              <a:rPr lang="fr-FR" sz="1000" b="1" dirty="0">
                <a:solidFill>
                  <a:prstClr val="black"/>
                </a:solidFill>
                <a:latin typeface="Arial"/>
              </a:rPr>
              <a:t>Localiser le dossier</a:t>
            </a:r>
            <a:r>
              <a:rPr lang="fr-FR" sz="1000" dirty="0">
                <a:solidFill>
                  <a:prstClr val="black"/>
                </a:solidFill>
                <a:latin typeface="Arial"/>
              </a:rPr>
              <a:t>, cliquez sur </a:t>
            </a:r>
            <a:r>
              <a:rPr lang="fr-FR" sz="1000" b="1" dirty="0">
                <a:solidFill>
                  <a:prstClr val="black"/>
                </a:solidFill>
                <a:latin typeface="Arial"/>
              </a:rPr>
              <a:t>Pacourir</a:t>
            </a:r>
            <a:r>
              <a:rPr lang="fr-FR" sz="1000" dirty="0">
                <a:solidFill>
                  <a:prstClr val="black"/>
                </a:solidFill>
                <a:latin typeface="Arial"/>
              </a:rPr>
              <a:t>, allez dans le dossier </a:t>
            </a:r>
            <a:r>
              <a:rPr lang="fr-FR" sz="1000" b="1" dirty="0">
                <a:solidFill>
                  <a:prstClr val="black"/>
                </a:solidFill>
                <a:latin typeface="Arial"/>
              </a:rPr>
              <a:t>D:\Program Files\Microsoft Learning\22742\22742A-LON-DC1</a:t>
            </a:r>
            <a:r>
              <a:rPr lang="fr-FR" sz="1000" dirty="0">
                <a:solidFill>
                  <a:prstClr val="black"/>
                </a:solidFill>
                <a:latin typeface="Arial"/>
              </a:rPr>
              <a:t>, faites </a:t>
            </a:r>
            <a:r>
              <a:rPr lang="fr-FR" sz="1000" b="1" dirty="0">
                <a:solidFill>
                  <a:prstClr val="black"/>
                </a:solidFill>
                <a:latin typeface="Arial"/>
              </a:rPr>
              <a:t>Sélectionner un dossier</a:t>
            </a:r>
            <a:r>
              <a:rPr lang="fr-FR" sz="1000" dirty="0">
                <a:solidFill>
                  <a:prstClr val="black"/>
                </a:solidFill>
                <a:latin typeface="Arial"/>
              </a:rPr>
              <a:t>, puis appuyez sur </a:t>
            </a:r>
            <a:r>
              <a:rPr lang="fr-FR" sz="1000" b="1" dirty="0">
                <a:solidFill>
                  <a:prstClr val="black"/>
                </a:solidFill>
                <a:latin typeface="Arial"/>
              </a:rPr>
              <a:t>Suivant</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Sur la page </a:t>
            </a:r>
            <a:r>
              <a:rPr lang="fr-FR" sz="1000" b="1" dirty="0">
                <a:solidFill>
                  <a:prstClr val="black"/>
                </a:solidFill>
                <a:latin typeface="Arial"/>
              </a:rPr>
              <a:t>Sélectionner l’ordinateur virtuel</a:t>
            </a:r>
            <a:r>
              <a:rPr lang="fr-FR" sz="1000" dirty="0">
                <a:solidFill>
                  <a:prstClr val="black"/>
                </a:solidFill>
                <a:latin typeface="Arial"/>
              </a:rPr>
              <a:t>, sélectionner </a:t>
            </a:r>
            <a:r>
              <a:rPr lang="fr-FR" sz="1000" b="1" dirty="0">
                <a:solidFill>
                  <a:prstClr val="black"/>
                </a:solidFill>
                <a:latin typeface="Arial"/>
              </a:rPr>
              <a:t>22742A-LON-DC1</a:t>
            </a:r>
            <a:r>
              <a:rPr lang="fr-FR" sz="1000" dirty="0">
                <a:solidFill>
                  <a:prstClr val="black"/>
                </a:solidFill>
                <a:latin typeface="Arial"/>
              </a:rPr>
              <a:t> (si ce n’est pas déjà sélectionné), puis faire </a:t>
            </a:r>
            <a:r>
              <a:rPr lang="fr-FR" sz="1000" b="1" dirty="0">
                <a:solidFill>
                  <a:prstClr val="black"/>
                </a:solidFill>
                <a:latin typeface="Arial"/>
              </a:rPr>
              <a:t>Suivant</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Sur la page </a:t>
            </a:r>
            <a:r>
              <a:rPr lang="fr-FR" sz="1000" b="1" dirty="0">
                <a:solidFill>
                  <a:prstClr val="black"/>
                </a:solidFill>
                <a:latin typeface="Arial"/>
              </a:rPr>
              <a:t>Choisir un type d’importation</a:t>
            </a:r>
            <a:r>
              <a:rPr lang="fr-FR" sz="1000" dirty="0">
                <a:solidFill>
                  <a:prstClr val="black"/>
                </a:solidFill>
                <a:latin typeface="Arial"/>
              </a:rPr>
              <a:t>, sélectionnez </a:t>
            </a:r>
            <a:r>
              <a:rPr lang="fr-FR" sz="1000" b="1" dirty="0">
                <a:solidFill>
                  <a:prstClr val="black"/>
                </a:solidFill>
                <a:latin typeface="Arial"/>
              </a:rPr>
              <a:t>Copier l’ordinateur virtuel (créer un nouvel ID unique)</a:t>
            </a:r>
            <a:r>
              <a:rPr lang="fr-FR" sz="1000" dirty="0">
                <a:solidFill>
                  <a:prstClr val="black"/>
                </a:solidFill>
                <a:latin typeface="Arial"/>
              </a:rPr>
              <a:t>, puis cliquez sur </a:t>
            </a:r>
            <a:r>
              <a:rPr lang="fr-FR" sz="1000" b="1" dirty="0">
                <a:solidFill>
                  <a:prstClr val="black"/>
                </a:solidFill>
                <a:latin typeface="Arial"/>
              </a:rPr>
              <a:t>Suivant</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prstClr val="black"/>
                </a:solidFill>
                <a:latin typeface="Arial"/>
              </a:rPr>
              <a:t>Sur la page </a:t>
            </a:r>
            <a:r>
              <a:rPr lang="fr-FR" sz="1000" b="1" dirty="0">
                <a:solidFill>
                  <a:prstClr val="black"/>
                </a:solidFill>
                <a:latin typeface="Arial"/>
              </a:rPr>
              <a:t>Choisir les dossiers pour fichiers d’ordinateur virtuel</a:t>
            </a:r>
            <a:r>
              <a:rPr lang="fr-FR" sz="1000" dirty="0">
                <a:solidFill>
                  <a:prstClr val="black"/>
                </a:solidFill>
                <a:latin typeface="Arial"/>
              </a:rPr>
              <a:t> , activer la case à cocher </a:t>
            </a:r>
            <a:r>
              <a:rPr lang="fr-FR" sz="1000" b="1" dirty="0">
                <a:solidFill>
                  <a:prstClr val="black"/>
                </a:solidFill>
                <a:latin typeface="Arial"/>
              </a:rPr>
              <a:t>Stocker l’ordinateur virtuel dans un emplacement différent</a:t>
            </a:r>
            <a:r>
              <a:rPr lang="fr-FR" sz="1000" dirty="0">
                <a:solidFill>
                  <a:prstClr val="black"/>
                </a:solidFill>
                <a:latin typeface="Arial"/>
              </a:rPr>
              <a:t> ; Pour chaque emplacement du dossier, spécifier </a:t>
            </a:r>
            <a:r>
              <a:rPr lang="fr-FR" sz="1000" b="1" dirty="0">
                <a:solidFill>
                  <a:prstClr val="black"/>
                </a:solidFill>
                <a:latin typeface="Arial"/>
              </a:rPr>
              <a:t>D:\Program Files\Microsoft Learning\22742\</a:t>
            </a:r>
            <a:r>
              <a:rPr lang="fr-FR" sz="1000" dirty="0">
                <a:solidFill>
                  <a:prstClr val="black"/>
                </a:solidFill>
                <a:latin typeface="Arial"/>
              </a:rPr>
              <a:t> comme chemin d’accès ; Cliquez sur </a:t>
            </a:r>
            <a:r>
              <a:rPr lang="fr-FR" sz="1000" b="1" dirty="0">
                <a:solidFill>
                  <a:prstClr val="black"/>
                </a:solidFill>
                <a:latin typeface="Arial"/>
              </a:rPr>
              <a:t>Suivant</a:t>
            </a:r>
            <a:r>
              <a:rPr lang="fr-FR" sz="1000" b="0" dirty="0">
                <a:solidFill>
                  <a:prstClr val="black"/>
                </a:solidFill>
                <a:latin typeface="Arial"/>
              </a:rPr>
              <a:t>.</a:t>
            </a:r>
            <a:endParaRPr lang="fr-FR" sz="1000" dirty="0">
              <a:solidFill>
                <a:prstClr val="black"/>
              </a:solidFill>
              <a:latin typeface="Arial"/>
            </a:endParaRPr>
          </a:p>
          <a:p>
            <a:pPr marL="342900" lvl="0" indent="-342900">
              <a:lnSpc>
                <a:spcPct val="115000"/>
              </a:lnSpc>
              <a:spcAft>
                <a:spcPts val="995"/>
              </a:spcAft>
              <a:buFont typeface="+mj-lt"/>
              <a:buAutoNum type="arabicPeriod"/>
            </a:pPr>
            <a:r>
              <a:rPr lang="fr-FR" sz="1000" dirty="0">
                <a:solidFill>
                  <a:srgbClr val="000000"/>
                </a:solidFill>
                <a:latin typeface="Arial"/>
              </a:rPr>
              <a:t>Sur la page </a:t>
            </a:r>
            <a:r>
              <a:rPr lang="fr-FR" sz="1000" b="1" dirty="0">
                <a:solidFill>
                  <a:prstClr val="black"/>
                </a:solidFill>
                <a:latin typeface="Arial"/>
              </a:rPr>
              <a:t>Choisir les dossiers pour stocker des disques durs virtuels</a:t>
            </a:r>
            <a:r>
              <a:rPr lang="fr-FR" sz="1000" dirty="0">
                <a:solidFill>
                  <a:srgbClr val="000000"/>
                </a:solidFill>
                <a:latin typeface="Arial"/>
              </a:rPr>
              <a:t>, indiquez le chemin d’accès </a:t>
            </a:r>
            <a:r>
              <a:rPr lang="fr-FR" sz="1000" b="1" dirty="0">
                <a:solidFill>
                  <a:prstClr val="black"/>
                </a:solidFill>
                <a:latin typeface="Arial"/>
              </a:rPr>
              <a:t>D:\Program Files\Microsoft Learning\22742\</a:t>
            </a:r>
            <a:r>
              <a:rPr lang="fr-FR" sz="1000" dirty="0">
                <a:solidFill>
                  <a:prstClr val="black"/>
                </a:solidFill>
                <a:latin typeface="Arial"/>
              </a:rPr>
              <a:t>, </a:t>
            </a:r>
            <a:r>
              <a:rPr lang="fr-FR" sz="1000" dirty="0">
                <a:solidFill>
                  <a:srgbClr val="000000"/>
                </a:solidFill>
                <a:latin typeface="Arial"/>
              </a:rPr>
              <a:t>puis cliquez sur </a:t>
            </a:r>
            <a:r>
              <a:rPr lang="fr-FR" sz="1000" b="1" dirty="0">
                <a:solidFill>
                  <a:prstClr val="black"/>
                </a:solidFill>
                <a:latin typeface="Arial"/>
              </a:rPr>
              <a:t>Suivant</a:t>
            </a:r>
            <a:r>
              <a:rPr lang="fr-FR" dirty="0"/>
              <a:t>.</a:t>
            </a:r>
            <a:endParaRPr lang="fr-FR"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34</a:t>
            </a:fld>
            <a:endParaRPr lang="fr-FR"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0784557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lvl="0" indent="-342900">
              <a:lnSpc>
                <a:spcPct val="115000"/>
              </a:lnSpc>
              <a:spcAft>
                <a:spcPts val="995"/>
              </a:spcAft>
              <a:buFont typeface="+mj-lt"/>
              <a:buAutoNum type="arabicPeriod" startAt="8"/>
            </a:pPr>
            <a:r>
              <a:rPr lang="fr-FR" sz="1000" dirty="0">
                <a:solidFill>
                  <a:prstClr val="black"/>
                </a:solidFill>
                <a:latin typeface="Arial" panose="020B0604020202020204" pitchFamily="34" charset="0"/>
              </a:rPr>
              <a:t>Dans la page </a:t>
            </a:r>
            <a:r>
              <a:rPr lang="fr-FR" sz="1000" b="1" dirty="0">
                <a:solidFill>
                  <a:prstClr val="black"/>
                </a:solidFill>
                <a:latin typeface="Arial" panose="020B0604020202020204" pitchFamily="34" charset="0"/>
              </a:rPr>
              <a:t>Fin de l’Assistant Importation</a:t>
            </a:r>
            <a:r>
              <a:rPr lang="fr-FR" sz="1000" dirty="0">
                <a:solidFill>
                  <a:prstClr val="black"/>
                </a:solidFill>
                <a:latin typeface="Arial" panose="020B0604020202020204" pitchFamily="34" charset="0"/>
              </a:rPr>
              <a:t>, cliquez sur </a:t>
            </a:r>
            <a:r>
              <a:rPr lang="fr-FR" sz="1000" b="1" dirty="0">
                <a:solidFill>
                  <a:prstClr val="black"/>
                </a:solidFill>
                <a:latin typeface="Arial" panose="020B0604020202020204" pitchFamily="34" charset="0"/>
              </a:rPr>
              <a:t>Terminer</a:t>
            </a:r>
            <a:r>
              <a:rPr lang="fr-FR" sz="1000" dirty="0">
                <a:solidFill>
                  <a:prstClr val="black"/>
                </a:solidFill>
                <a:latin typeface="Arial" panose="020B0604020202020204" pitchFamily="34" charset="0"/>
              </a:rPr>
              <a:t>.</a:t>
            </a:r>
          </a:p>
          <a:p>
            <a:pPr marL="342900" lvl="0" indent="-342900">
              <a:lnSpc>
                <a:spcPct val="115000"/>
              </a:lnSpc>
              <a:spcAft>
                <a:spcPts val="995"/>
              </a:spcAft>
              <a:buFont typeface="+mj-lt"/>
              <a:buAutoNum type="arabicPeriod" startAt="8"/>
            </a:pPr>
            <a:r>
              <a:rPr lang="fr-FR" sz="1000" dirty="0">
                <a:solidFill>
                  <a:prstClr val="black"/>
                </a:solidFill>
                <a:latin typeface="Arial" panose="020B0604020202020204" pitchFamily="34" charset="0"/>
              </a:rPr>
              <a:t>Dans la liste de gestion, identifier et sélectionner l’ordinateur virtuel nouvellement importé nommé </a:t>
            </a:r>
            <a:r>
              <a:rPr lang="fr-FR" sz="1000" b="1" dirty="0">
                <a:solidFill>
                  <a:prstClr val="black"/>
                </a:solidFill>
                <a:latin typeface="Arial" panose="020B0604020202020204" pitchFamily="34" charset="0"/>
              </a:rPr>
              <a:t>22742A-LON-DC1</a:t>
            </a:r>
            <a:r>
              <a:rPr lang="fr-FR" sz="1000" dirty="0">
                <a:solidFill>
                  <a:prstClr val="black"/>
                </a:solidFill>
                <a:latin typeface="Arial" panose="020B0604020202020204" pitchFamily="34" charset="0"/>
              </a:rPr>
              <a:t>, dont l’</a:t>
            </a:r>
            <a:r>
              <a:rPr lang="fr-FR" sz="1000" b="1" dirty="0">
                <a:solidFill>
                  <a:prstClr val="black"/>
                </a:solidFill>
                <a:latin typeface="Arial" panose="020B0604020202020204" pitchFamily="34" charset="0"/>
              </a:rPr>
              <a:t>État</a:t>
            </a:r>
            <a:r>
              <a:rPr lang="fr-FR" sz="1000" dirty="0">
                <a:solidFill>
                  <a:prstClr val="black"/>
                </a:solidFill>
                <a:latin typeface="Arial" panose="020B0604020202020204" pitchFamily="34" charset="0"/>
              </a:rPr>
              <a:t> est sur </a:t>
            </a:r>
            <a:r>
              <a:rPr lang="fr-FR" sz="1000" b="1" dirty="0">
                <a:solidFill>
                  <a:prstClr val="black"/>
                </a:solidFill>
                <a:latin typeface="Arial" panose="020B0604020202020204" pitchFamily="34" charset="0"/>
              </a:rPr>
              <a:t>Inactif</a:t>
            </a:r>
            <a:r>
              <a:rPr lang="fr-FR" sz="1000" dirty="0">
                <a:solidFill>
                  <a:prstClr val="black"/>
                </a:solidFill>
                <a:latin typeface="Arial" panose="020B0604020202020204" pitchFamily="34" charset="0"/>
              </a:rPr>
              <a:t>. Dans la section basse du volet </a:t>
            </a:r>
            <a:r>
              <a:rPr lang="fr-FR" sz="1000" b="1" dirty="0">
                <a:solidFill>
                  <a:prstClr val="black"/>
                </a:solidFill>
                <a:latin typeface="Arial" panose="020B0604020202020204" pitchFamily="34" charset="0"/>
              </a:rPr>
              <a:t>Actions</a:t>
            </a:r>
            <a:r>
              <a:rPr lang="fr-FR" sz="1000" dirty="0">
                <a:solidFill>
                  <a:prstClr val="black"/>
                </a:solidFill>
                <a:latin typeface="Arial" panose="020B0604020202020204" pitchFamily="34" charset="0"/>
              </a:rPr>
              <a:t>, cliquez sur </a:t>
            </a:r>
            <a:r>
              <a:rPr lang="fr-FR" sz="1000" b="1" dirty="0">
                <a:solidFill>
                  <a:prstClr val="black"/>
                </a:solidFill>
                <a:latin typeface="Arial" panose="020B0604020202020204" pitchFamily="34" charset="0"/>
              </a:rPr>
              <a:t>Renommer</a:t>
            </a:r>
            <a:r>
              <a:rPr lang="fr-FR" sz="1000" dirty="0">
                <a:solidFill>
                  <a:prstClr val="black"/>
                </a:solidFill>
                <a:latin typeface="Arial" panose="020B0604020202020204" pitchFamily="34" charset="0"/>
              </a:rPr>
              <a:t>.</a:t>
            </a:r>
          </a:p>
          <a:p>
            <a:pPr marL="342900" lvl="0" indent="-342900">
              <a:lnSpc>
                <a:spcPct val="115000"/>
              </a:lnSpc>
              <a:spcAft>
                <a:spcPts val="995"/>
              </a:spcAft>
              <a:buFont typeface="+mj-lt"/>
              <a:buAutoNum type="arabicPeriod" startAt="8"/>
            </a:pPr>
            <a:r>
              <a:rPr lang="fr-FR" sz="1000" dirty="0">
                <a:solidFill>
                  <a:prstClr val="black"/>
                </a:solidFill>
                <a:latin typeface="Arial" panose="020B0604020202020204" pitchFamily="34" charset="0"/>
              </a:rPr>
              <a:t>Tapez le nom </a:t>
            </a:r>
            <a:r>
              <a:rPr lang="fr-FR" sz="1000" b="1" dirty="0">
                <a:solidFill>
                  <a:prstClr val="black"/>
                </a:solidFill>
                <a:latin typeface="Arial" panose="020B0604020202020204" pitchFamily="34" charset="0"/>
              </a:rPr>
              <a:t>22742A-LON-DC3</a:t>
            </a:r>
            <a:r>
              <a:rPr lang="fr-FR" sz="1000" dirty="0">
                <a:solidFill>
                  <a:prstClr val="black"/>
                </a:solidFill>
                <a:latin typeface="Arial" panose="020B0604020202020204" pitchFamily="34" charset="0"/>
              </a:rPr>
              <a:t>, puis appuyez sur Entrée.</a:t>
            </a:r>
          </a:p>
          <a:p>
            <a:pPr marL="342900" lvl="0" indent="-342900">
              <a:lnSpc>
                <a:spcPct val="115000"/>
              </a:lnSpc>
              <a:spcAft>
                <a:spcPts val="995"/>
              </a:spcAft>
              <a:buFont typeface="+mj-lt"/>
              <a:buAutoNum type="arabicPeriod" startAt="8"/>
            </a:pPr>
            <a:r>
              <a:rPr lang="fr-FR" sz="1000" dirty="0">
                <a:solidFill>
                  <a:prstClr val="black"/>
                </a:solidFill>
                <a:latin typeface="Arial" panose="020B0604020202020204" pitchFamily="34" charset="0"/>
              </a:rPr>
              <a:t>Dans le volet </a:t>
            </a:r>
            <a:r>
              <a:rPr lang="fr-FR" sz="1000" b="1" dirty="0">
                <a:solidFill>
                  <a:prstClr val="black"/>
                </a:solidFill>
                <a:latin typeface="Arial" panose="020B0604020202020204" pitchFamily="34" charset="0"/>
              </a:rPr>
              <a:t>Actions</a:t>
            </a:r>
            <a:r>
              <a:rPr lang="fr-FR" sz="1000" dirty="0">
                <a:solidFill>
                  <a:prstClr val="black"/>
                </a:solidFill>
                <a:latin typeface="Arial" panose="020B0604020202020204" pitchFamily="34" charset="0"/>
              </a:rPr>
              <a:t> dans la section </a:t>
            </a:r>
            <a:r>
              <a:rPr lang="fr-FR" sz="1000" b="1" dirty="0">
                <a:solidFill>
                  <a:prstClr val="black"/>
                </a:solidFill>
                <a:latin typeface="Arial" panose="020B0604020202020204" pitchFamily="34" charset="0"/>
              </a:rPr>
              <a:t>22742A-LON-DC3</a:t>
            </a:r>
            <a:r>
              <a:rPr lang="fr-FR" sz="1000" dirty="0">
                <a:solidFill>
                  <a:prstClr val="black"/>
                </a:solidFill>
                <a:latin typeface="Arial" panose="020B0604020202020204" pitchFamily="34" charset="0"/>
              </a:rPr>
              <a:t> , cliquez sur </a:t>
            </a:r>
            <a:r>
              <a:rPr lang="fr-FR" sz="1000" b="1" dirty="0">
                <a:solidFill>
                  <a:prstClr val="black"/>
                </a:solidFill>
                <a:latin typeface="Arial" panose="020B0604020202020204" pitchFamily="34" charset="0"/>
              </a:rPr>
              <a:t>Démarrer</a:t>
            </a:r>
            <a:r>
              <a:rPr lang="fr-FR" sz="1000" dirty="0">
                <a:solidFill>
                  <a:prstClr val="black"/>
                </a:solidFill>
                <a:latin typeface="Arial" panose="020B0604020202020204" pitchFamily="34" charset="0"/>
              </a:rPr>
              <a:t>, puis cliquez sur </a:t>
            </a:r>
            <a:r>
              <a:rPr lang="fr-FR" sz="1000" b="1" dirty="0">
                <a:solidFill>
                  <a:prstClr val="black"/>
                </a:solidFill>
                <a:latin typeface="Arial" panose="020B0604020202020204" pitchFamily="34" charset="0"/>
              </a:rPr>
              <a:t>Connecter</a:t>
            </a:r>
            <a:r>
              <a:rPr lang="fr-FR" sz="1000" dirty="0">
                <a:solidFill>
                  <a:prstClr val="black"/>
                </a:solidFill>
                <a:latin typeface="Arial" panose="020B0604020202020204" pitchFamily="34" charset="0"/>
              </a:rPr>
              <a:t> pour voir l’ordinateur virtuel démarrer.</a:t>
            </a:r>
          </a:p>
          <a:p>
            <a:pPr marL="342900" lvl="0" indent="-342900">
              <a:lnSpc>
                <a:spcPct val="115000"/>
              </a:lnSpc>
              <a:spcAft>
                <a:spcPts val="995"/>
              </a:spcAft>
              <a:buFont typeface="+mj-lt"/>
              <a:buAutoNum type="arabicPeriod" startAt="8"/>
            </a:pPr>
            <a:r>
              <a:rPr lang="fr-FR" sz="1000" dirty="0">
                <a:solidFill>
                  <a:prstClr val="black"/>
                </a:solidFill>
                <a:latin typeface="Arial" panose="020B0604020202020204" pitchFamily="34" charset="0"/>
              </a:rPr>
              <a:t>Pendant le démarrage du serveur, vous pouvez voir le message </a:t>
            </a:r>
            <a:r>
              <a:rPr lang="fr-FR" sz="1000" b="1" dirty="0">
                <a:solidFill>
                  <a:prstClr val="black"/>
                </a:solidFill>
                <a:latin typeface="Arial" panose="020B0604020202020204" pitchFamily="34" charset="0"/>
              </a:rPr>
              <a:t>Le clonage du contrôleur de domaine est achevé </a:t>
            </a:r>
            <a:r>
              <a:rPr lang="fr-FR" sz="1000" b="1">
                <a:solidFill>
                  <a:prstClr val="black"/>
                </a:solidFill>
                <a:latin typeface="Arial" panose="020B0604020202020204" pitchFamily="34" charset="0"/>
              </a:rPr>
              <a:t>à </a:t>
            </a:r>
            <a:r>
              <a:rPr lang="fr-FR" sz="1000">
                <a:solidFill>
                  <a:prstClr val="black"/>
                </a:solidFill>
                <a:latin typeface="Arial" panose="020B0604020202020204" pitchFamily="34" charset="0"/>
              </a:rPr>
              <a:t>X</a:t>
            </a:r>
            <a:r>
              <a:rPr lang="fr-FR" sz="1000" dirty="0">
                <a:solidFill>
                  <a:prstClr val="black"/>
                </a:solidFill>
                <a:latin typeface="Arial" panose="020B0604020202020204" pitchFamily="34" charset="0"/>
              </a:rPr>
              <a:t>%</a:t>
            </a:r>
            <a:endParaRPr lang="fr-FR"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35</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2241188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 </a:t>
            </a:r>
          </a:p>
        </p:txBody>
      </p:sp>
      <p:sp>
        <p:nvSpPr>
          <p:cNvPr id="4" name="Slide Number Placeholder 3"/>
          <p:cNvSpPr>
            <a:spLocks noGrp="1"/>
          </p:cNvSpPr>
          <p:nvPr>
            <p:ph type="sldNum" sz="quarter" idx="10"/>
          </p:nvPr>
        </p:nvSpPr>
        <p:spPr/>
        <p:txBody>
          <a:bodyPr/>
          <a:lstStyle/>
          <a:p>
            <a:fld id="{247DA02D-7972-4BD4-9622-065EB71E6770}" type="slidenum">
              <a:rPr lang="en-US" smtClean="0"/>
              <a:t>36</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37415161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dirty="0">
                <a:latin typeface="Arial"/>
              </a:rPr>
              <a:t>Si les stagiaires obtiennent des messages d’erreur mentionnant que les opérations d’écriture sur AD DS ne seront pas effectuées (dans l’exercice 3 par exemple), s’ils obtiennent un message </a:t>
            </a:r>
            <a:r>
              <a:rPr lang="fr-FR" sz="1000" b="1" dirty="0">
                <a:latin typeface="Arial"/>
              </a:rPr>
              <a:t>Échec de la création de LON-CL4</a:t>
            </a:r>
            <a:r>
              <a:rPr lang="fr-FR" sz="1000" dirty="0">
                <a:latin typeface="Arial"/>
              </a:rPr>
              <a:t>, assurez-vous qu’ils démarrent et répliquent les deux contrôleurs de domaine une fois. Dans le cas contraire, les rôles FSMO ne seront pas validés et chaque opération nécessitant un identificateur de sécurité (SID) échouera.</a:t>
            </a:r>
          </a:p>
          <a:p>
            <a:pPr>
              <a:lnSpc>
                <a:spcPct val="115000"/>
              </a:lnSpc>
              <a:spcAft>
                <a:spcPts val="1000"/>
              </a:spcAft>
            </a:pPr>
            <a:r>
              <a:rPr lang="fr-FR" sz="1000" b="1" dirty="0">
                <a:latin typeface="Arial"/>
              </a:rPr>
              <a:t>Exercice 1 : Déployer AD DS</a:t>
            </a:r>
          </a:p>
          <a:p>
            <a:pPr>
              <a:lnSpc>
                <a:spcPct val="115000"/>
              </a:lnSpc>
              <a:spcAft>
                <a:spcPts val="1000"/>
              </a:spcAft>
            </a:pPr>
            <a:r>
              <a:rPr lang="fr-FR" sz="1000" dirty="0">
                <a:latin typeface="Arial"/>
              </a:rPr>
              <a:t>Dans le cadre de l’expansion de l’entreprise, A. Datum Corporation souhaite déployer de nouveaux contrôleurs de domaine sur des sites à distance avec un engagement minimal du personnel informatique à distance. Il faut utiliser Windows PowerShell pour déployer de nouveaux contrôleurs de domaine.</a:t>
            </a:r>
          </a:p>
          <a:p>
            <a:pPr>
              <a:spcAft>
                <a:spcPts val="1000"/>
              </a:spcAft>
            </a:pPr>
            <a:r>
              <a:rPr lang="fr-FR" sz="1000" b="1" dirty="0">
                <a:effectLst/>
                <a:latin typeface="Arial"/>
              </a:rPr>
              <a:t>Exercice 2 : Déploiement de contrôleurs de domaine en procédant à un clonage du contrôleur de domaine</a:t>
            </a:r>
          </a:p>
          <a:p>
            <a:pPr>
              <a:spcAft>
                <a:spcPts val="1000"/>
              </a:spcAft>
            </a:pPr>
            <a:r>
              <a:rPr lang="fr-FR" sz="1000" dirty="0">
                <a:effectLst/>
                <a:latin typeface="Arial"/>
              </a:rPr>
              <a:t>Une équipe informatique de A. Datum Corporation souhaite déployer rapidement de nouveaux contrôleurs de domaine virtuel quand le besoin se fait sentir. Ils envisagent les clones de contrôleur de domaine dans Windows Server 2016. Il faut effectuer une procédure de clonage de contrôleur de domaine afin de vérifier que l’accélération du déploiement de contrôleurs de domaine est une option valide.</a:t>
            </a:r>
          </a:p>
          <a:p>
            <a:pPr>
              <a:lnSpc>
                <a:spcPct val="115000"/>
              </a:lnSpc>
              <a:spcAft>
                <a:spcPts val="1000"/>
              </a:spcAft>
            </a:pPr>
            <a:r>
              <a:rPr lang="fr-FR" sz="1000" b="1" dirty="0">
                <a:latin typeface="Arial"/>
              </a:rPr>
              <a:t>Remarque : </a:t>
            </a:r>
            <a:r>
              <a:rPr lang="fr-FR" sz="1000" dirty="0">
                <a:latin typeface="Arial"/>
              </a:rPr>
              <a:t>Vous pourriez ne pas être en mesure d’effectuer cet exercice lors de l’utilisation d’un environnement d’atelier dans le cloud. Cet exercice exige que vous ayez un accès local à l’hôte Hyper-V.</a:t>
            </a:r>
          </a:p>
          <a:p>
            <a:pPr>
              <a:lnSpc>
                <a:spcPct val="115000"/>
              </a:lnSpc>
              <a:spcAft>
                <a:spcPts val="1000"/>
              </a:spcAft>
            </a:pPr>
            <a:r>
              <a:rPr lang="fr-FR" sz="1000" b="1" dirty="0">
                <a:latin typeface="Arial"/>
              </a:rPr>
              <a:t>Remarque de l’instructeur :</a:t>
            </a:r>
            <a:r>
              <a:rPr lang="fr-FR" sz="1000" dirty="0">
                <a:latin typeface="Arial"/>
              </a:rPr>
              <a:t> Si votre classe utilise des ordinateurs virtuels basés sur le cloud, vos stagiaires ne seront probablement pas en mesure d’effectuer cette partie de l’atelier et devront passer à l’exercice suivant. Pour cet exercice, l’accès à l’hôte Hyper-V est nécessaire. Vérifier à l’avance que vous pouvez effectuer cet atelier.</a:t>
            </a:r>
          </a:p>
          <a:p>
            <a:pPr>
              <a:lnSpc>
                <a:spcPct val="115000"/>
              </a:lnSpc>
              <a:spcAft>
                <a:spcPts val="1000"/>
              </a:spcAft>
            </a:pPr>
            <a:r>
              <a:rPr lang="fr-FR" sz="1000" dirty="0">
                <a:latin typeface="Arial"/>
              </a:rPr>
              <a:t>Si vous effectuez cet atelier en classe avec les stagiaires, il faut supprimer les fichiers et les dossiers créés au cours de la démonstration « Cloner un contrôleur de domaine » avant d’effectuer ces étapes. Si les stagiaires ont effectué les étapes de la démonstration au cours de la classe, ils devront également supprimer les fichiers et les dossiers créés lors de la démonstration.</a:t>
            </a:r>
          </a:p>
          <a:p>
            <a:pPr>
              <a:lnSpc>
                <a:spcPct val="115000"/>
              </a:lnSpc>
              <a:spcAft>
                <a:spcPts val="1000"/>
              </a:spcAft>
            </a:pPr>
            <a:r>
              <a:rPr lang="fr-FR" sz="1000" b="1" dirty="0">
                <a:latin typeface="Arial"/>
              </a:rPr>
              <a:t>Exercice 3 : Administration AD DS</a:t>
            </a:r>
          </a:p>
          <a:p>
            <a:pPr>
              <a:lnSpc>
                <a:spcPct val="115000"/>
              </a:lnSpc>
              <a:spcAft>
                <a:spcPts val="1000"/>
              </a:spcAft>
            </a:pPr>
            <a:r>
              <a:rPr lang="fr-FR" sz="1000" dirty="0">
                <a:latin typeface="Arial"/>
              </a:rPr>
              <a:t>L’équipe informatique de A. Datum Corporation évalue les outils qui sont disponibles dans Windows Server 2016 pour l’administration AD DS. Vous devez évaluer l’utilisation à la fois du Centre d’administration Active Directory et Windows PowerShell pour l’administration et la gestion d’AD DS.</a:t>
            </a:r>
          </a:p>
        </p:txBody>
      </p:sp>
      <p:sp>
        <p:nvSpPr>
          <p:cNvPr id="4" name="Slide Number Placeholder 3"/>
          <p:cNvSpPr>
            <a:spLocks noGrp="1"/>
          </p:cNvSpPr>
          <p:nvPr>
            <p:ph type="sldNum" sz="quarter" idx="10"/>
          </p:nvPr>
        </p:nvSpPr>
        <p:spPr/>
        <p:txBody>
          <a:bodyPr/>
          <a:lstStyle/>
          <a:p>
            <a:fld id="{247DA02D-7972-4BD4-9622-065EB71E6770}" type="slidenum">
              <a:rPr lang="en-US" smtClean="0"/>
              <a:t>37</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7459812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US" dirty="0"/>
          </a:p>
        </p:txBody>
      </p:sp>
      <p:sp>
        <p:nvSpPr>
          <p:cNvPr id="4" name="Slide Number Placeholder 3"/>
          <p:cNvSpPr>
            <a:spLocks noGrp="1"/>
          </p:cNvSpPr>
          <p:nvPr>
            <p:ph type="sldNum" sz="quarter" idx="10"/>
          </p:nvPr>
        </p:nvSpPr>
        <p:spPr/>
        <p:txBody>
          <a:bodyPr/>
          <a:lstStyle/>
          <a:p>
            <a:fld id="{247DA02D-7972-4BD4-9622-065EB71E6770}" type="slidenum">
              <a:rPr lang="en-US" smtClean="0"/>
              <a:t>38</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2377088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fr-FR" sz="1000" b="1" dirty="0">
                <a:latin typeface="Arial"/>
              </a:rPr>
              <a:t>Questions de contrôle des acquis</a:t>
            </a:r>
            <a:endParaRPr lang="fr-FR" sz="1000" dirty="0">
              <a:latin typeface="Arial"/>
              <a:ea typeface="Calibri"/>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Quelle méthode de déploiement faut-il utiliser si je dois installer un contrôleur de domaine supplémentaire dans un emplacement éloigné qui a une connexion WAN limitée ?</a:t>
            </a:r>
            <a:endParaRPr lang="fr-FR" sz="1000" dirty="0">
              <a:latin typeface="Arial"/>
              <a:ea typeface="Calibri"/>
              <a:cs typeface="Times New Roman"/>
            </a:endParaRP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Il faut utiliser l’option </a:t>
            </a:r>
            <a:r>
              <a:rPr lang="fr-FR" sz="1000" b="1" dirty="0">
                <a:latin typeface="Arial"/>
              </a:rPr>
              <a:t>Installation à partir d’un support</a:t>
            </a:r>
            <a:r>
              <a:rPr lang="fr-FR" sz="1000" dirty="0">
                <a:solidFill>
                  <a:srgbClr val="000000"/>
                </a:solidFill>
                <a:latin typeface="Arial"/>
              </a:rPr>
              <a:t>, car elle élimine la nécessité de copier l’intégralité de la base de données AD DS sur la liaison WAN.</a:t>
            </a:r>
            <a:endParaRPr lang="fr-FR" sz="1000" dirty="0">
              <a:latin typeface="Arial"/>
              <a:ea typeface="Calibri"/>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solidFill>
                  <a:srgbClr val="000000"/>
                </a:solidFill>
                <a:latin typeface="Arial"/>
              </a:rPr>
              <a:t>Si j’ai besoin de promouvoir une installation Server Core de Windows Server 2016 pour être un contrôleur de domaine, quel(s) outil(s) puis-je utiliser ?</a:t>
            </a:r>
            <a:endParaRPr lang="fr-FR" sz="1000" dirty="0">
              <a:latin typeface="Arial"/>
              <a:ea typeface="Calibri"/>
              <a:cs typeface="Times New Roman"/>
            </a:endParaRP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P</a:t>
            </a:r>
            <a:r>
              <a:rPr lang="fr-FR" sz="1000" dirty="0">
                <a:solidFill>
                  <a:srgbClr val="000000"/>
                </a:solidFill>
                <a:latin typeface="Arial"/>
              </a:rPr>
              <a:t>our promouvoir une installation minimale de Windows Server 2016 pour un contrôleur de domaine,il convient d’utiliser les outils suivants :</a:t>
            </a:r>
            <a:endParaRPr lang="fr-FR" sz="1000" dirty="0">
              <a:latin typeface="Arial"/>
              <a:ea typeface="Calibri"/>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Le gestionnaire de serveur qui vous permet d’installer AD DS à distance </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Windows PowerShell </a:t>
            </a:r>
            <a:endParaRPr lang="fr-FR" sz="1000" dirty="0">
              <a:effectLst/>
              <a:latin typeface="Arial"/>
              <a:ea typeface="Times New Roman"/>
              <a:cs typeface="Times New Roman"/>
            </a:endParaRPr>
          </a:p>
          <a:p>
            <a:pPr marL="342900" marR="0" lvl="0" indent="-342900">
              <a:lnSpc>
                <a:spcPct val="115000"/>
              </a:lnSpc>
              <a:spcBef>
                <a:spcPts val="0"/>
              </a:spcBef>
              <a:spcAft>
                <a:spcPts val="995"/>
              </a:spcAft>
              <a:buFont typeface="Symbol"/>
              <a:buChar char=""/>
            </a:pPr>
            <a:r>
              <a:rPr lang="fr-FR" sz="1000" dirty="0">
                <a:solidFill>
                  <a:srgbClr val="000000"/>
                </a:solidFill>
                <a:effectLst/>
                <a:latin typeface="Arial"/>
              </a:rPr>
              <a:t>La commande </a:t>
            </a:r>
            <a:r>
              <a:rPr lang="fr-FR" sz="1000" b="1" dirty="0">
                <a:effectLst/>
                <a:latin typeface="Arial"/>
              </a:rPr>
              <a:t>dcpromo /unattend</a:t>
            </a:r>
            <a:r>
              <a:rPr lang="fr-FR" sz="1000" dirty="0">
                <a:effectLst/>
                <a:latin typeface="Arial"/>
              </a:rPr>
              <a:t>, a exécuter</a:t>
            </a:r>
            <a:r>
              <a:rPr lang="fr-FR" sz="1000" dirty="0">
                <a:solidFill>
                  <a:srgbClr val="000000"/>
                </a:solidFill>
                <a:effectLst/>
                <a:latin typeface="Arial"/>
              </a:rPr>
              <a:t> sur le serveur exécutant l’installation minimale</a:t>
            </a:r>
            <a:endParaRPr lang="fr-FR" sz="1000" dirty="0">
              <a:effectLst/>
              <a:latin typeface="Arial"/>
              <a:ea typeface="Times New Roman"/>
              <a:cs typeface="Times New Roman"/>
            </a:endParaRPr>
          </a:p>
          <a:p>
            <a:pPr>
              <a:lnSpc>
                <a:spcPct val="115000"/>
              </a:lnSpc>
              <a:spcAft>
                <a:spcPts val="1000"/>
              </a:spcAft>
            </a:pPr>
            <a:r>
              <a:rPr lang="fr-FR" sz="1000" b="1" dirty="0">
                <a:latin typeface="Arial"/>
              </a:rPr>
              <a:t>Question</a:t>
            </a:r>
            <a:endParaRPr lang="fr-FR" sz="1000" dirty="0">
              <a:latin typeface="Arial"/>
              <a:ea typeface="Calibri"/>
              <a:cs typeface="Times New Roman"/>
            </a:endParaRPr>
          </a:p>
          <a:p>
            <a:pPr>
              <a:lnSpc>
                <a:spcPct val="115000"/>
              </a:lnSpc>
              <a:spcAft>
                <a:spcPts val="1000"/>
              </a:spcAft>
            </a:pPr>
            <a:r>
              <a:rPr lang="fr-FR" sz="1000" dirty="0">
                <a:latin typeface="Arial"/>
              </a:rPr>
              <a:t>Si je veux exécuter un contrôleur de domaine dans le nuage, quel service dois-je envisager d’utiliser : AD Azure ou Infrastructure en tant qu’ordinateurs virtuels d’un service (IaaS) Azure ?</a:t>
            </a:r>
          </a:p>
          <a:p>
            <a:pPr>
              <a:lnSpc>
                <a:spcPct val="115000"/>
              </a:lnSpc>
              <a:spcAft>
                <a:spcPts val="1000"/>
              </a:spcAft>
            </a:pPr>
            <a:r>
              <a:rPr lang="fr-FR" sz="1000" b="1" dirty="0">
                <a:latin typeface="Arial"/>
              </a:rPr>
              <a:t>Réponse</a:t>
            </a:r>
            <a:endParaRPr lang="fr-FR" sz="1000" dirty="0">
              <a:latin typeface="Arial"/>
              <a:ea typeface="Calibri"/>
              <a:cs typeface="Times New Roman"/>
            </a:endParaRPr>
          </a:p>
          <a:p>
            <a:pPr>
              <a:lnSpc>
                <a:spcPct val="115000"/>
              </a:lnSpc>
              <a:spcAft>
                <a:spcPts val="1000"/>
              </a:spcAft>
            </a:pPr>
            <a:r>
              <a:rPr lang="fr-FR" sz="1000" dirty="0">
                <a:latin typeface="Arial"/>
              </a:rPr>
              <a:t>Les réponses peuvent varier en fonction des besoins des stagiaires. Azure AD est conçu pour fournir l’identité et la gestion d’accès pour les applications Web. L’utilisation des ordinateurs virtuels IaaS Azure permet de déployer un contrôleur de domaine AD DS complet.</a:t>
            </a:r>
          </a:p>
          <a:p>
            <a:pPr>
              <a:lnSpc>
                <a:spcPct val="115000"/>
              </a:lnSpc>
              <a:spcAft>
                <a:spcPts val="1000"/>
              </a:spcAft>
            </a:pPr>
            <a:endParaRPr lang="fr-FR"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247DA02D-7972-4BD4-9622-065EB71E6770}" type="slidenum">
              <a:rPr lang="en-US" smtClean="0"/>
              <a:t>39</a:t>
            </a:fld>
            <a:endParaRPr lang="fr-FR"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
        <p:nvSpPr>
          <p:cNvPr id="7" name="TextBox 6"/>
          <p:cNvSpPr txBox="1"/>
          <p:nvPr/>
        </p:nvSpPr>
        <p:spPr>
          <a:xfrm>
            <a:off x="0" y="8890000"/>
            <a:ext cx="1871025" cy="246221"/>
          </a:xfrm>
          <a:prstGeom prst="rect">
            <a:avLst/>
          </a:prstGeom>
          <a:noFill/>
        </p:spPr>
        <p:txBody>
          <a:bodyPr vert="horz" wrap="none" rtlCol="0">
            <a:spAutoFit/>
          </a:bodyPr>
          <a:lstStyle/>
          <a:p>
            <a:r>
              <a:rPr lang="fr-FR" sz="1000" dirty="0">
                <a:latin typeface="Arial"/>
              </a:rPr>
              <a:t>(D’autres remarques figurent sur la diapositive suivante)</a:t>
            </a:r>
          </a:p>
        </p:txBody>
      </p:sp>
    </p:spTree>
    <p:extLst>
      <p:ext uri="{BB962C8B-B14F-4D97-AF65-F5344CB8AC3E}">
        <p14:creationId xmlns:p14="http://schemas.microsoft.com/office/powerpoint/2010/main" val="3591721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15000"/>
              </a:lnSpc>
              <a:spcAft>
                <a:spcPts val="1000"/>
              </a:spcAft>
            </a:pPr>
            <a:r>
              <a:rPr lang="fr-FR" sz="1000" b="1" dirty="0">
                <a:solidFill>
                  <a:prstClr val="black"/>
                </a:solidFill>
                <a:latin typeface="Arial"/>
              </a:rPr>
              <a:t>Problèmes courants et conseils de résolution des problèmes</a:t>
            </a:r>
            <a:endParaRPr lang="fr-FR" sz="1000" dirty="0">
              <a:solidFill>
                <a:prstClr val="black"/>
              </a:solidFill>
              <a:latin typeface="Arial"/>
              <a:ea typeface="Calibri"/>
              <a:cs typeface="Times New Roman"/>
            </a:endParaRPr>
          </a:p>
          <a:p>
            <a:pPr lvl="0">
              <a:lnSpc>
                <a:spcPct val="115000"/>
              </a:lnSpc>
              <a:spcAft>
                <a:spcPts val="1000"/>
              </a:spcAft>
            </a:pPr>
            <a:r>
              <a:rPr lang="fr-FR" sz="1000" b="1" dirty="0">
                <a:solidFill>
                  <a:prstClr val="black"/>
                </a:solidFill>
                <a:latin typeface="Arial"/>
              </a:rPr>
              <a:t>Problème courant : </a:t>
            </a:r>
            <a:r>
              <a:rPr lang="fr-FR" sz="1000" dirty="0">
                <a:solidFill>
                  <a:prstClr val="black"/>
                </a:solidFill>
                <a:latin typeface="Arial"/>
              </a:rPr>
              <a:t>Les erreurs de syntaxe</a:t>
            </a:r>
          </a:p>
          <a:p>
            <a:pPr lvl="0">
              <a:lnSpc>
                <a:spcPct val="115000"/>
              </a:lnSpc>
              <a:spcAft>
                <a:spcPts val="1000"/>
              </a:spcAft>
            </a:pPr>
            <a:r>
              <a:rPr lang="fr-FR" sz="1000" b="1" dirty="0">
                <a:solidFill>
                  <a:prstClr val="black"/>
                </a:solidFill>
                <a:latin typeface="Arial"/>
              </a:rPr>
              <a:t>Conseil de dépannage : </a:t>
            </a:r>
            <a:r>
              <a:rPr lang="fr-FR" sz="1000" dirty="0">
                <a:solidFill>
                  <a:prstClr val="black"/>
                </a:solidFill>
                <a:latin typeface="Arial"/>
              </a:rPr>
              <a:t>Les erreurs de syntaxe résultent souvent de fautes de frappe ou d’oublis d’un paramètre lors de la saisie des applets de commande Windows PowerShell. Examiner la sortie de la console pour plus de détails sur les raisons de l’échec d’une commande en particulier.</a:t>
            </a:r>
          </a:p>
          <a:p>
            <a:pPr lvl="0">
              <a:lnSpc>
                <a:spcPct val="115000"/>
              </a:lnSpc>
              <a:spcAft>
                <a:spcPts val="1000"/>
              </a:spcAft>
            </a:pPr>
            <a:r>
              <a:rPr lang="fr-FR" sz="1000" b="1" dirty="0">
                <a:solidFill>
                  <a:prstClr val="black"/>
                </a:solidFill>
                <a:latin typeface="Arial"/>
              </a:rPr>
              <a:t>Problème courant : </a:t>
            </a:r>
            <a:r>
              <a:rPr lang="fr-FR" sz="1000" dirty="0">
                <a:solidFill>
                  <a:prstClr val="black"/>
                </a:solidFill>
                <a:latin typeface="Arial"/>
              </a:rPr>
              <a:t>Problèmes préalables</a:t>
            </a:r>
          </a:p>
          <a:p>
            <a:pPr lvl="0">
              <a:lnSpc>
                <a:spcPct val="115000"/>
              </a:lnSpc>
              <a:spcAft>
                <a:spcPts val="1000"/>
              </a:spcAft>
            </a:pPr>
            <a:r>
              <a:rPr lang="fr-FR" sz="1000" b="1" dirty="0">
                <a:solidFill>
                  <a:prstClr val="black"/>
                </a:solidFill>
                <a:latin typeface="Arial"/>
              </a:rPr>
              <a:t>Conseil de dépannage : </a:t>
            </a:r>
            <a:r>
              <a:rPr lang="fr-FR" sz="1000" dirty="0">
                <a:solidFill>
                  <a:prstClr val="black"/>
                </a:solidFill>
                <a:latin typeface="Arial"/>
              </a:rPr>
              <a:t>Beaucoup d’erreurs irrécupérables sont directement liées à des erreurs trouvées lors du contrôle préalable. S’assurer d’examiner attentivement les résultats et de suivre les indications fournies.</a:t>
            </a:r>
          </a:p>
          <a:p>
            <a:pPr lvl="0">
              <a:lnSpc>
                <a:spcPct val="115000"/>
              </a:lnSpc>
              <a:spcAft>
                <a:spcPts val="1000"/>
              </a:spcAft>
            </a:pPr>
            <a:r>
              <a:rPr lang="fr-FR" sz="1000" b="1" dirty="0">
                <a:solidFill>
                  <a:prstClr val="black"/>
                </a:solidFill>
                <a:latin typeface="Arial"/>
              </a:rPr>
              <a:t>Problème courant : </a:t>
            </a:r>
            <a:r>
              <a:rPr lang="fr-FR" sz="1000" dirty="0">
                <a:solidFill>
                  <a:prstClr val="black"/>
                </a:solidFill>
                <a:latin typeface="Arial"/>
              </a:rPr>
              <a:t>Problème de configuration du réseau et de la forêt</a:t>
            </a:r>
          </a:p>
          <a:p>
            <a:pPr lvl="0">
              <a:lnSpc>
                <a:spcPct val="115000"/>
              </a:lnSpc>
              <a:spcAft>
                <a:spcPts val="1000"/>
              </a:spcAft>
            </a:pPr>
            <a:r>
              <a:rPr lang="fr-FR" sz="1000" b="1" dirty="0">
                <a:solidFill>
                  <a:prstClr val="black"/>
                </a:solidFill>
                <a:latin typeface="Arial"/>
              </a:rPr>
              <a:t>Conseil de dépannage : </a:t>
            </a:r>
            <a:r>
              <a:rPr lang="fr-FR" sz="1000" dirty="0">
                <a:solidFill>
                  <a:prstClr val="black"/>
                </a:solidFill>
                <a:latin typeface="Arial"/>
              </a:rPr>
              <a:t>les problèmes de configuration de réseau ou d’autres problèmes de configuration de la forêt AD DS pourraient empêcher la promotion de nouveaux contrôleurs de domaine. Utiliser les fichiers dcpromoui.log et dcpromo.log pour voir les erreurs spécifiques de la promotion ou le journal des événements pour les erreurs indiquant des problèmes de configuration. Vous pouvez également utiliser dcdiag.exe et repadmin.exe pour vérifier l’intégrité globale de la forêt.</a:t>
            </a:r>
          </a:p>
          <a:p>
            <a:pPr lvl="0">
              <a:lnSpc>
                <a:spcPct val="115000"/>
              </a:lnSpc>
            </a:pPr>
            <a:r>
              <a:rPr lang="fr-FR" sz="1000" b="1" dirty="0">
                <a:solidFill>
                  <a:prstClr val="black"/>
                </a:solidFill>
                <a:latin typeface="Arial"/>
              </a:rPr>
              <a:t>Questions de contrôle des acquis</a:t>
            </a:r>
            <a:endParaRPr lang="fr-FR" sz="1000" dirty="0">
              <a:solidFill>
                <a:prstClr val="black"/>
              </a:solidFill>
              <a:latin typeface="Arial"/>
              <a:ea typeface="Times New Roman"/>
              <a:cs typeface="Times New Roman"/>
            </a:endParaRPr>
          </a:p>
          <a:p>
            <a:pPr lvl="0">
              <a:lnSpc>
                <a:spcPct val="115000"/>
              </a:lnSpc>
              <a:spcAft>
                <a:spcPts val="1000"/>
              </a:spcAft>
            </a:pPr>
            <a:r>
              <a:rPr lang="fr-FR" sz="1000" dirty="0">
                <a:solidFill>
                  <a:prstClr val="black"/>
                </a:solidFill>
                <a:latin typeface="Arial"/>
              </a:rPr>
              <a:t>Indiquer aux stagiaires les sections appropriées du cours où ils trouveront les réponses aux questions de cette section.</a:t>
            </a:r>
          </a:p>
          <a:p>
            <a:pPr lvl="0">
              <a:lnSpc>
                <a:spcPct val="115000"/>
              </a:lnSpc>
              <a:spcAft>
                <a:spcPts val="1000"/>
              </a:spcAft>
            </a:pPr>
            <a:r>
              <a:rPr lang="fr-FR" sz="1000" b="1" dirty="0">
                <a:solidFill>
                  <a:prstClr val="black"/>
                </a:solidFill>
                <a:latin typeface="Arial" panose="020B0604020202020204" pitchFamily="34" charset="0"/>
              </a:rPr>
              <a:t>Remarque</a:t>
            </a:r>
            <a:r>
              <a:rPr lang="fr-FR" sz="1000" dirty="0">
                <a:solidFill>
                  <a:prstClr val="black"/>
                </a:solidFill>
                <a:latin typeface="Arial" panose="020B0604020202020204" pitchFamily="34" charset="0"/>
              </a:rPr>
              <a:t> : </a:t>
            </a:r>
            <a:r>
              <a:rPr lang="fr-FR" sz="1000" dirty="0">
                <a:latin typeface="Arial" panose="020B0604020202020204" pitchFamily="34" charset="0"/>
              </a:rPr>
              <a:t>S’assurer d’avoir abordé les problèmes communs et les conseils de résolution de problèmes correspondants répertoriés dans cette section. Encourager les stagiaires à partager des conseils issus de leurs propres environnements de travail.</a:t>
            </a:r>
          </a:p>
        </p:txBody>
      </p:sp>
      <p:sp>
        <p:nvSpPr>
          <p:cNvPr id="4" name="Slide Number Placeholder 3"/>
          <p:cNvSpPr>
            <a:spLocks noGrp="1"/>
          </p:cNvSpPr>
          <p:nvPr>
            <p:ph type="sldNum" sz="quarter" idx="10"/>
          </p:nvPr>
        </p:nvSpPr>
        <p:spPr/>
        <p:txBody>
          <a:bodyPr/>
          <a:lstStyle/>
          <a:p>
            <a:fld id="{247DA02D-7972-4BD4-9622-065EB71E6770}" type="slidenum">
              <a:rPr lang="en-US" smtClean="0"/>
              <a:t>40</a:t>
            </a:fld>
            <a:endParaRPr lang="fr-FR"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000000"/>
                </a:solidFill>
                <a:latin typeface="Arial"/>
              </a:rPr>
              <a:t>22742A</a:t>
            </a: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rgbClr val="336699"/>
                </a:solidFill>
                <a:latin typeface="Arial"/>
              </a:rPr>
              <a:t>1 : Installation et configuration de contrôleurs de domaine</a:t>
            </a:r>
          </a:p>
        </p:txBody>
      </p:sp>
    </p:spTree>
    <p:extLst>
      <p:ext uri="{BB962C8B-B14F-4D97-AF65-F5344CB8AC3E}">
        <p14:creationId xmlns:p14="http://schemas.microsoft.com/office/powerpoint/2010/main" val="1935682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0" y="0"/>
            <a:ext cx="9158177"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5913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5.emf"/><Relationship Id="rId7"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emf"/><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2.emf"/><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8c790333-064c-4985-a532-d483aa476908">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200400" y="1828800"/>
            <a:ext cx="5732417" cy="1016000"/>
          </a:xfrm>
        </p:spPr>
        <p:txBody>
          <a:bodyPr/>
          <a:lstStyle/>
          <a:p>
            <a:r>
              <a:rPr lang="fr-FR" dirty="0"/>
              <a:t>Module 1</a:t>
            </a:r>
          </a:p>
        </p:txBody>
      </p:sp>
      <p:sp>
        <p:nvSpPr>
          <p:cNvPr id="3" name="Subtitle 2"/>
          <p:cNvSpPr>
            <a:spLocks noGrp="1"/>
          </p:cNvSpPr>
          <p:nvPr>
            <p:ph type="subTitle" sz="quarter" idx="1"/>
          </p:nvPr>
        </p:nvSpPr>
        <p:spPr>
          <a:xfrm>
            <a:off x="3200400" y="2895600"/>
            <a:ext cx="4876800" cy="990600"/>
          </a:xfrm>
        </p:spPr>
        <p:txBody>
          <a:bodyPr/>
          <a:lstStyle/>
          <a:p>
            <a:r>
              <a:rPr lang="fr-FR" dirty="0"/>
              <a:t>Installation et configuration de contrôleurs de domaine</a:t>
            </a:r>
            <a:r>
              <a:rPr lang="en-US" dirty="0"/>
              <a:t>
</a:t>
            </a:r>
            <a:br>
              <a:rPr dirty="0"/>
            </a:br>
            <a:endParaRPr dirty="0"/>
          </a:p>
        </p:txBody>
      </p:sp>
    </p:spTree>
    <p:extLst>
      <p:ext uri="{BB962C8B-B14F-4D97-AF65-F5344CB8AC3E}">
        <p14:creationId xmlns:p14="http://schemas.microsoft.com/office/powerpoint/2010/main" val="558733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6862dd46-c73d-450c-9723-c11b8fceb54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Vue d’ensemble du module</a:t>
            </a:r>
          </a:p>
        </p:txBody>
      </p:sp>
      <p:sp>
        <p:nvSpPr>
          <p:cNvPr id="3" name="Text Placeholder 2"/>
          <p:cNvSpPr>
            <a:spLocks noGrp="1"/>
          </p:cNvSpPr>
          <p:nvPr>
            <p:ph type="body" idx="1"/>
          </p:nvPr>
        </p:nvSpPr>
        <p:spPr>
          <a:xfrm>
            <a:off x="458788" y="1021215"/>
            <a:ext cx="8380412" cy="5147356"/>
          </a:xfrm>
        </p:spPr>
        <p:txBody>
          <a:bodyPr/>
          <a:lstStyle/>
          <a:p>
            <a:r>
              <a:rPr lang="fr-FR" dirty="0"/>
              <a:t>Vue d’ensemble de AD DS</a:t>
            </a:r>
            <a:r>
              <a:rPr lang="en-US" dirty="0"/>
              <a:t>
</a:t>
            </a:r>
            <a:r>
              <a:rPr lang="fr-FR" dirty="0"/>
              <a:t>Vue d’ensemble des contrôleurs de domaine AD DS</a:t>
            </a:r>
            <a:r>
              <a:rPr lang="en-US" dirty="0"/>
              <a:t>
</a:t>
            </a:r>
            <a:r>
              <a:rPr lang="fr-FR" dirty="0"/>
              <a:t>Déploiement d’un contrôleur de domaine</a:t>
            </a:r>
          </a:p>
        </p:txBody>
      </p:sp>
    </p:spTree>
    <p:extLst>
      <p:ext uri="{BB962C8B-B14F-4D97-AF65-F5344CB8AC3E}">
        <p14:creationId xmlns:p14="http://schemas.microsoft.com/office/powerpoint/2010/main" val="2785750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ab9776ab-dc62-4cc6-aaac-66589787981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Leçon 1 : Vue d’ensemble d’AD DS</a:t>
            </a:r>
          </a:p>
        </p:txBody>
      </p:sp>
      <p:sp>
        <p:nvSpPr>
          <p:cNvPr id="3" name="Text Placeholder 2"/>
          <p:cNvSpPr>
            <a:spLocks noGrp="1"/>
          </p:cNvSpPr>
          <p:nvPr>
            <p:ph type="body" idx="1"/>
          </p:nvPr>
        </p:nvSpPr>
        <p:spPr/>
        <p:txBody>
          <a:bodyPr/>
          <a:lstStyle/>
          <a:p>
            <a:r>
              <a:rPr lang="fr-FR" dirty="0"/>
              <a:t>Vue d’ensemble de AD DS</a:t>
            </a:r>
            <a:r>
              <a:rPr lang="en-US" dirty="0"/>
              <a:t>
</a:t>
            </a:r>
            <a:r>
              <a:rPr lang="fr-FR" dirty="0"/>
              <a:t>Qu’est-ce que le schéma AD DS ?</a:t>
            </a:r>
            <a:r>
              <a:rPr lang="en-US" dirty="0"/>
              <a:t>
</a:t>
            </a:r>
            <a:r>
              <a:rPr lang="fr-FR" dirty="0"/>
              <a:t>Qu’est-ce qu’une forêt AD DS ?</a:t>
            </a:r>
            <a:r>
              <a:rPr lang="en-US" dirty="0"/>
              <a:t>
</a:t>
            </a:r>
            <a:r>
              <a:rPr lang="fr-FR" dirty="0"/>
              <a:t>Qu’est-ce qu’un domaine AD DS ?</a:t>
            </a:r>
            <a:r>
              <a:rPr lang="en-US" dirty="0"/>
              <a:t>
</a:t>
            </a:r>
            <a:r>
              <a:rPr lang="fr-FR" dirty="0"/>
              <a:t>Que sont les UO ?</a:t>
            </a:r>
            <a:r>
              <a:rPr lang="en-US" dirty="0"/>
              <a:t>
</a:t>
            </a:r>
            <a:r>
              <a:rPr lang="fr-FR" dirty="0"/>
              <a:t>Nouveautés d’AD DS dans Windows Server 2016</a:t>
            </a:r>
            <a:r>
              <a:rPr lang="en-US" dirty="0"/>
              <a:t>
</a:t>
            </a:r>
            <a:r>
              <a:rPr lang="fr-FR" dirty="0"/>
              <a:t>Qu’est-ce qu’AD Azure ?</a:t>
            </a:r>
            <a:r>
              <a:rPr lang="en-US" dirty="0"/>
              <a:t>
</a:t>
            </a:r>
            <a:r>
              <a:rPr lang="fr-FR" dirty="0"/>
              <a:t>Vue d’ensemble des outils d’administration AD DS</a:t>
            </a:r>
            <a:r>
              <a:rPr lang="en-US" dirty="0"/>
              <a:t>
</a:t>
            </a:r>
            <a:r>
              <a:rPr lang="fr-FR" dirty="0"/>
              <a:t>Démonstration : Utiliser le Centre d’administration Active Directory pour administrer et gérer AD DS</a:t>
            </a:r>
          </a:p>
        </p:txBody>
      </p:sp>
    </p:spTree>
    <p:extLst>
      <p:ext uri="{BB962C8B-B14F-4D97-AF65-F5344CB8AC3E}">
        <p14:creationId xmlns:p14="http://schemas.microsoft.com/office/powerpoint/2010/main" val="1346660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b66d8e2-d667-4923-b250-b8ac5062bc4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Vue d’ensemble d’AD DS</a:t>
            </a:r>
          </a:p>
        </p:txBody>
      </p:sp>
      <p:graphicFrame>
        <p:nvGraphicFramePr>
          <p:cNvPr id="4" name="Group 81"/>
          <p:cNvGraphicFramePr>
            <a:graphicFrameLocks/>
          </p:cNvGraphicFramePr>
          <p:nvPr>
            <p:extLst>
              <p:ext uri="{D42A27DB-BD31-4B8C-83A1-F6EECF244321}">
                <p14:modId xmlns:p14="http://schemas.microsoft.com/office/powerpoint/2010/main" val="4000210871"/>
              </p:ext>
            </p:extLst>
          </p:nvPr>
        </p:nvGraphicFramePr>
        <p:xfrm>
          <a:off x="978882" y="1885937"/>
          <a:ext cx="7326918" cy="4520184"/>
        </p:xfrm>
        <a:graphic>
          <a:graphicData uri="http://schemas.openxmlformats.org/drawingml/2006/table">
            <a:tbl>
              <a:tblPr>
                <a:tableStyleId>{5DA37D80-6434-44D0-A028-1B22A696006F}</a:tableStyleId>
              </a:tblPr>
              <a:tblGrid>
                <a:gridCol w="3756993">
                  <a:extLst>
                    <a:ext uri="{9D8B030D-6E8A-4147-A177-3AD203B41FA5}">
                      <a16:colId xmlns:a16="http://schemas.microsoft.com/office/drawing/2014/main" val="20000"/>
                    </a:ext>
                  </a:extLst>
                </a:gridCol>
                <a:gridCol w="3569925">
                  <a:extLst>
                    <a:ext uri="{9D8B030D-6E8A-4147-A177-3AD203B41FA5}">
                      <a16:colId xmlns:a16="http://schemas.microsoft.com/office/drawing/2014/main" val="20001"/>
                    </a:ext>
                  </a:extLst>
                </a:gridCol>
              </a:tblGrid>
              <a:tr h="48260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fr-FR" sz="2400" b="1" i="0" u="none" strike="noStrike" cap="none" normalizeH="0" baseline="0" dirty="0">
                          <a:ln>
                            <a:noFill/>
                          </a:ln>
                          <a:effectLst/>
                          <a:latin typeface="Segoe UI" pitchFamily="34" charset="0"/>
                        </a:rPr>
                        <a:t>Composants logiques</a:t>
                      </a:r>
                      <a:endParaRPr kumimoji="0" lang="fr-FR" sz="24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tc>
                  <a:txBody>
                    <a:bodyPr/>
                    <a:lstStyle/>
                    <a:p>
                      <a:pPr marL="0" marR="0" lvl="0" indent="0" algn="l" defTabSz="914400" rtl="0" eaLnBrk="1" fontAlgn="base" latinLnBrk="0" hangingPunct="1">
                        <a:lnSpc>
                          <a:spcPct val="90000"/>
                        </a:lnSpc>
                        <a:spcBef>
                          <a:spcPct val="70000"/>
                        </a:spcBef>
                        <a:spcAft>
                          <a:spcPct val="0"/>
                        </a:spcAft>
                        <a:buClrTx/>
                        <a:buSzTx/>
                        <a:buFontTx/>
                        <a:buNone/>
                        <a:tabLst/>
                      </a:pPr>
                      <a:r>
                        <a:rPr kumimoji="0" lang="fr-FR" sz="2400" b="1" i="0" u="none" strike="noStrike" cap="none" normalizeH="0" baseline="0" dirty="0">
                          <a:ln>
                            <a:noFill/>
                          </a:ln>
                          <a:effectLst/>
                          <a:latin typeface="Segoe UI" pitchFamily="34" charset="0"/>
                        </a:rPr>
                        <a:t>Composants physiques</a:t>
                      </a:r>
                      <a:endParaRPr kumimoji="0" lang="fr-FR" sz="2400" b="1"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anchor="ctr" horzOverflow="overflow"/>
                </a:tc>
                <a:extLst>
                  <a:ext uri="{0D108BD9-81ED-4DB2-BD59-A6C34878D82A}">
                    <a16:rowId xmlns:a16="http://schemas.microsoft.com/office/drawing/2014/main" val="10000"/>
                  </a:ext>
                </a:extLst>
              </a:tr>
              <a:tr h="3175000">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Cloisons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Schéma</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Domaines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Arborescences de domaine</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Forêts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Sites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Unités d’organisation</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Conteneurs</a:t>
                      </a:r>
                    </a:p>
                  </a:txBody>
                  <a:tcPr marT="91440" marB="91440" horzOverflow="overflow"/>
                </a:tc>
                <a:tc>
                  <a:txBody>
                    <a:bodyPr/>
                    <a:lstStyle/>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Les contrôleurs de domaine </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defRPr/>
                      </a:pPr>
                      <a:r>
                        <a:rPr lang="fr-FR" sz="2400" kern="1200" dirty="0">
                          <a:solidFill>
                            <a:schemeClr val="tx1"/>
                          </a:solidFill>
                          <a:effectLst/>
                          <a:latin typeface="Segoe UI" pitchFamily="34" charset="0"/>
                        </a:rPr>
                        <a:t>Magasins de données</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Serveurs de catalogue global</a:t>
                      </a:r>
                    </a:p>
                    <a:p>
                      <a:pPr marL="233363" marR="0" lvl="0" indent="-233363" algn="l" defTabSz="914400" rtl="0" eaLnBrk="1" fontAlgn="base" latinLnBrk="0" hangingPunct="1">
                        <a:lnSpc>
                          <a:spcPct val="100000"/>
                        </a:lnSpc>
                        <a:spcBef>
                          <a:spcPts val="600"/>
                        </a:spcBef>
                        <a:spcAft>
                          <a:spcPct val="0"/>
                        </a:spcAft>
                        <a:buClr>
                          <a:schemeClr val="hlink"/>
                        </a:buClr>
                        <a:buSzPct val="90000"/>
                        <a:buFontTx/>
                        <a:buChar char="•"/>
                        <a:tabLst/>
                      </a:pPr>
                      <a:r>
                        <a:rPr lang="fr-FR" sz="2400" kern="1200" dirty="0">
                          <a:solidFill>
                            <a:schemeClr val="tx1"/>
                          </a:solidFill>
                          <a:effectLst/>
                          <a:latin typeface="Segoe UI" pitchFamily="34" charset="0"/>
                        </a:rPr>
                        <a:t>RODC </a:t>
                      </a:r>
                      <a:endParaRPr kumimoji="0" lang="fr-FR" sz="2400" u="none" strike="noStrike" cap="none" normalizeH="0" baseline="0" dirty="0">
                        <a:ln>
                          <a:noFill/>
                        </a:ln>
                        <a:effectLst/>
                        <a:latin typeface="Segoe UI" pitchFamily="34" charset="0"/>
                        <a:ea typeface="Segoe UI" pitchFamily="34" charset="0"/>
                        <a:cs typeface="Segoe UI" pitchFamily="34" charset="0"/>
                      </a:endParaRPr>
                    </a:p>
                    <a:p>
                      <a:pPr marL="233363" marR="0" lvl="0" indent="-233363" algn="l" defTabSz="914400" rtl="0" eaLnBrk="1" fontAlgn="base" latinLnBrk="0" hangingPunct="1">
                        <a:lnSpc>
                          <a:spcPct val="100000"/>
                        </a:lnSpc>
                        <a:spcBef>
                          <a:spcPts val="600"/>
                        </a:spcBef>
                        <a:spcAft>
                          <a:spcPct val="0"/>
                        </a:spcAft>
                        <a:buClr>
                          <a:schemeClr val="hlink"/>
                        </a:buClr>
                        <a:buSzPct val="90000"/>
                        <a:buFontTx/>
                        <a:buNone/>
                        <a:tabLst/>
                      </a:pPr>
                      <a:endParaRPr kumimoji="0" lang="fr-FR" sz="2400" b="0" i="0" u="none" strike="noStrike" cap="none" normalizeH="0" baseline="0" dirty="0">
                        <a:ln>
                          <a:noFill/>
                        </a:ln>
                        <a:solidFill>
                          <a:schemeClr val="tx1"/>
                        </a:solidFill>
                        <a:effectLst/>
                        <a:latin typeface="Segoe UI" pitchFamily="34" charset="0"/>
                        <a:ea typeface="Segoe UI" pitchFamily="34" charset="0"/>
                        <a:cs typeface="Segoe UI" pitchFamily="34" charset="0"/>
                      </a:endParaRPr>
                    </a:p>
                  </a:txBody>
                  <a:tcPr marT="91440" marB="91440" horzOverflow="overflow"/>
                </a:tc>
                <a:extLst>
                  <a:ext uri="{0D108BD9-81ED-4DB2-BD59-A6C34878D82A}">
                    <a16:rowId xmlns:a16="http://schemas.microsoft.com/office/drawing/2014/main" val="10001"/>
                  </a:ext>
                </a:extLst>
              </a:tr>
            </a:tbl>
          </a:graphicData>
        </a:graphic>
      </p:graphicFrame>
      <p:sp>
        <p:nvSpPr>
          <p:cNvPr id="5" name="AutoShape 29"/>
          <p:cNvSpPr>
            <a:spLocks noChangeArrowheads="1"/>
          </p:cNvSpPr>
          <p:nvPr/>
        </p:nvSpPr>
        <p:spPr bwMode="auto">
          <a:xfrm>
            <a:off x="342647" y="739659"/>
            <a:ext cx="8399416" cy="1097042"/>
          </a:xfrm>
          <a:prstGeom prst="roundRect">
            <a:avLst>
              <a:gd name="adj" fmla="val 8718"/>
            </a:avLst>
          </a:prstGeom>
          <a:noFill/>
          <a:ln w="9525" algn="ctr">
            <a:noFill/>
            <a:round/>
            <a:headEnd/>
            <a:tailEnd/>
          </a:ln>
          <a:effectLst/>
        </p:spPr>
        <p:txBody>
          <a:bodyPr wrap="square" tIns="91440" bIns="91440" anchor="ct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lang="fr-FR" sz="2800" b="0" dirty="0">
                <a:latin typeface="Segoe UI" pitchFamily="34" charset="0"/>
              </a:rPr>
              <a:t>AD DS est constitué de composants logiques et physiques</a:t>
            </a:r>
          </a:p>
        </p:txBody>
      </p:sp>
    </p:spTree>
    <p:extLst>
      <p:ext uri="{BB962C8B-B14F-4D97-AF65-F5344CB8AC3E}">
        <p14:creationId xmlns:p14="http://schemas.microsoft.com/office/powerpoint/2010/main" val="1460737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5818e18f-0a98-4179-9402-69fa22e691b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Qu’est-ce que le schéma AD DS ?</a:t>
            </a:r>
          </a:p>
        </p:txBody>
      </p:sp>
      <p:pic>
        <p:nvPicPr>
          <p:cNvPr id="4" name="Picture 3" descr="Une capture d’écran du composant logiciel enfichable du schéma AD représentant le schéma de LON-DC1.Adatum.com avec la classe d’utilisateur sélectionnée, montrant les attributs de plusieurs couches dans la hiérarchie."/>
          <p:cNvPicPr>
            <a:picLocks noChangeAspect="1"/>
          </p:cNvPicPr>
          <p:nvPr/>
        </p:nvPicPr>
        <p:blipFill>
          <a:blip r:embed="rId3"/>
          <a:stretch>
            <a:fillRect/>
          </a:stretch>
        </p:blipFill>
        <p:spPr>
          <a:xfrm>
            <a:off x="821357" y="905350"/>
            <a:ext cx="7009742" cy="5647850"/>
          </a:xfrm>
          <a:prstGeom prst="rect">
            <a:avLst/>
          </a:prstGeom>
        </p:spPr>
      </p:pic>
    </p:spTree>
    <p:extLst>
      <p:ext uri="{BB962C8B-B14F-4D97-AF65-F5344CB8AC3E}">
        <p14:creationId xmlns:p14="http://schemas.microsoft.com/office/powerpoint/2010/main" val="28262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04c9f98-d43c-405c-8c97-72715e79247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Qu’est-ce qu’une forêt AD DS ?</a:t>
            </a:r>
          </a:p>
        </p:txBody>
      </p:sp>
      <p:grpSp>
        <p:nvGrpSpPr>
          <p:cNvPr id="4" name="Group 3" descr="Un diagramme d’un domaine racine de forêt nommée adatum.com avec un domaine enfant nommé atl.adatum.com et un second arbre de domaine nommé fabrikam.com. Les relations d’approbation sont entre les domaines de adatum.com et fabrikam.com et entre les domaines de adatum.com et le domaine enfant (atl.adatum.com).&#10;&#10;"/>
          <p:cNvGrpSpPr/>
          <p:nvPr/>
        </p:nvGrpSpPr>
        <p:grpSpPr>
          <a:xfrm>
            <a:off x="299425" y="1060419"/>
            <a:ext cx="8082575" cy="5003113"/>
            <a:chOff x="2229825" y="857219"/>
            <a:chExt cx="8082575" cy="5003113"/>
          </a:xfrm>
        </p:grpSpPr>
        <p:grpSp>
          <p:nvGrpSpPr>
            <p:cNvPr id="5" name="Group 4"/>
            <p:cNvGrpSpPr/>
            <p:nvPr/>
          </p:nvGrpSpPr>
          <p:grpSpPr>
            <a:xfrm>
              <a:off x="5060082" y="1703999"/>
              <a:ext cx="1431426" cy="784141"/>
              <a:chOff x="3203643" y="1904999"/>
              <a:chExt cx="1431426" cy="784141"/>
            </a:xfrm>
          </p:grpSpPr>
          <p:sp>
            <p:nvSpPr>
              <p:cNvPr id="141" name="arrow"/>
              <p:cNvSpPr>
                <a:spLocks noChangeShapeType="1"/>
              </p:cNvSpPr>
              <p:nvPr/>
            </p:nvSpPr>
            <p:spPr bwMode="auto">
              <a:xfrm flipV="1">
                <a:off x="3236980" y="2065519"/>
                <a:ext cx="1398089" cy="623621"/>
              </a:xfrm>
              <a:prstGeom prst="line">
                <a:avLst/>
              </a:prstGeom>
              <a:noFill/>
              <a:ln w="50800">
                <a:solidFill>
                  <a:srgbClr val="CC0000"/>
                </a:solidFill>
                <a:round/>
                <a:headEnd type="triangle" w="med" len="med"/>
                <a:tailEn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sp>
            <p:nvSpPr>
              <p:cNvPr id="142" name="arrow"/>
              <p:cNvSpPr>
                <a:spLocks noChangeShapeType="1"/>
              </p:cNvSpPr>
              <p:nvPr/>
            </p:nvSpPr>
            <p:spPr bwMode="auto">
              <a:xfrm flipV="1">
                <a:off x="3203643" y="1904999"/>
                <a:ext cx="1431426" cy="631741"/>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grpSp>
        <p:grpSp>
          <p:nvGrpSpPr>
            <p:cNvPr id="6" name="Group 5"/>
            <p:cNvGrpSpPr/>
            <p:nvPr/>
          </p:nvGrpSpPr>
          <p:grpSpPr>
            <a:xfrm>
              <a:off x="7215790" y="2987526"/>
              <a:ext cx="737375" cy="940958"/>
              <a:chOff x="5359351" y="3188526"/>
              <a:chExt cx="737375" cy="940958"/>
            </a:xfrm>
          </p:grpSpPr>
          <p:sp>
            <p:nvSpPr>
              <p:cNvPr id="139" name="arrow"/>
              <p:cNvSpPr>
                <a:spLocks noChangeAspect="1" noChangeShapeType="1"/>
              </p:cNvSpPr>
              <p:nvPr/>
            </p:nvSpPr>
            <p:spPr bwMode="auto">
              <a:xfrm flipH="1" flipV="1">
                <a:off x="5628413" y="3188526"/>
                <a:ext cx="468313" cy="719137"/>
              </a:xfrm>
              <a:prstGeom prst="line">
                <a:avLst/>
              </a:prstGeom>
              <a:noFill/>
              <a:ln w="508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sp>
            <p:nvSpPr>
              <p:cNvPr id="140" name="arrow"/>
              <p:cNvSpPr>
                <a:spLocks noChangeAspect="1" noChangeShapeType="1"/>
              </p:cNvSpPr>
              <p:nvPr/>
            </p:nvSpPr>
            <p:spPr bwMode="auto">
              <a:xfrm flipH="1" flipV="1">
                <a:off x="5359351" y="3265884"/>
                <a:ext cx="577850" cy="863600"/>
              </a:xfrm>
              <a:prstGeom prst="line">
                <a:avLst/>
              </a:prstGeom>
              <a:noFill/>
              <a:ln w="50800">
                <a:solidFill>
                  <a:srgbClr val="CC0000"/>
                </a:solidFill>
                <a:round/>
                <a:headEnd type="triangle" w="med" len="med"/>
                <a:tailEnd/>
              </a:ln>
              <a:extLst>
                <a:ext uri="{909E8E84-426E-40DD-AFC4-6F175D3DCCD1}">
                  <a14:hiddenFill xmlns:a14="http://schemas.microsoft.com/office/drawing/2010/main">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grpSp>
        <p:sp>
          <p:nvSpPr>
            <p:cNvPr id="7" name="Text Box 12"/>
            <p:cNvSpPr txBox="1">
              <a:spLocks noChangeArrowheads="1"/>
            </p:cNvSpPr>
            <p:nvPr/>
          </p:nvSpPr>
          <p:spPr bwMode="auto">
            <a:xfrm>
              <a:off x="2229825" y="1854200"/>
              <a:ext cx="1463136"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Racine d’arborescence </a:t>
              </a:r>
            </a:p>
            <a:p>
              <a:pPr eaLnBrk="1" hangingPunct="1"/>
              <a:r>
                <a:rPr lang="fr-FR" sz="2400" b="0" dirty="0">
                  <a:latin typeface="Segoe UI" pitchFamily="34" charset="0"/>
                </a:rPr>
                <a:t>domaine</a:t>
              </a:r>
            </a:p>
          </p:txBody>
        </p:sp>
        <p:sp>
          <p:nvSpPr>
            <p:cNvPr id="8" name="Text Box 39"/>
            <p:cNvSpPr txBox="1">
              <a:spLocks noChangeArrowheads="1"/>
            </p:cNvSpPr>
            <p:nvPr/>
          </p:nvSpPr>
          <p:spPr bwMode="auto">
            <a:xfrm>
              <a:off x="3181987" y="3626688"/>
              <a:ext cx="20313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fabrikam.com</a:t>
              </a:r>
            </a:p>
          </p:txBody>
        </p:sp>
        <p:sp>
          <p:nvSpPr>
            <p:cNvPr id="9" name="triangle"/>
            <p:cNvSpPr>
              <a:spLocks noChangeArrowheads="1"/>
            </p:cNvSpPr>
            <p:nvPr/>
          </p:nvSpPr>
          <p:spPr bwMode="auto">
            <a:xfrm>
              <a:off x="3416749" y="1856400"/>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sp>
          <p:nvSpPr>
            <p:cNvPr id="10" name="c atl.adatum.com"/>
            <p:cNvSpPr txBox="1">
              <a:spLocks noChangeArrowheads="1"/>
            </p:cNvSpPr>
            <p:nvPr/>
          </p:nvSpPr>
          <p:spPr bwMode="auto">
            <a:xfrm>
              <a:off x="7343603" y="5054600"/>
              <a:ext cx="2282997"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atl.adatum.com</a:t>
              </a:r>
            </a:p>
          </p:txBody>
        </p:sp>
        <p:sp>
          <p:nvSpPr>
            <p:cNvPr id="11" name="c triangle"/>
            <p:cNvSpPr>
              <a:spLocks noChangeArrowheads="1"/>
            </p:cNvSpPr>
            <p:nvPr/>
          </p:nvSpPr>
          <p:spPr bwMode="auto">
            <a:xfrm>
              <a:off x="7424418" y="3242817"/>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sp>
          <p:nvSpPr>
            <p:cNvPr id="12" name="&quot;child domain &quot;"/>
            <p:cNvSpPr txBox="1">
              <a:spLocks noChangeArrowheads="1"/>
            </p:cNvSpPr>
            <p:nvPr/>
          </p:nvSpPr>
          <p:spPr bwMode="auto">
            <a:xfrm>
              <a:off x="7291198" y="5435600"/>
              <a:ext cx="264020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Domaine enfant </a:t>
              </a:r>
            </a:p>
          </p:txBody>
        </p:sp>
        <p:sp>
          <p:nvSpPr>
            <p:cNvPr id="13" name="b triangle"/>
            <p:cNvSpPr>
              <a:spLocks noChangeArrowheads="1"/>
            </p:cNvSpPr>
            <p:nvPr/>
          </p:nvSpPr>
          <p:spPr bwMode="auto">
            <a:xfrm>
              <a:off x="6238327" y="857219"/>
              <a:ext cx="2016442" cy="1661253"/>
            </a:xfrm>
            <a:prstGeom prst="triangle">
              <a:avLst/>
            </a:prstGeom>
            <a:noFill/>
            <a:ln>
              <a:solidFill>
                <a:schemeClr val="accent2">
                  <a:lumMod val="75000"/>
                </a:schemeClr>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sp>
          <p:nvSpPr>
            <p:cNvPr id="14" name="b  &quot;adatum.com&quot;"/>
            <p:cNvSpPr txBox="1">
              <a:spLocks noChangeArrowheads="1"/>
            </p:cNvSpPr>
            <p:nvPr/>
          </p:nvSpPr>
          <p:spPr bwMode="auto">
            <a:xfrm>
              <a:off x="6257453" y="2583983"/>
              <a:ext cx="187904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adatum.com</a:t>
              </a:r>
            </a:p>
          </p:txBody>
        </p:sp>
        <p:sp>
          <p:nvSpPr>
            <p:cNvPr id="15" name="b &quot;Forest Root &quot;"/>
            <p:cNvSpPr txBox="1">
              <a:spLocks noChangeArrowheads="1"/>
            </p:cNvSpPr>
            <p:nvPr/>
          </p:nvSpPr>
          <p:spPr bwMode="auto">
            <a:xfrm>
              <a:off x="7991765" y="1376664"/>
              <a:ext cx="2320635" cy="79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27432" bIns="27432">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eaLnBrk="1" hangingPunct="1"/>
              <a:r>
                <a:rPr lang="fr-FR" sz="2400" b="0" dirty="0">
                  <a:latin typeface="Segoe UI" pitchFamily="34" charset="0"/>
                </a:rPr>
                <a:t>Racine de forêt </a:t>
              </a:r>
            </a:p>
            <a:p>
              <a:pPr eaLnBrk="1" hangingPunct="1"/>
              <a:r>
                <a:rPr lang="fr-FR" sz="2400" b="0" dirty="0">
                  <a:latin typeface="Segoe UI" pitchFamily="34" charset="0"/>
                </a:rPr>
                <a:t>domaine</a:t>
              </a:r>
            </a:p>
          </p:txBody>
        </p:sp>
        <p:grpSp>
          <p:nvGrpSpPr>
            <p:cNvPr id="16" name="Group 15"/>
            <p:cNvGrpSpPr/>
            <p:nvPr/>
          </p:nvGrpSpPr>
          <p:grpSpPr>
            <a:xfrm>
              <a:off x="6870174" y="911574"/>
              <a:ext cx="938781" cy="1147200"/>
              <a:chOff x="6870174" y="911574"/>
              <a:chExt cx="938781" cy="1147200"/>
            </a:xfrm>
          </p:grpSpPr>
          <p:pic>
            <p:nvPicPr>
              <p:cNvPr id="86" name="Picture 85"/>
              <p:cNvPicPr>
                <a:picLocks noChangeAspect="1"/>
              </p:cNvPicPr>
              <p:nvPr/>
            </p:nvPicPr>
            <p:blipFill>
              <a:blip r:embed="rId3"/>
              <a:stretch>
                <a:fillRect/>
              </a:stretch>
            </p:blipFill>
            <p:spPr>
              <a:xfrm>
                <a:off x="6870174" y="911574"/>
                <a:ext cx="373364" cy="702802"/>
              </a:xfrm>
              <a:prstGeom prst="rect">
                <a:avLst/>
              </a:prstGeom>
            </p:spPr>
          </p:pic>
          <p:grpSp>
            <p:nvGrpSpPr>
              <p:cNvPr id="87" name="Group 86"/>
              <p:cNvGrpSpPr/>
              <p:nvPr/>
            </p:nvGrpSpPr>
            <p:grpSpPr>
              <a:xfrm>
                <a:off x="7110980" y="1150685"/>
                <a:ext cx="346609" cy="675340"/>
                <a:chOff x="656568" y="3477073"/>
                <a:chExt cx="1687683" cy="3288314"/>
              </a:xfrm>
            </p:grpSpPr>
            <p:grpSp>
              <p:nvGrpSpPr>
                <p:cNvPr id="129" name="Group 128"/>
                <p:cNvGrpSpPr>
                  <a:grpSpLocks noChangeAspect="1"/>
                </p:cNvGrpSpPr>
                <p:nvPr/>
              </p:nvGrpSpPr>
              <p:grpSpPr>
                <a:xfrm>
                  <a:off x="656568" y="5029457"/>
                  <a:ext cx="1684865" cy="1735930"/>
                  <a:chOff x="808037" y="2079361"/>
                  <a:chExt cx="1684865" cy="1735930"/>
                </a:xfrm>
              </p:grpSpPr>
              <p:sp>
                <p:nvSpPr>
                  <p:cNvPr id="135" name="Flowchart: Magnetic Disk 134"/>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36" name="Oval 135"/>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7" name="Flowchart: Magnetic Disk 136"/>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38" name="Oval 137"/>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130" name="Group 129"/>
                <p:cNvGrpSpPr>
                  <a:grpSpLocks noChangeAspect="1"/>
                </p:cNvGrpSpPr>
                <p:nvPr/>
              </p:nvGrpSpPr>
              <p:grpSpPr>
                <a:xfrm>
                  <a:off x="659386" y="3477073"/>
                  <a:ext cx="1684865" cy="1735930"/>
                  <a:chOff x="808037" y="2079361"/>
                  <a:chExt cx="1684865" cy="1735930"/>
                </a:xfrm>
              </p:grpSpPr>
              <p:sp>
                <p:nvSpPr>
                  <p:cNvPr id="131" name="Flowchart: Magnetic Disk 130"/>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32" name="Oval 131"/>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3" name="Flowchart: Magnetic Disk 132"/>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34" name="Oval 133"/>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88" name="Group 87"/>
              <p:cNvGrpSpPr>
                <a:grpSpLocks noChangeAspect="1"/>
              </p:cNvGrpSpPr>
              <p:nvPr/>
            </p:nvGrpSpPr>
            <p:grpSpPr>
              <a:xfrm>
                <a:off x="7303873" y="1548375"/>
                <a:ext cx="505082" cy="510399"/>
                <a:chOff x="5121275" y="1295400"/>
                <a:chExt cx="1508125" cy="1524000"/>
              </a:xfrm>
            </p:grpSpPr>
            <p:grpSp>
              <p:nvGrpSpPr>
                <p:cNvPr id="89" name="Group 88"/>
                <p:cNvGrpSpPr/>
                <p:nvPr/>
              </p:nvGrpSpPr>
              <p:grpSpPr>
                <a:xfrm>
                  <a:off x="5264150" y="1295400"/>
                  <a:ext cx="1365250" cy="1370012"/>
                  <a:chOff x="5264150" y="1295400"/>
                  <a:chExt cx="1365250" cy="1370012"/>
                </a:xfrm>
              </p:grpSpPr>
              <p:grpSp>
                <p:nvGrpSpPr>
                  <p:cNvPr id="103" name="Group 102"/>
                  <p:cNvGrpSpPr/>
                  <p:nvPr/>
                </p:nvGrpSpPr>
                <p:grpSpPr>
                  <a:xfrm>
                    <a:off x="5264150" y="2057400"/>
                    <a:ext cx="1365250" cy="608012"/>
                    <a:chOff x="5264150" y="2057400"/>
                    <a:chExt cx="1365250" cy="608012"/>
                  </a:xfrm>
                </p:grpSpPr>
                <p:grpSp>
                  <p:nvGrpSpPr>
                    <p:cNvPr id="121" name="Group 120"/>
                    <p:cNvGrpSpPr/>
                    <p:nvPr/>
                  </p:nvGrpSpPr>
                  <p:grpSpPr>
                    <a:xfrm>
                      <a:off x="5410200" y="2057400"/>
                      <a:ext cx="1219200" cy="457200"/>
                      <a:chOff x="5257800" y="1447800"/>
                      <a:chExt cx="1219200" cy="457200"/>
                    </a:xfrm>
                  </p:grpSpPr>
                  <p:sp>
                    <p:nvSpPr>
                      <p:cNvPr id="126" name="Cube 125"/>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27" name="Cube 126"/>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28" name="Cube 127"/>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122" name="Group 121"/>
                    <p:cNvGrpSpPr/>
                    <p:nvPr/>
                  </p:nvGrpSpPr>
                  <p:grpSpPr>
                    <a:xfrm>
                      <a:off x="5264150" y="2208212"/>
                      <a:ext cx="1219200" cy="457200"/>
                      <a:chOff x="5257800" y="1447800"/>
                      <a:chExt cx="1219200" cy="457200"/>
                    </a:xfrm>
                  </p:grpSpPr>
                  <p:sp>
                    <p:nvSpPr>
                      <p:cNvPr id="123" name="Cube 122"/>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24" name="Cube 123"/>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25" name="Cube 124"/>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nvGrpSpPr>
                  <p:cNvPr id="104" name="Group 103"/>
                  <p:cNvGrpSpPr/>
                  <p:nvPr/>
                </p:nvGrpSpPr>
                <p:grpSpPr>
                  <a:xfrm>
                    <a:off x="5264150" y="1295400"/>
                    <a:ext cx="1365250" cy="990600"/>
                    <a:chOff x="5264150" y="1295400"/>
                    <a:chExt cx="1365250" cy="990600"/>
                  </a:xfrm>
                </p:grpSpPr>
                <p:grpSp>
                  <p:nvGrpSpPr>
                    <p:cNvPr id="105" name="Group 104"/>
                    <p:cNvGrpSpPr/>
                    <p:nvPr/>
                  </p:nvGrpSpPr>
                  <p:grpSpPr>
                    <a:xfrm>
                      <a:off x="5410200" y="1676400"/>
                      <a:ext cx="1219200" cy="457200"/>
                      <a:chOff x="5257800" y="1447800"/>
                      <a:chExt cx="1219200" cy="457200"/>
                    </a:xfrm>
                  </p:grpSpPr>
                  <p:sp>
                    <p:nvSpPr>
                      <p:cNvPr id="118" name="Cube 117"/>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9" name="Cube 118"/>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20" name="Cube 119"/>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106" name="Group 105"/>
                    <p:cNvGrpSpPr/>
                    <p:nvPr/>
                  </p:nvGrpSpPr>
                  <p:grpSpPr>
                    <a:xfrm>
                      <a:off x="5410200" y="1295400"/>
                      <a:ext cx="1219200" cy="457200"/>
                      <a:chOff x="5257800" y="1447800"/>
                      <a:chExt cx="1219200" cy="457200"/>
                    </a:xfrm>
                  </p:grpSpPr>
                  <p:sp>
                    <p:nvSpPr>
                      <p:cNvPr id="115" name="Cube 114"/>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6" name="Cube 115"/>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7" name="Cube 116"/>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107" name="Group 106"/>
                    <p:cNvGrpSpPr/>
                    <p:nvPr/>
                  </p:nvGrpSpPr>
                  <p:grpSpPr>
                    <a:xfrm>
                      <a:off x="5264150" y="1828800"/>
                      <a:ext cx="1219200" cy="457200"/>
                      <a:chOff x="5257800" y="1447800"/>
                      <a:chExt cx="1219200" cy="457200"/>
                    </a:xfrm>
                  </p:grpSpPr>
                  <p:sp>
                    <p:nvSpPr>
                      <p:cNvPr id="112" name="Cube 111"/>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3" name="Cube 112"/>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4" name="Cube 113"/>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108" name="Group 107"/>
                    <p:cNvGrpSpPr/>
                    <p:nvPr/>
                  </p:nvGrpSpPr>
                  <p:grpSpPr>
                    <a:xfrm>
                      <a:off x="5264150" y="1447800"/>
                      <a:ext cx="1219200" cy="457200"/>
                      <a:chOff x="5257800" y="1447800"/>
                      <a:chExt cx="1219200" cy="457200"/>
                    </a:xfrm>
                  </p:grpSpPr>
                  <p:sp>
                    <p:nvSpPr>
                      <p:cNvPr id="109" name="Cube 108"/>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0" name="Cube 109"/>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1" name="Cube 110"/>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grpSp>
              <p:nvGrpSpPr>
                <p:cNvPr id="90" name="Group 89"/>
                <p:cNvGrpSpPr/>
                <p:nvPr/>
              </p:nvGrpSpPr>
              <p:grpSpPr>
                <a:xfrm>
                  <a:off x="5121275" y="1600200"/>
                  <a:ext cx="1222375" cy="1219200"/>
                  <a:chOff x="5121275" y="1600200"/>
                  <a:chExt cx="1222375" cy="1219200"/>
                </a:xfrm>
              </p:grpSpPr>
              <p:grpSp>
                <p:nvGrpSpPr>
                  <p:cNvPr id="91" name="Group 90"/>
                  <p:cNvGrpSpPr/>
                  <p:nvPr/>
                </p:nvGrpSpPr>
                <p:grpSpPr>
                  <a:xfrm>
                    <a:off x="5121275" y="2362200"/>
                    <a:ext cx="1219200" cy="457200"/>
                    <a:chOff x="5257800" y="1447800"/>
                    <a:chExt cx="1219200" cy="457200"/>
                  </a:xfrm>
                </p:grpSpPr>
                <p:sp>
                  <p:nvSpPr>
                    <p:cNvPr id="100" name="Cube 99"/>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01" name="Cube 100"/>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02" name="Cube 101"/>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92" name="Group 91"/>
                  <p:cNvGrpSpPr/>
                  <p:nvPr/>
                </p:nvGrpSpPr>
                <p:grpSpPr>
                  <a:xfrm>
                    <a:off x="5121275" y="1978025"/>
                    <a:ext cx="1219200" cy="457200"/>
                    <a:chOff x="5257800" y="1447800"/>
                    <a:chExt cx="1219200" cy="457200"/>
                  </a:xfrm>
                </p:grpSpPr>
                <p:sp>
                  <p:nvSpPr>
                    <p:cNvPr id="97" name="Cube 96"/>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98" name="Cube 97"/>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99" name="Cube 98"/>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93" name="Group 92"/>
                  <p:cNvGrpSpPr/>
                  <p:nvPr/>
                </p:nvGrpSpPr>
                <p:grpSpPr>
                  <a:xfrm>
                    <a:off x="5124450" y="1600200"/>
                    <a:ext cx="1219200" cy="457200"/>
                    <a:chOff x="5257800" y="1447800"/>
                    <a:chExt cx="1219200" cy="457200"/>
                  </a:xfrm>
                </p:grpSpPr>
                <p:sp>
                  <p:nvSpPr>
                    <p:cNvPr id="94" name="Cube 93"/>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95" name="Cube 94"/>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96" name="Cube 95"/>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grpSp>
        <p:grpSp>
          <p:nvGrpSpPr>
            <p:cNvPr id="17" name="Group 16"/>
            <p:cNvGrpSpPr/>
            <p:nvPr/>
          </p:nvGrpSpPr>
          <p:grpSpPr>
            <a:xfrm>
              <a:off x="4072388" y="1905654"/>
              <a:ext cx="938781" cy="1147200"/>
              <a:chOff x="6870174" y="911574"/>
              <a:chExt cx="938781" cy="1147200"/>
            </a:xfrm>
          </p:grpSpPr>
          <p:pic>
            <p:nvPicPr>
              <p:cNvPr id="33" name="Picture 32"/>
              <p:cNvPicPr>
                <a:picLocks noChangeAspect="1"/>
              </p:cNvPicPr>
              <p:nvPr/>
            </p:nvPicPr>
            <p:blipFill>
              <a:blip r:embed="rId3"/>
              <a:stretch>
                <a:fillRect/>
              </a:stretch>
            </p:blipFill>
            <p:spPr>
              <a:xfrm>
                <a:off x="6870174" y="911574"/>
                <a:ext cx="373364" cy="702802"/>
              </a:xfrm>
              <a:prstGeom prst="rect">
                <a:avLst/>
              </a:prstGeom>
            </p:spPr>
          </p:pic>
          <p:grpSp>
            <p:nvGrpSpPr>
              <p:cNvPr id="34" name="Group 33"/>
              <p:cNvGrpSpPr/>
              <p:nvPr/>
            </p:nvGrpSpPr>
            <p:grpSpPr>
              <a:xfrm>
                <a:off x="7110980" y="1150685"/>
                <a:ext cx="346609" cy="675340"/>
                <a:chOff x="656568" y="3477073"/>
                <a:chExt cx="1687683" cy="3288314"/>
              </a:xfrm>
            </p:grpSpPr>
            <p:grpSp>
              <p:nvGrpSpPr>
                <p:cNvPr id="76" name="Group 75"/>
                <p:cNvGrpSpPr>
                  <a:grpSpLocks noChangeAspect="1"/>
                </p:cNvGrpSpPr>
                <p:nvPr/>
              </p:nvGrpSpPr>
              <p:grpSpPr>
                <a:xfrm>
                  <a:off x="656568" y="5029457"/>
                  <a:ext cx="1684865" cy="1735930"/>
                  <a:chOff x="808037" y="2079361"/>
                  <a:chExt cx="1684865" cy="1735930"/>
                </a:xfrm>
              </p:grpSpPr>
              <p:sp>
                <p:nvSpPr>
                  <p:cNvPr id="82" name="Flowchart: Magnetic Disk 81"/>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3" name="Oval 82"/>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4" name="Flowchart: Magnetic Disk 83"/>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5" name="Oval 84"/>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77" name="Group 76"/>
                <p:cNvGrpSpPr>
                  <a:grpSpLocks noChangeAspect="1"/>
                </p:cNvGrpSpPr>
                <p:nvPr/>
              </p:nvGrpSpPr>
              <p:grpSpPr>
                <a:xfrm>
                  <a:off x="659386" y="3477073"/>
                  <a:ext cx="1684865" cy="1735930"/>
                  <a:chOff x="808037" y="2079361"/>
                  <a:chExt cx="1684865" cy="1735930"/>
                </a:xfrm>
              </p:grpSpPr>
              <p:sp>
                <p:nvSpPr>
                  <p:cNvPr id="78" name="Flowchart: Magnetic Disk 77"/>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9" name="Oval 78"/>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0" name="Flowchart: Magnetic Disk 79"/>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1" name="Oval 80"/>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35" name="Group 34"/>
              <p:cNvGrpSpPr>
                <a:grpSpLocks noChangeAspect="1"/>
              </p:cNvGrpSpPr>
              <p:nvPr/>
            </p:nvGrpSpPr>
            <p:grpSpPr>
              <a:xfrm>
                <a:off x="7303873" y="1548375"/>
                <a:ext cx="505082" cy="510399"/>
                <a:chOff x="5121275" y="1295400"/>
                <a:chExt cx="1508125" cy="1524000"/>
              </a:xfrm>
            </p:grpSpPr>
            <p:grpSp>
              <p:nvGrpSpPr>
                <p:cNvPr id="36" name="Group 35"/>
                <p:cNvGrpSpPr/>
                <p:nvPr/>
              </p:nvGrpSpPr>
              <p:grpSpPr>
                <a:xfrm>
                  <a:off x="5264150" y="1295400"/>
                  <a:ext cx="1365250" cy="1370012"/>
                  <a:chOff x="5264150" y="1295400"/>
                  <a:chExt cx="1365250" cy="1370012"/>
                </a:xfrm>
              </p:grpSpPr>
              <p:grpSp>
                <p:nvGrpSpPr>
                  <p:cNvPr id="50" name="Group 49"/>
                  <p:cNvGrpSpPr/>
                  <p:nvPr/>
                </p:nvGrpSpPr>
                <p:grpSpPr>
                  <a:xfrm>
                    <a:off x="5264150" y="2057400"/>
                    <a:ext cx="1365250" cy="608012"/>
                    <a:chOff x="5264150" y="2057400"/>
                    <a:chExt cx="1365250" cy="608012"/>
                  </a:xfrm>
                </p:grpSpPr>
                <p:grpSp>
                  <p:nvGrpSpPr>
                    <p:cNvPr id="68" name="Group 67"/>
                    <p:cNvGrpSpPr/>
                    <p:nvPr/>
                  </p:nvGrpSpPr>
                  <p:grpSpPr>
                    <a:xfrm>
                      <a:off x="5410200" y="2057400"/>
                      <a:ext cx="1219200" cy="457200"/>
                      <a:chOff x="5257800" y="1447800"/>
                      <a:chExt cx="1219200" cy="457200"/>
                    </a:xfrm>
                  </p:grpSpPr>
                  <p:sp>
                    <p:nvSpPr>
                      <p:cNvPr id="73" name="Cube 72"/>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4" name="Cube 73"/>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5" name="Cube 74"/>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69" name="Group 68"/>
                    <p:cNvGrpSpPr/>
                    <p:nvPr/>
                  </p:nvGrpSpPr>
                  <p:grpSpPr>
                    <a:xfrm>
                      <a:off x="5264150" y="2208212"/>
                      <a:ext cx="1219200" cy="457200"/>
                      <a:chOff x="5257800" y="1447800"/>
                      <a:chExt cx="1219200" cy="457200"/>
                    </a:xfrm>
                  </p:grpSpPr>
                  <p:sp>
                    <p:nvSpPr>
                      <p:cNvPr id="70" name="Cube 69"/>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1" name="Cube 70"/>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2" name="Cube 71"/>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nvGrpSpPr>
                  <p:cNvPr id="51" name="Group 50"/>
                  <p:cNvGrpSpPr/>
                  <p:nvPr/>
                </p:nvGrpSpPr>
                <p:grpSpPr>
                  <a:xfrm>
                    <a:off x="5264150" y="1295400"/>
                    <a:ext cx="1365250" cy="990600"/>
                    <a:chOff x="5264150" y="1295400"/>
                    <a:chExt cx="1365250" cy="990600"/>
                  </a:xfrm>
                </p:grpSpPr>
                <p:grpSp>
                  <p:nvGrpSpPr>
                    <p:cNvPr id="52" name="Group 51"/>
                    <p:cNvGrpSpPr/>
                    <p:nvPr/>
                  </p:nvGrpSpPr>
                  <p:grpSpPr>
                    <a:xfrm>
                      <a:off x="5410200" y="1676400"/>
                      <a:ext cx="1219200" cy="457200"/>
                      <a:chOff x="5257800" y="1447800"/>
                      <a:chExt cx="1219200" cy="457200"/>
                    </a:xfrm>
                  </p:grpSpPr>
                  <p:sp>
                    <p:nvSpPr>
                      <p:cNvPr id="65" name="Cube 64"/>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6" name="Cube 65"/>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7" name="Cube 66"/>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53" name="Group 52"/>
                    <p:cNvGrpSpPr/>
                    <p:nvPr/>
                  </p:nvGrpSpPr>
                  <p:grpSpPr>
                    <a:xfrm>
                      <a:off x="5410200" y="1295400"/>
                      <a:ext cx="1219200" cy="457200"/>
                      <a:chOff x="5257800" y="1447800"/>
                      <a:chExt cx="1219200" cy="457200"/>
                    </a:xfrm>
                  </p:grpSpPr>
                  <p:sp>
                    <p:nvSpPr>
                      <p:cNvPr id="62" name="Cube 61"/>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3" name="Cube 62"/>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4" name="Cube 63"/>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54" name="Group 53"/>
                    <p:cNvGrpSpPr/>
                    <p:nvPr/>
                  </p:nvGrpSpPr>
                  <p:grpSpPr>
                    <a:xfrm>
                      <a:off x="5264150" y="1828800"/>
                      <a:ext cx="1219200" cy="457200"/>
                      <a:chOff x="5257800" y="1447800"/>
                      <a:chExt cx="1219200" cy="457200"/>
                    </a:xfrm>
                  </p:grpSpPr>
                  <p:sp>
                    <p:nvSpPr>
                      <p:cNvPr id="59" name="Cube 58"/>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0" name="Cube 59"/>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1" name="Cube 60"/>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55" name="Group 54"/>
                    <p:cNvGrpSpPr/>
                    <p:nvPr/>
                  </p:nvGrpSpPr>
                  <p:grpSpPr>
                    <a:xfrm>
                      <a:off x="5264150" y="1447800"/>
                      <a:ext cx="1219200" cy="457200"/>
                      <a:chOff x="5257800" y="1447800"/>
                      <a:chExt cx="1219200" cy="457200"/>
                    </a:xfrm>
                  </p:grpSpPr>
                  <p:sp>
                    <p:nvSpPr>
                      <p:cNvPr id="56" name="Cube 55"/>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7" name="Cube 56"/>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8" name="Cube 57"/>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grpSp>
              <p:nvGrpSpPr>
                <p:cNvPr id="37" name="Group 36"/>
                <p:cNvGrpSpPr/>
                <p:nvPr/>
              </p:nvGrpSpPr>
              <p:grpSpPr>
                <a:xfrm>
                  <a:off x="5121275" y="1600200"/>
                  <a:ext cx="1222375" cy="1219200"/>
                  <a:chOff x="5121275" y="1600200"/>
                  <a:chExt cx="1222375" cy="1219200"/>
                </a:xfrm>
              </p:grpSpPr>
              <p:grpSp>
                <p:nvGrpSpPr>
                  <p:cNvPr id="38" name="Group 37"/>
                  <p:cNvGrpSpPr/>
                  <p:nvPr/>
                </p:nvGrpSpPr>
                <p:grpSpPr>
                  <a:xfrm>
                    <a:off x="5121275" y="2362200"/>
                    <a:ext cx="1219200" cy="457200"/>
                    <a:chOff x="5257800" y="1447800"/>
                    <a:chExt cx="1219200" cy="457200"/>
                  </a:xfrm>
                </p:grpSpPr>
                <p:sp>
                  <p:nvSpPr>
                    <p:cNvPr id="47" name="Cube 46"/>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8" name="Cube 47"/>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9" name="Cube 48"/>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39" name="Group 38"/>
                  <p:cNvGrpSpPr/>
                  <p:nvPr/>
                </p:nvGrpSpPr>
                <p:grpSpPr>
                  <a:xfrm>
                    <a:off x="5121275" y="1978025"/>
                    <a:ext cx="1219200" cy="457200"/>
                    <a:chOff x="5257800" y="1447800"/>
                    <a:chExt cx="1219200" cy="457200"/>
                  </a:xfrm>
                </p:grpSpPr>
                <p:sp>
                  <p:nvSpPr>
                    <p:cNvPr id="44" name="Cube 43"/>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5" name="Cube 44"/>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6" name="Cube 45"/>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40" name="Group 39"/>
                  <p:cNvGrpSpPr/>
                  <p:nvPr/>
                </p:nvGrpSpPr>
                <p:grpSpPr>
                  <a:xfrm>
                    <a:off x="5124450" y="1600200"/>
                    <a:ext cx="1219200" cy="457200"/>
                    <a:chOff x="5257800" y="1447800"/>
                    <a:chExt cx="1219200" cy="457200"/>
                  </a:xfrm>
                </p:grpSpPr>
                <p:sp>
                  <p:nvSpPr>
                    <p:cNvPr id="41" name="Cube 40"/>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2" name="Cube 41"/>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3" name="Cube 42"/>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grpSp>
        <p:grpSp>
          <p:nvGrpSpPr>
            <p:cNvPr id="18" name="Group 17"/>
            <p:cNvGrpSpPr/>
            <p:nvPr/>
          </p:nvGrpSpPr>
          <p:grpSpPr>
            <a:xfrm>
              <a:off x="8109597" y="3329968"/>
              <a:ext cx="587415" cy="914451"/>
              <a:chOff x="10572322" y="2369783"/>
              <a:chExt cx="587415" cy="914451"/>
            </a:xfrm>
          </p:grpSpPr>
          <p:pic>
            <p:nvPicPr>
              <p:cNvPr id="21" name="Picture 20"/>
              <p:cNvPicPr>
                <a:picLocks noChangeAspect="1"/>
              </p:cNvPicPr>
              <p:nvPr/>
            </p:nvPicPr>
            <p:blipFill>
              <a:blip r:embed="rId3"/>
              <a:stretch>
                <a:fillRect/>
              </a:stretch>
            </p:blipFill>
            <p:spPr>
              <a:xfrm>
                <a:off x="10572322" y="2369783"/>
                <a:ext cx="373364" cy="702802"/>
              </a:xfrm>
              <a:prstGeom prst="rect">
                <a:avLst/>
              </a:prstGeom>
            </p:spPr>
          </p:pic>
          <p:grpSp>
            <p:nvGrpSpPr>
              <p:cNvPr id="22" name="Group 21"/>
              <p:cNvGrpSpPr/>
              <p:nvPr/>
            </p:nvGrpSpPr>
            <p:grpSpPr>
              <a:xfrm>
                <a:off x="10813128" y="2608894"/>
                <a:ext cx="346609" cy="675340"/>
                <a:chOff x="656568" y="3477073"/>
                <a:chExt cx="1687683" cy="3288314"/>
              </a:xfrm>
            </p:grpSpPr>
            <p:grpSp>
              <p:nvGrpSpPr>
                <p:cNvPr id="23" name="Group 22"/>
                <p:cNvGrpSpPr>
                  <a:grpSpLocks noChangeAspect="1"/>
                </p:cNvGrpSpPr>
                <p:nvPr/>
              </p:nvGrpSpPr>
              <p:grpSpPr>
                <a:xfrm>
                  <a:off x="656568" y="5029457"/>
                  <a:ext cx="1684865" cy="1735930"/>
                  <a:chOff x="808037" y="2079361"/>
                  <a:chExt cx="1684865" cy="1735930"/>
                </a:xfrm>
              </p:grpSpPr>
              <p:sp>
                <p:nvSpPr>
                  <p:cNvPr id="29" name="Flowchart: Magnetic Disk 28"/>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0" name="Oval 29"/>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1" name="Flowchart: Magnetic Disk 30"/>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2" name="Oval 31"/>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4" name="Group 23"/>
                <p:cNvGrpSpPr>
                  <a:grpSpLocks noChangeAspect="1"/>
                </p:cNvGrpSpPr>
                <p:nvPr/>
              </p:nvGrpSpPr>
              <p:grpSpPr>
                <a:xfrm>
                  <a:off x="659386" y="3477073"/>
                  <a:ext cx="1684865" cy="1735930"/>
                  <a:chOff x="808037" y="2079361"/>
                  <a:chExt cx="1684865" cy="1735930"/>
                </a:xfrm>
              </p:grpSpPr>
              <p:sp>
                <p:nvSpPr>
                  <p:cNvPr id="25" name="Flowchart: Magnetic Disk 24"/>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6" name="Oval 25"/>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7" name="Flowchart: Magnetic Disk 26"/>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8" name="Oval 27"/>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grpSp>
        <p:pic>
          <p:nvPicPr>
            <p:cNvPr id="19" name="Picture 18"/>
            <p:cNvPicPr>
              <a:picLocks noChangeAspect="1"/>
            </p:cNvPicPr>
            <p:nvPr/>
          </p:nvPicPr>
          <p:blipFill>
            <a:blip r:embed="rId4"/>
            <a:stretch>
              <a:fillRect/>
            </a:stretch>
          </p:blipFill>
          <p:spPr>
            <a:xfrm rot="5400000" flipH="1">
              <a:off x="8792138" y="4360842"/>
              <a:ext cx="570089" cy="727354"/>
            </a:xfrm>
            <a:prstGeom prst="rect">
              <a:avLst/>
            </a:prstGeom>
          </p:spPr>
        </p:pic>
        <p:pic>
          <p:nvPicPr>
            <p:cNvPr id="20" name="Picture 19"/>
            <p:cNvPicPr>
              <a:picLocks noChangeAspect="1"/>
            </p:cNvPicPr>
            <p:nvPr/>
          </p:nvPicPr>
          <p:blipFill>
            <a:blip r:embed="rId5"/>
            <a:stretch>
              <a:fillRect/>
            </a:stretch>
          </p:blipFill>
          <p:spPr>
            <a:xfrm flipH="1">
              <a:off x="7839295" y="3944642"/>
              <a:ext cx="1481612" cy="1481612"/>
            </a:xfrm>
            <a:prstGeom prst="rect">
              <a:avLst/>
            </a:prstGeom>
          </p:spPr>
        </p:pic>
      </p:grpSp>
    </p:spTree>
    <p:extLst>
      <p:ext uri="{BB962C8B-B14F-4D97-AF65-F5344CB8AC3E}">
        <p14:creationId xmlns:p14="http://schemas.microsoft.com/office/powerpoint/2010/main" val="109021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3cc778dc-bb23-4c31-9c73-a24a2ff1b08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Qu’est-ce qu’un domaine AD DS ?</a:t>
            </a:r>
          </a:p>
        </p:txBody>
      </p:sp>
      <p:sp>
        <p:nvSpPr>
          <p:cNvPr id="4" name="bottom bullets"/>
          <p:cNvSpPr>
            <a:spLocks noChangeArrowheads="1"/>
          </p:cNvSpPr>
          <p:nvPr/>
        </p:nvSpPr>
        <p:spPr bwMode="auto">
          <a:xfrm>
            <a:off x="260117" y="2438400"/>
            <a:ext cx="5447396" cy="3527976"/>
          </a:xfrm>
          <a:prstGeom prst="roundRect">
            <a:avLst>
              <a:gd name="adj" fmla="val 8866"/>
            </a:avLst>
          </a:prstGeom>
          <a:ln>
            <a:headEnd/>
            <a:tailEnd/>
          </a:ln>
        </p:spPr>
        <p:style>
          <a:lnRef idx="2">
            <a:schemeClr val="accent1"/>
          </a:lnRef>
          <a:fillRef idx="1">
            <a:schemeClr val="lt1"/>
          </a:fillRef>
          <a:effectRef idx="0">
            <a:schemeClr val="accent1"/>
          </a:effectRef>
          <a:fontRef idx="minor">
            <a:schemeClr val="dk1"/>
          </a:fontRef>
        </p:style>
        <p:txBody>
          <a:bodyPr tIns="0" numCol="1" spcCol="274320"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spcAft>
                <a:spcPts val="300"/>
              </a:spcAft>
              <a:buClr>
                <a:srgbClr val="0070C0"/>
              </a:buClr>
              <a:buSzPct val="120000"/>
              <a:buFont typeface="Arial" pitchFamily="34" charset="0"/>
              <a:buChar char="•"/>
            </a:pPr>
            <a:r>
              <a:rPr lang="fr-FR" sz="2000" b="0" dirty="0">
                <a:solidFill>
                  <a:srgbClr val="000000"/>
                </a:solidFill>
                <a:latin typeface="Segoe UI" pitchFamily="34" charset="0"/>
              </a:rPr>
              <a:t>Le nom de domaine est une limite de réplication</a:t>
            </a:r>
          </a:p>
          <a:p>
            <a:pPr marL="180000" indent="-180000">
              <a:spcAft>
                <a:spcPts val="300"/>
              </a:spcAft>
              <a:buClr>
                <a:srgbClr val="0070C0"/>
              </a:buClr>
              <a:buSzPct val="120000"/>
              <a:buFont typeface="Arial" pitchFamily="34" charset="0"/>
              <a:buChar char="•"/>
            </a:pPr>
            <a:r>
              <a:rPr lang="fr-FR" sz="2000" b="0" dirty="0">
                <a:solidFill>
                  <a:srgbClr val="000000"/>
                </a:solidFill>
                <a:latin typeface="Segoe UI" pitchFamily="34" charset="0"/>
              </a:rPr>
              <a:t>Le domaine est un centre administratif pour la configuration et la gestion des objets</a:t>
            </a:r>
          </a:p>
          <a:p>
            <a:pPr marL="180000" indent="-180000">
              <a:spcAft>
                <a:spcPts val="300"/>
              </a:spcAft>
              <a:buClr>
                <a:srgbClr val="0070C0"/>
              </a:buClr>
              <a:buSzPct val="120000"/>
              <a:buFont typeface="Arial" pitchFamily="34" charset="0"/>
              <a:buChar char="•"/>
            </a:pPr>
            <a:r>
              <a:rPr lang="fr-FR" sz="2000" b="0" dirty="0">
                <a:solidFill>
                  <a:srgbClr val="000000"/>
                </a:solidFill>
                <a:latin typeface="Segoe UI" pitchFamily="34" charset="0"/>
              </a:rPr>
              <a:t>Tout contrôleur de domaine peut authentifier n’importe quelles infos d’identification, partout dans le domaine</a:t>
            </a:r>
          </a:p>
          <a:p>
            <a:pPr marL="180000" indent="-180000">
              <a:spcAft>
                <a:spcPts val="300"/>
              </a:spcAft>
              <a:buClr>
                <a:srgbClr val="0070C0"/>
              </a:buClr>
              <a:buSzPct val="120000"/>
              <a:buFont typeface="Arial" pitchFamily="34" charset="0"/>
              <a:buChar char="•"/>
            </a:pPr>
            <a:r>
              <a:rPr lang="fr-FR" sz="2000" b="0" dirty="0">
                <a:solidFill>
                  <a:srgbClr val="000000"/>
                </a:solidFill>
                <a:latin typeface="Segoe UI" pitchFamily="34" charset="0"/>
              </a:rPr>
              <a:t>Le domaine donne l’autorisation</a:t>
            </a:r>
            <a:endParaRPr lang="fr-FR" sz="2000" b="0" dirty="0">
              <a:solidFill>
                <a:srgbClr val="000000"/>
              </a:solidFill>
              <a:latin typeface="Segoe UI" pitchFamily="34" charset="0"/>
              <a:ea typeface="Segoe UI" pitchFamily="34" charset="0"/>
              <a:cs typeface="Segoe UI" pitchFamily="34" charset="0"/>
            </a:endParaRPr>
          </a:p>
        </p:txBody>
      </p:sp>
      <p:sp>
        <p:nvSpPr>
          <p:cNvPr id="5" name="top bullets"/>
          <p:cNvSpPr>
            <a:spLocks noChangeArrowheads="1"/>
          </p:cNvSpPr>
          <p:nvPr/>
        </p:nvSpPr>
        <p:spPr bwMode="auto">
          <a:xfrm>
            <a:off x="327023" y="825303"/>
            <a:ext cx="8039008" cy="1888295"/>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fontAlgn="base">
              <a:spcBef>
                <a:spcPct val="0"/>
              </a:spcBef>
              <a:spcAft>
                <a:spcPts val="300"/>
              </a:spcAft>
              <a:buClr>
                <a:srgbClr val="0070C0"/>
              </a:buClr>
              <a:buSzPct val="120000"/>
              <a:buFont typeface="Arial" pitchFamily="34" charset="0"/>
              <a:buChar char="•"/>
            </a:pPr>
            <a:r>
              <a:rPr lang="fr-FR" sz="2000" b="0" dirty="0">
                <a:solidFill>
                  <a:srgbClr val="000000"/>
                </a:solidFill>
                <a:latin typeface="Segoe UI" pitchFamily="34" charset="0"/>
              </a:rPr>
              <a:t>AD DS nécessite un ou plusieurs contrôleurs de domaine</a:t>
            </a:r>
          </a:p>
          <a:p>
            <a:pPr marL="180000" indent="-180000" fontAlgn="base">
              <a:spcBef>
                <a:spcPct val="0"/>
              </a:spcBef>
              <a:spcAft>
                <a:spcPts val="300"/>
              </a:spcAft>
              <a:buClr>
                <a:srgbClr val="0070C0"/>
              </a:buClr>
              <a:buSzPct val="120000"/>
              <a:buFont typeface="Arial" pitchFamily="34" charset="0"/>
              <a:buChar char="•"/>
            </a:pPr>
            <a:r>
              <a:rPr lang="fr-FR" sz="2000" b="0" dirty="0">
                <a:solidFill>
                  <a:srgbClr val="000000"/>
                </a:solidFill>
                <a:latin typeface="Segoe UI" pitchFamily="34" charset="0"/>
              </a:rPr>
              <a:t>Tous les contrôleurs de domaine détiennent une copie de la base de données</a:t>
            </a:r>
            <a:r>
              <a:rPr lang="en-US" sz="2000" b="0" dirty="0">
                <a:solidFill>
                  <a:srgbClr val="000000"/>
                </a:solidFill>
                <a:latin typeface="Segoe UI" pitchFamily="34" charset="0"/>
              </a:rPr>
              <a:t> </a:t>
            </a:r>
            <a:r>
              <a:rPr lang="fr-FR" sz="2000" b="0" dirty="0">
                <a:solidFill>
                  <a:srgbClr val="000000"/>
                </a:solidFill>
                <a:latin typeface="Segoe UI" pitchFamily="34" charset="0"/>
              </a:rPr>
              <a:t>de domaine, qui est continuellement synchronisée</a:t>
            </a:r>
          </a:p>
          <a:p>
            <a:pPr marL="180000" indent="-180000">
              <a:spcAft>
                <a:spcPts val="300"/>
              </a:spcAft>
              <a:buClr>
                <a:srgbClr val="0070C0"/>
              </a:buClr>
              <a:buSzPct val="120000"/>
              <a:buFont typeface="Arial" pitchFamily="34" charset="0"/>
              <a:buChar char="•"/>
            </a:pPr>
            <a:r>
              <a:rPr lang="fr-FR" sz="2000" b="0" dirty="0">
                <a:solidFill>
                  <a:srgbClr val="000000"/>
                </a:solidFill>
                <a:latin typeface="Segoe UI" pitchFamily="34" charset="0"/>
              </a:rPr>
              <a:t>Le domaine est le contexte dans lequel les comptes d’utilisateurs, les comptes d’ordinateurs et les groupes sont créés</a:t>
            </a:r>
          </a:p>
          <a:p>
            <a:pPr fontAlgn="base">
              <a:spcBef>
                <a:spcPct val="0"/>
              </a:spcBef>
              <a:spcAft>
                <a:spcPts val="600"/>
              </a:spcAft>
              <a:buClr>
                <a:srgbClr val="0070C0"/>
              </a:buClr>
              <a:buSzPct val="120000"/>
            </a:pPr>
            <a:endParaRPr lang="fr-FR" sz="2000" b="0" dirty="0">
              <a:solidFill>
                <a:srgbClr val="000000"/>
              </a:solidFill>
              <a:latin typeface="Segoe UI" pitchFamily="34" charset="0"/>
              <a:ea typeface="Segoe UI" pitchFamily="34" charset="0"/>
              <a:cs typeface="Segoe UI" pitchFamily="34" charset="0"/>
            </a:endParaRPr>
          </a:p>
        </p:txBody>
      </p:sp>
      <p:grpSp>
        <p:nvGrpSpPr>
          <p:cNvPr id="6" name="Group 5" descr="Un simple schéma d’un domaine Active Directory Domain Services (AD DS) (représenté par un triangle) qui contient des utilisateurs, des ordinateurs et des groupes.&#10;&#10;"/>
          <p:cNvGrpSpPr/>
          <p:nvPr/>
        </p:nvGrpSpPr>
        <p:grpSpPr>
          <a:xfrm>
            <a:off x="5325281" y="2854196"/>
            <a:ext cx="4047319" cy="3231791"/>
            <a:chOff x="4384509" y="1767028"/>
            <a:chExt cx="4047319" cy="3231791"/>
          </a:xfrm>
        </p:grpSpPr>
        <p:sp>
          <p:nvSpPr>
            <p:cNvPr id="7" name="triangle"/>
            <p:cNvSpPr>
              <a:spLocks noChangeAspect="1"/>
            </p:cNvSpPr>
            <p:nvPr/>
          </p:nvSpPr>
          <p:spPr>
            <a:xfrm>
              <a:off x="4384509" y="1767028"/>
              <a:ext cx="3422982" cy="2849531"/>
            </a:xfrm>
            <a:prstGeom prst="triangle">
              <a:avLst/>
            </a:prstGeom>
            <a:noFill/>
            <a:ln>
              <a:solidFill>
                <a:srgbClr val="569A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latin typeface="Segoe UI" panose="020B0502040204020203" pitchFamily="34" charset="0"/>
                <a:cs typeface="Segoe UI" panose="020B0502040204020203" pitchFamily="34" charset="0"/>
              </a:endParaRPr>
            </a:p>
          </p:txBody>
        </p:sp>
        <p:sp>
          <p:nvSpPr>
            <p:cNvPr id="8" name="&quot;AD DS"/>
            <p:cNvSpPr>
              <a:spLocks noChangeArrowheads="1"/>
            </p:cNvSpPr>
            <p:nvPr/>
          </p:nvSpPr>
          <p:spPr bwMode="auto">
            <a:xfrm>
              <a:off x="6442541" y="3191793"/>
              <a:ext cx="1056840" cy="362366"/>
            </a:xfrm>
            <a:prstGeom prst="roundRect">
              <a:avLst>
                <a:gd name="adj" fmla="val 5798"/>
              </a:avLst>
            </a:prstGeom>
            <a:solidFill>
              <a:schemeClr val="lt1"/>
            </a:solid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fr-FR" sz="2400" b="0" dirty="0">
                  <a:solidFill>
                    <a:srgbClr val="000000"/>
                  </a:solidFill>
                  <a:latin typeface="Segoe UI" panose="020B0502040204020203" pitchFamily="34" charset="0"/>
                </a:rPr>
                <a:t>AD DS</a:t>
              </a:r>
            </a:p>
            <a:p>
              <a:pPr fontAlgn="base">
                <a:spcBef>
                  <a:spcPct val="0"/>
                </a:spcBef>
                <a:spcAft>
                  <a:spcPct val="0"/>
                </a:spcAft>
              </a:pPr>
              <a:endParaRPr lang="fr-FR"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fr-FR"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fr-FR"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fr-FR" sz="2000" b="0" dirty="0">
                <a:solidFill>
                  <a:srgbClr val="000000"/>
                </a:solidFill>
                <a:latin typeface="Segoe UI" pitchFamily="34" charset="0"/>
                <a:ea typeface="Segoe UI" pitchFamily="34" charset="0"/>
                <a:cs typeface="Segoe UI" pitchFamily="34" charset="0"/>
              </a:endParaRPr>
            </a:p>
            <a:p>
              <a:pPr fontAlgn="base">
                <a:spcBef>
                  <a:spcPct val="0"/>
                </a:spcBef>
                <a:spcAft>
                  <a:spcPct val="0"/>
                </a:spcAft>
              </a:pPr>
              <a:endParaRPr lang="fr-FR" sz="2000" b="0" dirty="0">
                <a:solidFill>
                  <a:srgbClr val="000000"/>
                </a:solidFill>
                <a:latin typeface="Segoe UI" pitchFamily="34" charset="0"/>
                <a:ea typeface="Segoe UI" pitchFamily="34" charset="0"/>
                <a:cs typeface="Segoe UI" pitchFamily="34" charset="0"/>
              </a:endParaRPr>
            </a:p>
          </p:txBody>
        </p:sp>
        <p:sp>
          <p:nvSpPr>
            <p:cNvPr id="9" name="&quot;Computers"/>
            <p:cNvSpPr>
              <a:spLocks noChangeArrowheads="1"/>
            </p:cNvSpPr>
            <p:nvPr/>
          </p:nvSpPr>
          <p:spPr bwMode="auto">
            <a:xfrm>
              <a:off x="4805744" y="4636453"/>
              <a:ext cx="1389288"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fr-FR" sz="2000" b="0" dirty="0">
                  <a:solidFill>
                    <a:srgbClr val="000000"/>
                  </a:solidFill>
                  <a:latin typeface="Segoe UI" panose="020B0502040204020203" pitchFamily="34" charset="0"/>
                </a:rPr>
                <a:t>Ordinateurs</a:t>
              </a:r>
            </a:p>
          </p:txBody>
        </p:sp>
        <p:sp>
          <p:nvSpPr>
            <p:cNvPr id="10" name="&quot;Users"/>
            <p:cNvSpPr>
              <a:spLocks noChangeArrowheads="1"/>
            </p:cNvSpPr>
            <p:nvPr/>
          </p:nvSpPr>
          <p:spPr bwMode="auto">
            <a:xfrm>
              <a:off x="5460028" y="2893866"/>
              <a:ext cx="1422019"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fr-FR" sz="2000" b="0" dirty="0">
                  <a:solidFill>
                    <a:srgbClr val="000000"/>
                  </a:solidFill>
                  <a:latin typeface="Segoe UI" panose="020B0502040204020203" pitchFamily="34" charset="0"/>
                </a:rPr>
                <a:t>Utilisateurs</a:t>
              </a:r>
            </a:p>
          </p:txBody>
        </p:sp>
        <p:sp>
          <p:nvSpPr>
            <p:cNvPr id="11" name="&quot;Gropus"/>
            <p:cNvSpPr>
              <a:spLocks noChangeArrowheads="1"/>
            </p:cNvSpPr>
            <p:nvPr/>
          </p:nvSpPr>
          <p:spPr bwMode="auto">
            <a:xfrm>
              <a:off x="6380006" y="4636453"/>
              <a:ext cx="2051822" cy="362366"/>
            </a:xfrm>
            <a:prstGeom prst="roundRect">
              <a:avLst>
                <a:gd name="adj" fmla="val 5798"/>
              </a:avLst>
            </a:prstGeom>
            <a:noFill/>
            <a:ln>
              <a:noFill/>
              <a:headEnd/>
              <a:tailEnd/>
            </a:ln>
            <a:extLst/>
          </p:spPr>
          <p:style>
            <a:lnRef idx="2">
              <a:schemeClr val="accent1"/>
            </a:lnRef>
            <a:fillRef idx="1">
              <a:schemeClr val="lt1"/>
            </a:fillRef>
            <a:effectRef idx="0">
              <a:schemeClr val="accent1"/>
            </a:effectRef>
            <a:fontRef idx="minor">
              <a:schemeClr val="dk1"/>
            </a:fontRef>
          </p:style>
          <p:txBody>
            <a:bodyPr lIns="0" tIns="0" rIns="0" bIns="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fontAlgn="base">
                <a:spcBef>
                  <a:spcPct val="0"/>
                </a:spcBef>
                <a:spcAft>
                  <a:spcPts val="600"/>
                </a:spcAft>
                <a:buClr>
                  <a:srgbClr val="0070C0"/>
                </a:buClr>
                <a:buSzPct val="120000"/>
              </a:pPr>
              <a:r>
                <a:rPr lang="fr-FR" sz="2000" b="0" dirty="0">
                  <a:solidFill>
                    <a:srgbClr val="000000"/>
                  </a:solidFill>
                  <a:latin typeface="Segoe UI" panose="020B0502040204020203" pitchFamily="34" charset="0"/>
                </a:rPr>
                <a:t>Groupes</a:t>
              </a:r>
            </a:p>
            <a:p>
              <a:pPr fontAlgn="base">
                <a:spcBef>
                  <a:spcPct val="0"/>
                </a:spcBef>
                <a:spcAft>
                  <a:spcPct val="0"/>
                </a:spcAft>
              </a:pPr>
              <a:endParaRPr lang="fr-FR" sz="2000" b="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fontAlgn="base">
                <a:spcBef>
                  <a:spcPct val="0"/>
                </a:spcBef>
                <a:spcAft>
                  <a:spcPct val="0"/>
                </a:spcAft>
              </a:pPr>
              <a:endParaRPr lang="fr-FR" sz="2000" b="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fontAlgn="base">
                <a:spcBef>
                  <a:spcPct val="0"/>
                </a:spcBef>
                <a:spcAft>
                  <a:spcPct val="0"/>
                </a:spcAft>
              </a:pPr>
              <a:endParaRPr lang="fr-FR" sz="2000" b="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fontAlgn="base">
                <a:spcBef>
                  <a:spcPct val="0"/>
                </a:spcBef>
                <a:spcAft>
                  <a:spcPct val="0"/>
                </a:spcAft>
              </a:pPr>
              <a:endParaRPr lang="fr-FR" sz="2000" b="0"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12" name="Picture 11"/>
            <p:cNvPicPr>
              <a:picLocks noChangeAspect="1"/>
            </p:cNvPicPr>
            <p:nvPr/>
          </p:nvPicPr>
          <p:blipFill>
            <a:blip r:embed="rId3"/>
            <a:stretch>
              <a:fillRect/>
            </a:stretch>
          </p:blipFill>
          <p:spPr>
            <a:xfrm>
              <a:off x="5573906" y="2016163"/>
              <a:ext cx="1044188" cy="616743"/>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51146" y="2229348"/>
              <a:ext cx="711482" cy="721032"/>
            </a:xfrm>
            <a:prstGeom prst="rect">
              <a:avLst/>
            </a:prstGeom>
          </p:spPr>
        </p:pic>
        <p:grpSp>
          <p:nvGrpSpPr>
            <p:cNvPr id="14" name="Group 13"/>
            <p:cNvGrpSpPr/>
            <p:nvPr/>
          </p:nvGrpSpPr>
          <p:grpSpPr>
            <a:xfrm>
              <a:off x="6054478" y="3710867"/>
              <a:ext cx="1343319" cy="917983"/>
              <a:chOff x="6270803" y="3821254"/>
              <a:chExt cx="1155803" cy="789840"/>
            </a:xfrm>
          </p:grpSpPr>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12234" y="3821254"/>
                <a:ext cx="614372" cy="663097"/>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70803" y="3947997"/>
                <a:ext cx="614372" cy="663097"/>
              </a:xfrm>
              <a:prstGeom prst="rect">
                <a:avLst/>
              </a:prstGeom>
            </p:spPr>
          </p:pic>
        </p:grpSp>
        <p:grpSp>
          <p:nvGrpSpPr>
            <p:cNvPr id="15" name="Group 14"/>
            <p:cNvGrpSpPr/>
            <p:nvPr/>
          </p:nvGrpSpPr>
          <p:grpSpPr>
            <a:xfrm>
              <a:off x="4567495" y="3586597"/>
              <a:ext cx="1230786" cy="1321148"/>
              <a:chOff x="4476341" y="3586597"/>
              <a:chExt cx="1230786" cy="1321148"/>
            </a:xfrm>
          </p:grpSpPr>
          <p:pic>
            <p:nvPicPr>
              <p:cNvPr id="16" name="Picture 15"/>
              <p:cNvPicPr>
                <a:picLocks noChangeAspect="1"/>
              </p:cNvPicPr>
              <p:nvPr/>
            </p:nvPicPr>
            <p:blipFill>
              <a:blip r:embed="rId6"/>
              <a:stretch>
                <a:fillRect/>
              </a:stretch>
            </p:blipFill>
            <p:spPr>
              <a:xfrm>
                <a:off x="5252976" y="3748267"/>
                <a:ext cx="454151" cy="854871"/>
              </a:xfrm>
              <a:prstGeom prst="rect">
                <a:avLst/>
              </a:prstGeom>
            </p:spPr>
          </p:pic>
          <p:grpSp>
            <p:nvGrpSpPr>
              <p:cNvPr id="17" name="Group 16"/>
              <p:cNvGrpSpPr/>
              <p:nvPr/>
            </p:nvGrpSpPr>
            <p:grpSpPr>
              <a:xfrm>
                <a:off x="4805246" y="3586597"/>
                <a:ext cx="595969" cy="608057"/>
                <a:chOff x="1112473" y="4527839"/>
                <a:chExt cx="1615016" cy="1647774"/>
              </a:xfrm>
            </p:grpSpPr>
            <p:pic>
              <p:nvPicPr>
                <p:cNvPr id="19" name="Picture 18"/>
                <p:cNvPicPr>
                  <a:picLocks noChangeAspect="1"/>
                </p:cNvPicPr>
                <p:nvPr/>
              </p:nvPicPr>
              <p:blipFill>
                <a:blip r:embed="rId7"/>
                <a:stretch>
                  <a:fillRect/>
                </a:stretch>
              </p:blipFill>
              <p:spPr>
                <a:xfrm rot="16200000">
                  <a:off x="1287068" y="4735193"/>
                  <a:ext cx="1265825" cy="1615016"/>
                </a:xfrm>
                <a:prstGeom prst="rect">
                  <a:avLst/>
                </a:prstGeom>
              </p:spPr>
            </p:pic>
            <p:pic>
              <p:nvPicPr>
                <p:cNvPr id="20" name="Picture 19"/>
                <p:cNvPicPr>
                  <a:picLocks noChangeAspect="1"/>
                </p:cNvPicPr>
                <p:nvPr/>
              </p:nvPicPr>
              <p:blipFill rotWithShape="1">
                <a:blip r:embed="rId8" cstate="print">
                  <a:extLst>
                    <a:ext uri="{28A0092B-C50C-407E-A947-70E740481C1C}">
                      <a14:useLocalDpi xmlns:a14="http://schemas.microsoft.com/office/drawing/2010/main" val="0"/>
                    </a:ext>
                  </a:extLst>
                </a:blip>
                <a:srcRect b="33734"/>
                <a:stretch/>
              </p:blipFill>
              <p:spPr>
                <a:xfrm>
                  <a:off x="1565598" y="4527839"/>
                  <a:ext cx="769664" cy="668647"/>
                </a:xfrm>
                <a:prstGeom prst="rect">
                  <a:avLst/>
                </a:prstGeom>
              </p:spPr>
            </p:pic>
          </p:grpSp>
          <p:pic>
            <p:nvPicPr>
              <p:cNvPr id="18" name="Picture 17"/>
              <p:cNvPicPr>
                <a:picLocks noChangeAspect="1"/>
              </p:cNvPicPr>
              <p:nvPr/>
            </p:nvPicPr>
            <p:blipFill>
              <a:blip r:embed="rId9"/>
              <a:stretch>
                <a:fillRect/>
              </a:stretch>
            </p:blipFill>
            <p:spPr>
              <a:xfrm>
                <a:off x="4476341" y="3802204"/>
                <a:ext cx="1105541" cy="1105541"/>
              </a:xfrm>
              <a:prstGeom prst="rect">
                <a:avLst/>
              </a:prstGeom>
            </p:spPr>
          </p:pic>
        </p:grpSp>
      </p:grpSp>
    </p:spTree>
    <p:extLst>
      <p:ext uri="{BB962C8B-B14F-4D97-AF65-F5344CB8AC3E}">
        <p14:creationId xmlns:p14="http://schemas.microsoft.com/office/powerpoint/2010/main" val="46029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832d31d-07bb-4ba1-bbd0-83dea35c6d0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Que sont les UO ?</a:t>
            </a:r>
          </a:p>
        </p:txBody>
      </p:sp>
      <p:sp>
        <p:nvSpPr>
          <p:cNvPr id="4" name="Rounded Rectangle 3"/>
          <p:cNvSpPr>
            <a:spLocks noChangeArrowheads="1"/>
          </p:cNvSpPr>
          <p:nvPr/>
        </p:nvSpPr>
        <p:spPr bwMode="auto">
          <a:xfrm>
            <a:off x="301132" y="828529"/>
            <a:ext cx="8614267" cy="5643989"/>
          </a:xfrm>
          <a:prstGeom prst="roundRect">
            <a:avLst>
              <a:gd name="adj" fmla="val 6533"/>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180000" indent="-180000">
              <a:lnSpc>
                <a:spcPct val="90000"/>
              </a:lnSpc>
              <a:spcBef>
                <a:spcPts val="600"/>
              </a:spcBef>
              <a:buClr>
                <a:srgbClr val="006699"/>
              </a:buClr>
              <a:buFontTx/>
              <a:buChar char="•"/>
            </a:pPr>
            <a:r>
              <a:rPr lang="fr-FR" sz="2800" b="0" dirty="0">
                <a:latin typeface="Segoe UI" pitchFamily="34" charset="0"/>
              </a:rPr>
              <a:t>Utilisez des conteneurs pour regrouper les objets dans un domaine :</a:t>
            </a:r>
          </a:p>
          <a:p>
            <a:pPr marL="637200" lvl="1" indent="-180000">
              <a:lnSpc>
                <a:spcPct val="90000"/>
              </a:lnSpc>
              <a:spcBef>
                <a:spcPts val="600"/>
              </a:spcBef>
              <a:buClr>
                <a:srgbClr val="006699"/>
              </a:buClr>
              <a:buFontTx/>
              <a:buChar char="•"/>
            </a:pPr>
            <a:r>
              <a:rPr lang="fr-FR" sz="2800" b="0" dirty="0">
                <a:latin typeface="Segoe UI" pitchFamily="34" charset="0"/>
              </a:rPr>
              <a:t>Vous ne pouvez pas appliquer les GPO aux conteneurs</a:t>
            </a:r>
          </a:p>
          <a:p>
            <a:pPr marL="637200" lvl="1" indent="-180000">
              <a:lnSpc>
                <a:spcPct val="90000"/>
              </a:lnSpc>
              <a:spcBef>
                <a:spcPts val="600"/>
              </a:spcBef>
              <a:buClr>
                <a:srgbClr val="006699"/>
              </a:buClr>
              <a:buFontTx/>
              <a:buChar char="•"/>
            </a:pPr>
            <a:r>
              <a:rPr lang="fr-FR" sz="2800" b="0" dirty="0">
                <a:latin typeface="Segoe UI" pitchFamily="34" charset="0"/>
              </a:rPr>
              <a:t>Les conteneurs sont utilisés pour les objets du système et en tant que valeur par défaut pour les nouveaux objets</a:t>
            </a:r>
          </a:p>
          <a:p>
            <a:pPr marL="180000" indent="-180000">
              <a:lnSpc>
                <a:spcPct val="90000"/>
              </a:lnSpc>
              <a:spcBef>
                <a:spcPts val="600"/>
              </a:spcBef>
              <a:buClr>
                <a:srgbClr val="006699"/>
              </a:buClr>
              <a:buFontTx/>
              <a:buChar char="•"/>
            </a:pPr>
            <a:r>
              <a:rPr lang="fr-FR" sz="2800" b="0" dirty="0">
                <a:latin typeface="Segoe UI" pitchFamily="34" charset="0"/>
              </a:rPr>
              <a:t>Créez des UO pour :</a:t>
            </a:r>
          </a:p>
          <a:p>
            <a:pPr marL="637200" lvl="1" indent="-180000">
              <a:lnSpc>
                <a:spcPct val="90000"/>
              </a:lnSpc>
              <a:spcBef>
                <a:spcPts val="600"/>
              </a:spcBef>
              <a:buClr>
                <a:srgbClr val="006699"/>
              </a:buClr>
              <a:buFontTx/>
              <a:buChar char="•"/>
            </a:pPr>
            <a:r>
              <a:rPr lang="fr-FR" sz="2800" b="0" dirty="0">
                <a:latin typeface="Segoe UI" pitchFamily="34" charset="0"/>
              </a:rPr>
              <a:t>Configurer les objets en leur attribuant les GPO </a:t>
            </a:r>
          </a:p>
          <a:p>
            <a:pPr marL="637200" lvl="1" indent="-180000">
              <a:lnSpc>
                <a:spcPct val="90000"/>
              </a:lnSpc>
              <a:spcBef>
                <a:spcPts val="600"/>
              </a:spcBef>
              <a:buClr>
                <a:srgbClr val="006699"/>
              </a:buClr>
              <a:buFontTx/>
              <a:buChar char="•"/>
            </a:pPr>
            <a:r>
              <a:rPr lang="fr-FR" sz="2800" b="0" dirty="0">
                <a:latin typeface="Segoe UI" pitchFamily="34" charset="0"/>
              </a:rPr>
              <a:t>Déléguer les autorisations administratives</a:t>
            </a:r>
          </a:p>
        </p:txBody>
      </p:sp>
    </p:spTree>
    <p:extLst>
      <p:ext uri="{BB962C8B-B14F-4D97-AF65-F5344CB8AC3E}">
        <p14:creationId xmlns:p14="http://schemas.microsoft.com/office/powerpoint/2010/main" val="53055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3896b5cb-5330-457e-a2b3-039bac651a4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Nouveautés d’AD DS dans Windows Server 2016</a:t>
            </a:r>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sz="2400" dirty="0"/>
              <a:t>PAM</a:t>
            </a:r>
          </a:p>
          <a:p>
            <a:r>
              <a:rPr lang="fr-FR" sz="2400" dirty="0"/>
              <a:t>Azure AD Join</a:t>
            </a:r>
          </a:p>
          <a:p>
            <a:r>
              <a:rPr lang="fr-FR" sz="2400" dirty="0"/>
              <a:t>Microsoft Passport</a:t>
            </a:r>
          </a:p>
          <a:p>
            <a:endParaRPr lang="fr-FR" dirty="0"/>
          </a:p>
        </p:txBody>
      </p:sp>
    </p:spTree>
    <p:extLst>
      <p:ext uri="{BB962C8B-B14F-4D97-AF65-F5344CB8AC3E}">
        <p14:creationId xmlns:p14="http://schemas.microsoft.com/office/powerpoint/2010/main" val="2470413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025a9aa7-71e2-4036-a393-fa695e4eaa3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Qu’est-ce qu’AD Azure ?</a:t>
            </a:r>
          </a:p>
        </p:txBody>
      </p:sp>
      <p:grpSp>
        <p:nvGrpSpPr>
          <p:cNvPr id="4" name="Group 3" descr="Une illustration de différents services qui se connectent à Microsoft Azure Active Directory (Azure AD). Azure AD est au centre. Les services qui peuvent utiliser Azure AD pour la gestion des identités sont disposés autour de lui. Ces services sont :&#10;• Microsoft Office 365&#10;• Microsoft Exchange Online&#10;• Microsoft SharePoint Online&#10;• Skype for Business&#10;• Azure App Service&#10;• Applications connectées à Internet&#10;&#10;L’illustration représente également la synchronisation d’AD DS local avec Azure AD.&#10;"/>
          <p:cNvGrpSpPr/>
          <p:nvPr/>
        </p:nvGrpSpPr>
        <p:grpSpPr>
          <a:xfrm>
            <a:off x="639619" y="1751820"/>
            <a:ext cx="7638638" cy="3800600"/>
            <a:chOff x="2369358" y="2060618"/>
            <a:chExt cx="7638638" cy="3800600"/>
          </a:xfrm>
        </p:grpSpPr>
        <p:pic>
          <p:nvPicPr>
            <p:cNvPr id="5" name="Picture 4"/>
            <p:cNvPicPr>
              <a:picLocks noChangeAspect="1"/>
            </p:cNvPicPr>
            <p:nvPr/>
          </p:nvPicPr>
          <p:blipFill>
            <a:blip r:embed="rId3"/>
            <a:stretch>
              <a:fillRect/>
            </a:stretch>
          </p:blipFill>
          <p:spPr>
            <a:xfrm>
              <a:off x="2369358" y="3657600"/>
              <a:ext cx="2020186" cy="1143000"/>
            </a:xfrm>
            <a:prstGeom prst="rect">
              <a:avLst/>
            </a:prstGeom>
          </p:spPr>
        </p:pic>
        <p:sp>
          <p:nvSpPr>
            <p:cNvPr id="6" name="triangle"/>
            <p:cNvSpPr>
              <a:spLocks noChangeArrowheads="1"/>
            </p:cNvSpPr>
            <p:nvPr/>
          </p:nvSpPr>
          <p:spPr bwMode="auto">
            <a:xfrm>
              <a:off x="5087779" y="2598374"/>
              <a:ext cx="2016442" cy="1661253"/>
            </a:xfrm>
            <a:prstGeom prst="triangle">
              <a:avLst/>
            </a:prstGeom>
            <a:noFill/>
            <a:ln>
              <a:solidFill>
                <a:srgbClr val="7B9FC9"/>
              </a:solidFill>
            </a:ln>
            <a:extLst/>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CA" sz="1600" b="1" i="0" u="none" strike="noStrike" kern="0" cap="none" spc="0" normalizeH="0" baseline="0" noProof="0" dirty="0">
                <a:ln>
                  <a:noFill/>
                </a:ln>
                <a:solidFill>
                  <a:srgbClr val="000000"/>
                </a:solidFill>
                <a:effectLst/>
                <a:uLnTx/>
                <a:uFillTx/>
                <a:latin typeface="Segoe UI" pitchFamily="34" charset="0"/>
                <a:ea typeface="Segoe UI" pitchFamily="34" charset="0"/>
                <a:cs typeface="Segoe UI" pitchFamily="34" charset="0"/>
              </a:endParaRPr>
            </a:p>
          </p:txBody>
        </p:sp>
        <p:sp>
          <p:nvSpPr>
            <p:cNvPr id="7" name="TextBox 52"/>
            <p:cNvSpPr txBox="1"/>
            <p:nvPr/>
          </p:nvSpPr>
          <p:spPr>
            <a:xfrm>
              <a:off x="5311139" y="3443178"/>
              <a:ext cx="1581245"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1400" dirty="0">
                  <a:latin typeface="Segoe UI" panose="020B0502040204020203" pitchFamily="34" charset="0"/>
                </a:rPr>
                <a:t>Azure</a:t>
              </a:r>
            </a:p>
            <a:p>
              <a:pPr algn="ctr"/>
              <a:r>
                <a:rPr lang="fr-FR" sz="1400" dirty="0">
                  <a:latin typeface="Segoe UI" panose="020B0502040204020203" pitchFamily="34" charset="0"/>
                </a:rPr>
                <a:t>AD</a:t>
              </a:r>
            </a:p>
          </p:txBody>
        </p:sp>
        <p:sp>
          <p:nvSpPr>
            <p:cNvPr id="8" name="TextBox 53"/>
            <p:cNvSpPr txBox="1"/>
            <p:nvPr/>
          </p:nvSpPr>
          <p:spPr>
            <a:xfrm>
              <a:off x="2507851" y="4271198"/>
              <a:ext cx="1736488"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endParaRPr lang="fr-FR" sz="1400" dirty="0">
                <a:latin typeface="Segoe UI" panose="020B0502040204020203" pitchFamily="34" charset="0"/>
                <a:cs typeface="Segoe UI" panose="020B0502040204020203" pitchFamily="34" charset="0"/>
              </a:endParaRPr>
            </a:p>
            <a:p>
              <a:pPr algn="ctr"/>
              <a:r>
                <a:rPr lang="fr-FR" sz="1400" dirty="0">
                  <a:latin typeface="Segoe UI" panose="020B0502040204020203" pitchFamily="34" charset="0"/>
                </a:rPr>
                <a:t>Service Azure App</a:t>
              </a:r>
            </a:p>
          </p:txBody>
        </p:sp>
        <p:sp>
          <p:nvSpPr>
            <p:cNvPr id="9" name="TextBox 54"/>
            <p:cNvSpPr txBox="1"/>
            <p:nvPr/>
          </p:nvSpPr>
          <p:spPr>
            <a:xfrm>
              <a:off x="5087779" y="5271978"/>
              <a:ext cx="1426984"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400" dirty="0">
                  <a:latin typeface="Segoe UI" panose="020B0502040204020203" pitchFamily="34" charset="0"/>
                </a:rPr>
                <a:t>Sur place</a:t>
              </a:r>
            </a:p>
            <a:p>
              <a:r>
                <a:rPr lang="fr-FR" sz="1400" dirty="0">
                  <a:latin typeface="Segoe UI" panose="020B0502040204020203" pitchFamily="34" charset="0"/>
                </a:rPr>
                <a:t>AD DS</a:t>
              </a:r>
            </a:p>
          </p:txBody>
        </p:sp>
        <p:sp>
          <p:nvSpPr>
            <p:cNvPr id="10" name="TextBox 55"/>
            <p:cNvSpPr txBox="1"/>
            <p:nvPr/>
          </p:nvSpPr>
          <p:spPr>
            <a:xfrm>
              <a:off x="7978139" y="5337998"/>
              <a:ext cx="2029857"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1400" dirty="0">
                  <a:latin typeface="Segoe UI" panose="020B0502040204020203" pitchFamily="34" charset="0"/>
                </a:rPr>
                <a:t>Applications </a:t>
              </a:r>
            </a:p>
            <a:p>
              <a:pPr algn="ctr"/>
              <a:r>
                <a:rPr lang="fr-FR" sz="1400" dirty="0">
                  <a:latin typeface="Segoe UI" panose="020B0502040204020203" pitchFamily="34" charset="0"/>
                </a:rPr>
                <a:t>connectées à Internet</a:t>
              </a:r>
            </a:p>
          </p:txBody>
        </p:sp>
        <p:sp>
          <p:nvSpPr>
            <p:cNvPr id="11" name="TextBox 56"/>
            <p:cNvSpPr txBox="1"/>
            <p:nvPr/>
          </p:nvSpPr>
          <p:spPr>
            <a:xfrm>
              <a:off x="8338781" y="2851542"/>
              <a:ext cx="1426984"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400" dirty="0">
                  <a:latin typeface="Segoe UI" panose="020B0502040204020203" pitchFamily="34" charset="0"/>
                </a:rPr>
                <a:t>Skype Entreprise</a:t>
              </a:r>
            </a:p>
          </p:txBody>
        </p:sp>
        <p:sp>
          <p:nvSpPr>
            <p:cNvPr id="12" name="TextBox 57"/>
            <p:cNvSpPr txBox="1"/>
            <p:nvPr/>
          </p:nvSpPr>
          <p:spPr>
            <a:xfrm>
              <a:off x="7283192" y="2071985"/>
              <a:ext cx="1426984"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400" dirty="0">
                  <a:latin typeface="Segoe UI" panose="020B0502040204020203" pitchFamily="34" charset="0"/>
                </a:rPr>
                <a:t>SharePoint Online</a:t>
              </a:r>
              <a:endParaRPr lang="fr-FR" sz="1400" dirty="0">
                <a:latin typeface="Segoe UI" panose="020B0502040204020203" pitchFamily="34" charset="0"/>
              </a:endParaRPr>
            </a:p>
          </p:txBody>
        </p:sp>
        <p:sp>
          <p:nvSpPr>
            <p:cNvPr id="13" name="TextBox 58"/>
            <p:cNvSpPr txBox="1"/>
            <p:nvPr/>
          </p:nvSpPr>
          <p:spPr>
            <a:xfrm>
              <a:off x="5305102" y="2060618"/>
              <a:ext cx="1020484" cy="52322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400" dirty="0">
                  <a:latin typeface="Segoe UI" panose="020B0502040204020203" pitchFamily="34" charset="0"/>
                </a:rPr>
                <a:t>Exchange Online</a:t>
              </a:r>
              <a:endParaRPr lang="fr-FR" sz="1400" dirty="0">
                <a:latin typeface="Segoe UI" panose="020B0502040204020203" pitchFamily="34" charset="0"/>
              </a:endParaRPr>
            </a:p>
          </p:txBody>
        </p:sp>
        <p:sp>
          <p:nvSpPr>
            <p:cNvPr id="14" name="TextBox 59"/>
            <p:cNvSpPr txBox="1"/>
            <p:nvPr/>
          </p:nvSpPr>
          <p:spPr>
            <a:xfrm>
              <a:off x="4478850" y="3106573"/>
              <a:ext cx="1051999" cy="30777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400" dirty="0">
                  <a:latin typeface="Segoe UI" panose="020B0502040204020203" pitchFamily="34" charset="0"/>
                </a:rPr>
                <a:t>Office 365</a:t>
              </a:r>
            </a:p>
          </p:txBody>
        </p:sp>
        <p:sp>
          <p:nvSpPr>
            <p:cNvPr id="15" name="TextBox 60"/>
            <p:cNvSpPr txBox="1"/>
            <p:nvPr/>
          </p:nvSpPr>
          <p:spPr>
            <a:xfrm rot="18126748">
              <a:off x="4785914" y="4651087"/>
              <a:ext cx="825113" cy="215444"/>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800" dirty="0">
                  <a:latin typeface="Segoe UI" panose="020B0502040204020203" pitchFamily="34" charset="0"/>
                </a:rPr>
                <a:t>Synchroniser</a:t>
              </a:r>
            </a:p>
          </p:txBody>
        </p:sp>
        <p:cxnSp>
          <p:nvCxnSpPr>
            <p:cNvPr id="16" name="Straight Arrow Connector 15"/>
            <p:cNvCxnSpPr/>
            <p:nvPr/>
          </p:nvCxnSpPr>
          <p:spPr>
            <a:xfrm flipH="1">
              <a:off x="6305305" y="2363309"/>
              <a:ext cx="716486" cy="56416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4"/>
            <a:stretch>
              <a:fillRect/>
            </a:stretch>
          </p:blipFill>
          <p:spPr>
            <a:xfrm>
              <a:off x="6917539" y="2092786"/>
              <a:ext cx="373364" cy="702802"/>
            </a:xfrm>
            <a:prstGeom prst="rect">
              <a:avLst/>
            </a:prstGeom>
          </p:spPr>
        </p:pic>
        <p:cxnSp>
          <p:nvCxnSpPr>
            <p:cNvPr id="18" name="Straight Arrow Connector 17"/>
            <p:cNvCxnSpPr/>
            <p:nvPr/>
          </p:nvCxnSpPr>
          <p:spPr>
            <a:xfrm>
              <a:off x="5151524" y="2363309"/>
              <a:ext cx="751259" cy="5190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4"/>
            <a:stretch>
              <a:fillRect/>
            </a:stretch>
          </p:blipFill>
          <p:spPr>
            <a:xfrm>
              <a:off x="4901097" y="2096405"/>
              <a:ext cx="373364" cy="702802"/>
            </a:xfrm>
            <a:prstGeom prst="rect">
              <a:avLst/>
            </a:prstGeom>
          </p:spPr>
        </p:pic>
        <p:cxnSp>
          <p:nvCxnSpPr>
            <p:cNvPr id="20" name="Straight Arrow Connector 19"/>
            <p:cNvCxnSpPr/>
            <p:nvPr/>
          </p:nvCxnSpPr>
          <p:spPr>
            <a:xfrm>
              <a:off x="4331566" y="3113152"/>
              <a:ext cx="141391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p:nvPicPr>
          <p:blipFill>
            <a:blip r:embed="rId4"/>
            <a:stretch>
              <a:fillRect/>
            </a:stretch>
          </p:blipFill>
          <p:spPr>
            <a:xfrm>
              <a:off x="4134061" y="2761751"/>
              <a:ext cx="373364" cy="702802"/>
            </a:xfrm>
            <a:prstGeom prst="rect">
              <a:avLst/>
            </a:prstGeom>
          </p:spPr>
        </p:pic>
        <p:cxnSp>
          <p:nvCxnSpPr>
            <p:cNvPr id="22" name="Straight Arrow Connector 21"/>
            <p:cNvCxnSpPr/>
            <p:nvPr/>
          </p:nvCxnSpPr>
          <p:spPr>
            <a:xfrm flipH="1">
              <a:off x="6408420" y="3113152"/>
              <a:ext cx="158826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727449" y="3679551"/>
              <a:ext cx="1684522" cy="5426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4"/>
            <a:stretch>
              <a:fillRect/>
            </a:stretch>
          </p:blipFill>
          <p:spPr>
            <a:xfrm>
              <a:off x="3514346" y="3802547"/>
              <a:ext cx="373364" cy="702802"/>
            </a:xfrm>
            <a:prstGeom prst="rect">
              <a:avLst/>
            </a:prstGeom>
          </p:spPr>
        </p:pic>
        <p:cxnSp>
          <p:nvCxnSpPr>
            <p:cNvPr id="25" name="Straight Arrow Connector 24"/>
            <p:cNvCxnSpPr/>
            <p:nvPr/>
          </p:nvCxnSpPr>
          <p:spPr>
            <a:xfrm flipH="1" flipV="1">
              <a:off x="8073334" y="4678386"/>
              <a:ext cx="76249" cy="4912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8283838" y="4616231"/>
              <a:ext cx="464733" cy="2625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38" idx="3"/>
            </p:cNvCxnSpPr>
            <p:nvPr/>
          </p:nvCxnSpPr>
          <p:spPr>
            <a:xfrm flipH="1" flipV="1">
              <a:off x="8309046" y="4500496"/>
              <a:ext cx="764935" cy="16511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nvPicPr>
          <p:blipFill>
            <a:blip r:embed="rId4"/>
            <a:stretch>
              <a:fillRect/>
            </a:stretch>
          </p:blipFill>
          <p:spPr>
            <a:xfrm>
              <a:off x="7891565" y="2761751"/>
              <a:ext cx="373364" cy="702802"/>
            </a:xfrm>
            <a:prstGeom prst="rect">
              <a:avLst/>
            </a:prstGeom>
          </p:spPr>
        </p:pic>
        <p:pic>
          <p:nvPicPr>
            <p:cNvPr id="29" name="Picture 28"/>
            <p:cNvPicPr>
              <a:picLocks noChangeAspect="1"/>
            </p:cNvPicPr>
            <p:nvPr/>
          </p:nvPicPr>
          <p:blipFill>
            <a:blip r:embed="rId4"/>
            <a:stretch>
              <a:fillRect/>
            </a:stretch>
          </p:blipFill>
          <p:spPr>
            <a:xfrm>
              <a:off x="8516205" y="4775335"/>
              <a:ext cx="298878" cy="562594"/>
            </a:xfrm>
            <a:prstGeom prst="rect">
              <a:avLst/>
            </a:prstGeom>
          </p:spPr>
        </p:pic>
        <p:pic>
          <p:nvPicPr>
            <p:cNvPr id="30" name="Picture 29"/>
            <p:cNvPicPr>
              <a:picLocks noChangeAspect="1"/>
            </p:cNvPicPr>
            <p:nvPr/>
          </p:nvPicPr>
          <p:blipFill>
            <a:blip r:embed="rId4"/>
            <a:stretch>
              <a:fillRect/>
            </a:stretch>
          </p:blipFill>
          <p:spPr>
            <a:xfrm>
              <a:off x="8924542" y="4384310"/>
              <a:ext cx="298878" cy="562594"/>
            </a:xfrm>
            <a:prstGeom prst="rect">
              <a:avLst/>
            </a:prstGeom>
          </p:spPr>
        </p:pic>
        <p:pic>
          <p:nvPicPr>
            <p:cNvPr id="31" name="Picture 30"/>
            <p:cNvPicPr>
              <a:picLocks noChangeAspect="1"/>
            </p:cNvPicPr>
            <p:nvPr/>
          </p:nvPicPr>
          <p:blipFill>
            <a:blip r:embed="rId4"/>
            <a:stretch>
              <a:fillRect/>
            </a:stretch>
          </p:blipFill>
          <p:spPr>
            <a:xfrm>
              <a:off x="7986633" y="5038344"/>
              <a:ext cx="298878" cy="562594"/>
            </a:xfrm>
            <a:prstGeom prst="rect">
              <a:avLst/>
            </a:prstGeom>
          </p:spPr>
        </p:pic>
        <p:cxnSp>
          <p:nvCxnSpPr>
            <p:cNvPr id="32" name="Straight Arrow Connector 31"/>
            <p:cNvCxnSpPr/>
            <p:nvPr/>
          </p:nvCxnSpPr>
          <p:spPr>
            <a:xfrm flipH="1" flipV="1">
              <a:off x="7127630" y="4261187"/>
              <a:ext cx="771731" cy="3647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7416069" y="4185635"/>
              <a:ext cx="892977" cy="505237"/>
              <a:chOff x="7416069" y="4185635"/>
              <a:chExt cx="892977" cy="505237"/>
            </a:xfrm>
          </p:grpSpPr>
          <p:pic>
            <p:nvPicPr>
              <p:cNvPr id="37" name="Picture 36"/>
              <p:cNvPicPr>
                <a:picLocks noChangeAspect="1"/>
              </p:cNvPicPr>
              <p:nvPr/>
            </p:nvPicPr>
            <p:blipFill>
              <a:blip r:embed="rId3"/>
              <a:stretch>
                <a:fillRect/>
              </a:stretch>
            </p:blipFill>
            <p:spPr>
              <a:xfrm>
                <a:off x="7416069" y="4185635"/>
                <a:ext cx="892977" cy="505237"/>
              </a:xfrm>
              <a:prstGeom prst="rect">
                <a:avLst/>
              </a:prstGeom>
            </p:spPr>
          </p:pic>
          <p:sp>
            <p:nvSpPr>
              <p:cNvPr id="38" name="TextBox 83"/>
              <p:cNvSpPr txBox="1"/>
              <p:nvPr/>
            </p:nvSpPr>
            <p:spPr>
              <a:xfrm>
                <a:off x="7462809" y="4369691"/>
                <a:ext cx="846237" cy="261610"/>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1100" dirty="0">
                    <a:latin typeface="Segoe UI" panose="020B0502040204020203" pitchFamily="34" charset="0"/>
                  </a:rPr>
                  <a:t>Internet</a:t>
                </a:r>
              </a:p>
            </p:txBody>
          </p:sp>
        </p:grpSp>
        <p:cxnSp>
          <p:nvCxnSpPr>
            <p:cNvPr id="34" name="Straight Connector 33"/>
            <p:cNvCxnSpPr/>
            <p:nvPr/>
          </p:nvCxnSpPr>
          <p:spPr>
            <a:xfrm flipV="1">
              <a:off x="4886908" y="5023214"/>
              <a:ext cx="149439" cy="23363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381410" y="4270830"/>
              <a:ext cx="149439" cy="233634"/>
            </a:xfrm>
            <a:prstGeom prst="line">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4"/>
            <a:stretch>
              <a:fillRect/>
            </a:stretch>
          </p:blipFill>
          <p:spPr>
            <a:xfrm>
              <a:off x="4770065" y="5180538"/>
              <a:ext cx="298878" cy="562594"/>
            </a:xfrm>
            <a:prstGeom prst="rect">
              <a:avLst/>
            </a:prstGeom>
          </p:spPr>
        </p:pic>
      </p:grpSp>
    </p:spTree>
    <p:extLst>
      <p:ext uri="{BB962C8B-B14F-4D97-AF65-F5344CB8AC3E}">
        <p14:creationId xmlns:p14="http://schemas.microsoft.com/office/powerpoint/2010/main" val="3426918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085163cb-7c33-4d8a-af79-5bea4c266c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700" dirty="0"/>
              <a:t>Vue d’ensemble des outils d’administration AD DS</a:t>
            </a:r>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spcBef>
                <a:spcPts val="800"/>
              </a:spcBef>
              <a:buNone/>
            </a:pPr>
            <a:r>
              <a:rPr lang="fr-FR"/>
              <a:t>La gestion d’AD DS est généralement effectuée à l’aide des outils suivants :</a:t>
            </a:r>
          </a:p>
          <a:p>
            <a:pPr marL="173736" lvl="1">
              <a:spcBef>
                <a:spcPts val="800"/>
              </a:spcBef>
            </a:pPr>
            <a:r>
              <a:rPr lang="fr-FR"/>
              <a:t>Centre d’administration Active Directory</a:t>
            </a:r>
          </a:p>
          <a:p>
            <a:pPr marL="173736" lvl="1">
              <a:spcBef>
                <a:spcPts val="800"/>
              </a:spcBef>
            </a:pPr>
            <a:r>
              <a:rPr lang="fr-FR"/>
              <a:t>Utilisateurs et ordinateurs Active Directory </a:t>
            </a:r>
          </a:p>
          <a:p>
            <a:pPr marL="173736" lvl="1">
              <a:spcBef>
                <a:spcPts val="800"/>
              </a:spcBef>
            </a:pPr>
            <a:r>
              <a:rPr lang="fr-FR"/>
              <a:t>Sites et services Active Directory</a:t>
            </a:r>
          </a:p>
          <a:p>
            <a:pPr marL="173736" lvl="1">
              <a:spcBef>
                <a:spcPts val="800"/>
              </a:spcBef>
            </a:pPr>
            <a:r>
              <a:rPr lang="fr-FR"/>
              <a:t>Domaines et approbations Active Directory</a:t>
            </a:r>
          </a:p>
          <a:p>
            <a:pPr marL="173736" lvl="1">
              <a:spcBef>
                <a:spcPts val="800"/>
              </a:spcBef>
            </a:pPr>
            <a:r>
              <a:rPr lang="fr-FR"/>
              <a:t>Schéma de composant logiciel enfichable Active Directory</a:t>
            </a:r>
          </a:p>
          <a:p>
            <a:pPr marL="173736" lvl="1">
              <a:spcBef>
                <a:spcPts val="800"/>
              </a:spcBef>
            </a:pPr>
            <a:r>
              <a:rPr lang="fr-FR"/>
              <a:t>Module Active Directory pour Windows PowerShell</a:t>
            </a:r>
          </a:p>
          <a:p>
            <a:endParaRPr lang="fr-FR" dirty="0"/>
          </a:p>
        </p:txBody>
      </p:sp>
    </p:spTree>
    <p:extLst>
      <p:ext uri="{BB962C8B-B14F-4D97-AF65-F5344CB8AC3E}">
        <p14:creationId xmlns:p14="http://schemas.microsoft.com/office/powerpoint/2010/main" val="700692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ca5cd9c0-b7e8-4cd2-85f3-af11e70e1c11">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07425" cy="740664"/>
          </a:xfrm>
        </p:spPr>
        <p:txBody>
          <a:bodyPr/>
          <a:lstStyle/>
          <a:p>
            <a:r>
              <a:rPr lang="fr-FR" sz="2500" dirty="0"/>
              <a:t>Démonstration : Utiliser le Centre d’administration Active Directory pour administrer et gérer AD DS</a:t>
            </a:r>
          </a:p>
        </p:txBody>
      </p:sp>
      <p:sp>
        <p:nvSpPr>
          <p:cNvPr id="4" name="Content Placeholder 2"/>
          <p:cNvSpPr>
            <a:spLocks noGrp="1"/>
          </p:cNvSpPr>
          <p:nvPr/>
        </p:nvSpPr>
        <p:spPr bwMode="auto">
          <a:xfrm>
            <a:off x="458788" y="1101044"/>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spcBef>
                <a:spcPts val="800"/>
              </a:spcBef>
              <a:buNone/>
            </a:pPr>
            <a:r>
              <a:rPr lang="fr-FR" dirty="0"/>
              <a:t>Dans cette démonstration, vous apprendrez à :</a:t>
            </a:r>
          </a:p>
          <a:p>
            <a:pPr lvl="1">
              <a:spcBef>
                <a:spcPts val="800"/>
              </a:spcBef>
            </a:pPr>
            <a:r>
              <a:rPr lang="fr-FR" sz="2200" dirty="0"/>
              <a:t>Naviguez dans le Centre d’administration Active Directory.</a:t>
            </a:r>
          </a:p>
          <a:p>
            <a:pPr lvl="1">
              <a:spcBef>
                <a:spcPts val="800"/>
              </a:spcBef>
            </a:pPr>
            <a:r>
              <a:rPr lang="fr-FR" sz="2200" dirty="0"/>
              <a:t>Effectuer une tâche administrative au sein du Centre d’administration Active Directory</a:t>
            </a:r>
          </a:p>
          <a:p>
            <a:pPr lvl="1">
              <a:spcBef>
                <a:spcPts val="800"/>
              </a:spcBef>
            </a:pPr>
            <a:r>
              <a:rPr lang="fr-FR" sz="2200" dirty="0"/>
              <a:t>Créer des objets</a:t>
            </a:r>
          </a:p>
          <a:p>
            <a:pPr lvl="1">
              <a:spcBef>
                <a:spcPts val="800"/>
              </a:spcBef>
            </a:pPr>
            <a:r>
              <a:rPr lang="fr-FR" sz="2200" dirty="0"/>
              <a:t>Voir tous les attributs de l’objet</a:t>
            </a:r>
          </a:p>
          <a:p>
            <a:pPr lvl="1">
              <a:spcBef>
                <a:spcPts val="800"/>
              </a:spcBef>
            </a:pPr>
            <a:r>
              <a:rPr lang="fr-FR" sz="2200" dirty="0"/>
              <a:t>Utilisez la visionneuse Historique Windows PowerShell dans le Centre d’administration Active Directory</a:t>
            </a:r>
          </a:p>
          <a:p>
            <a:pPr marL="0" indent="0">
              <a:buNone/>
            </a:pPr>
            <a:endParaRPr lang="fr-FR" dirty="0"/>
          </a:p>
        </p:txBody>
      </p:sp>
    </p:spTree>
    <p:extLst>
      <p:ext uri="{BB962C8B-B14F-4D97-AF65-F5344CB8AC3E}">
        <p14:creationId xmlns:p14="http://schemas.microsoft.com/office/powerpoint/2010/main" val="398794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13823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7225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221701f7-1baa-4913-a22e-62f96ed0888f">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074026" cy="740664"/>
          </a:xfrm>
        </p:spPr>
        <p:txBody>
          <a:bodyPr/>
          <a:lstStyle/>
          <a:p>
            <a:r>
              <a:rPr lang="fr-FR" sz="2700" dirty="0"/>
              <a:t>Leçon 2 : Vue d’ensemble des contrôleurs de domaine AD DS</a:t>
            </a:r>
          </a:p>
        </p:txBody>
      </p:sp>
      <p:sp>
        <p:nvSpPr>
          <p:cNvPr id="3" name="Text Placeholder 2"/>
          <p:cNvSpPr>
            <a:spLocks noGrp="1"/>
          </p:cNvSpPr>
          <p:nvPr>
            <p:ph type="body" idx="1"/>
          </p:nvPr>
        </p:nvSpPr>
        <p:spPr/>
        <p:txBody>
          <a:bodyPr/>
          <a:lstStyle/>
          <a:p>
            <a:r>
              <a:rPr lang="fr-FR" dirty="0"/>
              <a:t>Qu’est-ce qu’un contrôleur de domaine ?</a:t>
            </a:r>
            <a:r>
              <a:rPr lang="en-US" dirty="0"/>
              <a:t>
</a:t>
            </a:r>
            <a:r>
              <a:rPr lang="fr-FR" dirty="0"/>
              <a:t>Qu’est-ce qu’un catalogue global ?</a:t>
            </a:r>
            <a:r>
              <a:rPr lang="en-US" dirty="0"/>
              <a:t>
</a:t>
            </a:r>
            <a:r>
              <a:rPr lang="fr-FR" dirty="0"/>
              <a:t>Vue d’ensemble de l’enregistrement SRV des contrôleurs de domaine</a:t>
            </a:r>
            <a:r>
              <a:rPr lang="en-US" dirty="0"/>
              <a:t>
</a:t>
            </a:r>
            <a:r>
              <a:rPr lang="fr-FR" dirty="0"/>
              <a:t>Démonstration : Affichage des enregistrements SRV dans DNS</a:t>
            </a:r>
            <a:r>
              <a:rPr lang="en-US" dirty="0"/>
              <a:t>
</a:t>
            </a:r>
            <a:r>
              <a:rPr lang="fr-FR" dirty="0"/>
              <a:t>Processus de connexion AD DS</a:t>
            </a:r>
            <a:r>
              <a:rPr lang="en-US" dirty="0"/>
              <a:t>
</a:t>
            </a:r>
            <a:r>
              <a:rPr lang="fr-FR" dirty="0"/>
              <a:t>Quels sont les maîtres d’opérations ?</a:t>
            </a:r>
            <a:r>
              <a:rPr lang="en-US" dirty="0"/>
              <a:t>
</a:t>
            </a:r>
            <a:r>
              <a:rPr lang="fr-FR" dirty="0"/>
              <a:t>Transférer et prise des rôles</a:t>
            </a:r>
          </a:p>
        </p:txBody>
      </p:sp>
    </p:spTree>
    <p:extLst>
      <p:ext uri="{BB962C8B-B14F-4D97-AF65-F5344CB8AC3E}">
        <p14:creationId xmlns:p14="http://schemas.microsoft.com/office/powerpoint/2010/main" val="37911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32c246b1-270b-4d40-98ed-97b4ee72673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Qu’est-ce qu’un contrôleur de domaine ?</a:t>
            </a:r>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spcBef>
                <a:spcPct val="0"/>
              </a:spcBef>
              <a:buNone/>
              <a:tabLst>
                <a:tab pos="2222500" algn="l"/>
              </a:tabLst>
            </a:pPr>
            <a:r>
              <a:rPr lang="fr-FR" dirty="0"/>
              <a:t>Contrôleurs de domaine :</a:t>
            </a:r>
          </a:p>
          <a:p>
            <a:pPr marL="228600" indent="-228600">
              <a:lnSpc>
                <a:spcPct val="110000"/>
              </a:lnSpc>
              <a:spcBef>
                <a:spcPct val="40000"/>
              </a:spcBef>
              <a:buClr>
                <a:srgbClr val="006699"/>
              </a:buClr>
            </a:pPr>
            <a:r>
              <a:rPr lang="fr-FR" sz="2400" dirty="0"/>
              <a:t>Sont des serveurs qui hébergent la base de données AD DS (Ntds.dit) et SYSVOL </a:t>
            </a:r>
          </a:p>
          <a:p>
            <a:pPr marL="228600" indent="-228600">
              <a:lnSpc>
                <a:spcPct val="110000"/>
              </a:lnSpc>
              <a:spcBef>
                <a:spcPct val="40000"/>
              </a:spcBef>
              <a:buClr>
                <a:srgbClr val="006699"/>
              </a:buClr>
            </a:pPr>
            <a:r>
              <a:rPr lang="fr-FR" sz="2400" dirty="0"/>
              <a:t>Hébergent le service d’authentification Kerberos et les services KDC pour effectuer une authentification</a:t>
            </a:r>
          </a:p>
          <a:p>
            <a:pPr marL="228600" indent="-228600">
              <a:spcBef>
                <a:spcPct val="40000"/>
              </a:spcBef>
              <a:buClr>
                <a:srgbClr val="006699"/>
              </a:buClr>
            </a:pPr>
            <a:r>
              <a:rPr lang="fr-FR" sz="2400" dirty="0"/>
              <a:t>Avoir les bonnes pratiques pour :</a:t>
            </a:r>
          </a:p>
          <a:p>
            <a:pPr marL="685800" lvl="1" indent="-228600">
              <a:spcBef>
                <a:spcPct val="40000"/>
              </a:spcBef>
              <a:buClr>
                <a:srgbClr val="006699"/>
              </a:buClr>
              <a:buFontTx/>
              <a:buChar char="•"/>
            </a:pPr>
            <a:r>
              <a:rPr lang="fr-FR" dirty="0"/>
              <a:t>La disponibilité : </a:t>
            </a:r>
          </a:p>
          <a:p>
            <a:pPr marL="1030500" lvl="1" indent="-342900">
              <a:spcBef>
                <a:spcPct val="40000"/>
              </a:spcBef>
              <a:buClr>
                <a:srgbClr val="006699"/>
              </a:buClr>
            </a:pPr>
            <a:r>
              <a:rPr lang="fr-FR" dirty="0"/>
              <a:t>Utilisez au moins deux contrôleurs de domaine dans un domaine </a:t>
            </a:r>
          </a:p>
          <a:p>
            <a:pPr marL="685800" lvl="1" indent="-228600">
              <a:spcBef>
                <a:spcPct val="40000"/>
              </a:spcBef>
              <a:buClr>
                <a:srgbClr val="006699"/>
              </a:buClr>
              <a:buFontTx/>
              <a:buChar char="•"/>
            </a:pPr>
            <a:r>
              <a:rPr lang="fr-FR" dirty="0"/>
              <a:t>La sécurité :</a:t>
            </a:r>
          </a:p>
          <a:p>
            <a:pPr marL="1030500" lvl="1" indent="-342900">
              <a:spcBef>
                <a:spcPct val="40000"/>
              </a:spcBef>
              <a:buClr>
                <a:srgbClr val="006699"/>
              </a:buClr>
            </a:pPr>
            <a:r>
              <a:rPr lang="fr-FR" dirty="0"/>
              <a:t>Utilisez un RODC ou </a:t>
            </a:r>
            <a:r>
              <a:rPr lang="fr-FR" dirty="0" err="1"/>
              <a:t>BitLocker</a:t>
            </a:r>
            <a:endParaRPr lang="fr-FR" dirty="0"/>
          </a:p>
          <a:p>
            <a:pPr marL="0" indent="0">
              <a:buNone/>
            </a:pPr>
            <a:endParaRPr lang="fr-FR" dirty="0"/>
          </a:p>
        </p:txBody>
      </p:sp>
    </p:spTree>
    <p:extLst>
      <p:ext uri="{BB962C8B-B14F-4D97-AF65-F5344CB8AC3E}">
        <p14:creationId xmlns:p14="http://schemas.microsoft.com/office/powerpoint/2010/main" val="3741855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c20fe77-3d41-47fe-9032-1b2d9ffb69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Qu’est-ce qu’un catalogue global ?</a:t>
            </a:r>
          </a:p>
        </p:txBody>
      </p:sp>
      <p:grpSp>
        <p:nvGrpSpPr>
          <p:cNvPr id="4" name="Group 3" descr="Une illustration d’une forêt à deux domaines avec le schéma, la configuration et la partition de domaine enregistrés sur chaque contrôleur de domaine. Un contrôleur de domaine est également un serveur de catalogue global, il obtient donc des informations à partir des partitions de domaine pour les deux domaines pour les cas où une requête d’un domaine doit retourner des résultats venant de l’autre domaine."/>
          <p:cNvGrpSpPr/>
          <p:nvPr/>
        </p:nvGrpSpPr>
        <p:grpSpPr>
          <a:xfrm>
            <a:off x="412971" y="710448"/>
            <a:ext cx="8608971" cy="5749226"/>
            <a:chOff x="1327369" y="442824"/>
            <a:chExt cx="8608971" cy="5749226"/>
          </a:xfrm>
        </p:grpSpPr>
        <p:sp>
          <p:nvSpPr>
            <p:cNvPr id="5" name="text box"/>
            <p:cNvSpPr txBox="1">
              <a:spLocks/>
            </p:cNvSpPr>
            <p:nvPr/>
          </p:nvSpPr>
          <p:spPr>
            <a:xfrm>
              <a:off x="5158278" y="442824"/>
              <a:ext cx="4778062" cy="1879601"/>
            </a:xfrm>
            <a:prstGeom prst="rect">
              <a:avLst/>
            </a:prstGeom>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spcBef>
                  <a:spcPts val="600"/>
                </a:spcBef>
              </a:pPr>
              <a:r>
                <a:rPr lang="fr-FR" sz="2100" b="0" dirty="0">
                  <a:latin typeface="Segoe UI" pitchFamily="34" charset="0"/>
                </a:rPr>
                <a:t>Le catalogue global :</a:t>
              </a:r>
            </a:p>
            <a:p>
              <a:pPr marL="342900" indent="-342900">
                <a:spcBef>
                  <a:spcPts val="600"/>
                </a:spcBef>
                <a:buClr>
                  <a:srgbClr val="0070C0"/>
                </a:buClr>
                <a:buFont typeface="Arial" panose="020B0604020202020204" pitchFamily="34" charset="0"/>
                <a:buChar char="•"/>
              </a:pPr>
              <a:r>
                <a:rPr lang="fr-FR" sz="2100" b="0" dirty="0">
                  <a:latin typeface="Segoe UI" pitchFamily="34" charset="0"/>
                </a:rPr>
                <a:t>Héberge un jeu d’attributs partiel pour d’autres domaines de la forêt </a:t>
              </a:r>
            </a:p>
            <a:p>
              <a:pPr marL="342900" indent="-342900">
                <a:spcBef>
                  <a:spcPts val="600"/>
                </a:spcBef>
                <a:buClr>
                  <a:srgbClr val="0070C0"/>
                </a:buClr>
                <a:buFont typeface="Arial" panose="020B0604020202020204" pitchFamily="34" charset="0"/>
                <a:buChar char="•"/>
              </a:pPr>
              <a:r>
                <a:rPr lang="fr-FR" sz="2100" b="0" dirty="0">
                  <a:latin typeface="Segoe UI" pitchFamily="34" charset="0"/>
                </a:rPr>
                <a:t>Prend en charge les requêtes pour des objets dans la forêt</a:t>
              </a:r>
            </a:p>
          </p:txBody>
        </p:sp>
        <p:sp>
          <p:nvSpPr>
            <p:cNvPr id="6" name="arrow"/>
            <p:cNvSpPr>
              <a:spLocks noChangeArrowheads="1"/>
            </p:cNvSpPr>
            <p:nvPr/>
          </p:nvSpPr>
          <p:spPr bwMode="auto">
            <a:xfrm rot="8412092">
              <a:off x="3130764" y="4307735"/>
              <a:ext cx="337606" cy="812787"/>
            </a:xfrm>
            <a:prstGeom prst="downArrow">
              <a:avLst>
                <a:gd name="adj1" fmla="val 52602"/>
                <a:gd name="adj2" fmla="val 51155"/>
              </a:avLst>
            </a:prstGeom>
            <a:solidFill>
              <a:srgbClr val="FF0000">
                <a:alpha val="7490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sr-Latn-RS" sz="2400">
                <a:latin typeface="Segoe UI" pitchFamily="34" charset="0"/>
                <a:ea typeface="Segoe UI" pitchFamily="34" charset="0"/>
                <a:cs typeface="Segoe UI" pitchFamily="34" charset="0"/>
              </a:endParaRPr>
            </a:p>
          </p:txBody>
        </p:sp>
        <p:sp>
          <p:nvSpPr>
            <p:cNvPr id="7" name="a blue Isosceles Triangle 95"/>
            <p:cNvSpPr/>
            <p:nvPr/>
          </p:nvSpPr>
          <p:spPr>
            <a:xfrm>
              <a:off x="1327369" y="669407"/>
              <a:ext cx="4044245" cy="3614136"/>
            </a:xfrm>
            <a:prstGeom prst="triangle">
              <a:avLst>
                <a:gd name="adj" fmla="val 48593"/>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8" name="a &quot;Global catalog server&quot;"/>
            <p:cNvSpPr>
              <a:spLocks noChangeArrowheads="1"/>
            </p:cNvSpPr>
            <p:nvPr/>
          </p:nvSpPr>
          <p:spPr bwMode="auto">
            <a:xfrm>
              <a:off x="1750162" y="3912717"/>
              <a:ext cx="3279036" cy="313730"/>
            </a:xfrm>
            <a:prstGeom prst="roundRect">
              <a:avLst>
                <a:gd name="adj" fmla="val 4167"/>
              </a:avLst>
            </a:prstGeom>
            <a:ln>
              <a:noFill/>
              <a:headEnd/>
              <a:tailEnd/>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defRPr/>
              </a:pPr>
              <a:r>
                <a:rPr lang="fr-FR" sz="2000" b="0" dirty="0">
                  <a:latin typeface="Segoe UI" pitchFamily="34" charset="0"/>
                </a:rPr>
                <a:t>Serveur de catalogue global</a:t>
              </a:r>
            </a:p>
          </p:txBody>
        </p:sp>
        <p:sp>
          <p:nvSpPr>
            <p:cNvPr id="9" name="b blue Isosceles Triangle 95"/>
            <p:cNvSpPr/>
            <p:nvPr/>
          </p:nvSpPr>
          <p:spPr>
            <a:xfrm>
              <a:off x="5591175" y="2387036"/>
              <a:ext cx="3876329" cy="3805014"/>
            </a:xfrm>
            <a:prstGeom prst="triangle">
              <a:avLst>
                <a:gd name="adj" fmla="val 48912"/>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grpSp>
          <p:nvGrpSpPr>
            <p:cNvPr id="10" name="Group 9"/>
            <p:cNvGrpSpPr/>
            <p:nvPr/>
          </p:nvGrpSpPr>
          <p:grpSpPr>
            <a:xfrm>
              <a:off x="1409337" y="1406233"/>
              <a:ext cx="1214844" cy="2367558"/>
              <a:chOff x="21824" y="4257820"/>
              <a:chExt cx="1214844" cy="2367558"/>
            </a:xfrm>
          </p:grpSpPr>
          <p:grpSp>
            <p:nvGrpSpPr>
              <p:cNvPr id="101" name="Group 100"/>
              <p:cNvGrpSpPr/>
              <p:nvPr/>
            </p:nvGrpSpPr>
            <p:grpSpPr>
              <a:xfrm>
                <a:off x="21824" y="4257820"/>
                <a:ext cx="1214844" cy="2367558"/>
                <a:chOff x="-1195515" y="1269120"/>
                <a:chExt cx="1688322" cy="3290299"/>
              </a:xfrm>
            </p:grpSpPr>
            <p:grpSp>
              <p:nvGrpSpPr>
                <p:cNvPr id="106" name="Group 105"/>
                <p:cNvGrpSpPr>
                  <a:grpSpLocks noChangeAspect="1"/>
                </p:cNvGrpSpPr>
                <p:nvPr/>
              </p:nvGrpSpPr>
              <p:grpSpPr>
                <a:xfrm>
                  <a:off x="-1195515" y="2823489"/>
                  <a:ext cx="1684865" cy="1735930"/>
                  <a:chOff x="808037" y="2079361"/>
                  <a:chExt cx="1684865" cy="1735930"/>
                </a:xfrm>
              </p:grpSpPr>
              <p:sp>
                <p:nvSpPr>
                  <p:cNvPr id="112" name="Flowchart: Magnetic Disk 111"/>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3" name="Oval 112"/>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4" name="Flowchart: Magnetic Disk 113"/>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5" name="Oval 114"/>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107" name="Group 106"/>
                <p:cNvGrpSpPr>
                  <a:grpSpLocks noChangeAspect="1"/>
                </p:cNvGrpSpPr>
                <p:nvPr/>
              </p:nvGrpSpPr>
              <p:grpSpPr>
                <a:xfrm>
                  <a:off x="-1192058" y="1269120"/>
                  <a:ext cx="1684865" cy="1735930"/>
                  <a:chOff x="808037" y="2079361"/>
                  <a:chExt cx="1684865" cy="1735930"/>
                </a:xfrm>
              </p:grpSpPr>
              <p:sp>
                <p:nvSpPr>
                  <p:cNvPr id="108" name="Flowchart: Magnetic Disk 107"/>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09" name="Oval 108"/>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0" name="Flowchart: Magnetic Disk 109"/>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11" name="Oval 110"/>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sp>
            <p:nvSpPr>
              <p:cNvPr id="102" name="&quot;schema"/>
              <p:cNvSpPr/>
              <p:nvPr/>
            </p:nvSpPr>
            <p:spPr>
              <a:xfrm>
                <a:off x="337434" y="4576085"/>
                <a:ext cx="561051" cy="184666"/>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Schéma</a:t>
                </a:r>
                <a:endParaRPr lang="fr-FR" sz="1200" dirty="0"/>
              </a:p>
            </p:txBody>
          </p:sp>
          <p:sp>
            <p:nvSpPr>
              <p:cNvPr id="103" name="&quot;configuration"/>
              <p:cNvSpPr/>
              <p:nvPr/>
            </p:nvSpPr>
            <p:spPr>
              <a:xfrm>
                <a:off x="118796" y="5149348"/>
                <a:ext cx="1008289" cy="184666"/>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Configuration</a:t>
                </a:r>
                <a:endParaRPr lang="fr-FR" sz="1200" dirty="0"/>
              </a:p>
            </p:txBody>
          </p:sp>
          <p:sp>
            <p:nvSpPr>
              <p:cNvPr id="104" name="&quot;domain A"/>
              <p:cNvSpPr/>
              <p:nvPr/>
            </p:nvSpPr>
            <p:spPr>
              <a:xfrm>
                <a:off x="247780" y="5694743"/>
                <a:ext cx="803105" cy="184666"/>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Domaine A</a:t>
                </a:r>
                <a:endParaRPr lang="fr-FR" sz="1200" dirty="0"/>
              </a:p>
            </p:txBody>
          </p:sp>
          <p:sp>
            <p:nvSpPr>
              <p:cNvPr id="105" name="&quot;domain B"/>
              <p:cNvSpPr/>
              <p:nvPr/>
            </p:nvSpPr>
            <p:spPr>
              <a:xfrm>
                <a:off x="257398" y="6249615"/>
                <a:ext cx="793487" cy="184666"/>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Domaine B</a:t>
                </a:r>
                <a:endParaRPr lang="fr-FR" sz="1200" dirty="0"/>
              </a:p>
            </p:txBody>
          </p:sp>
        </p:grpSp>
        <p:grpSp>
          <p:nvGrpSpPr>
            <p:cNvPr id="11" name="Group 10"/>
            <p:cNvGrpSpPr/>
            <p:nvPr/>
          </p:nvGrpSpPr>
          <p:grpSpPr>
            <a:xfrm>
              <a:off x="3446390" y="597575"/>
              <a:ext cx="1086247" cy="1617316"/>
              <a:chOff x="-1124989" y="1731925"/>
              <a:chExt cx="1214844" cy="1808783"/>
            </a:xfrm>
          </p:grpSpPr>
          <p:grpSp>
            <p:nvGrpSpPr>
              <p:cNvPr id="90" name="Group 89"/>
              <p:cNvGrpSpPr/>
              <p:nvPr/>
            </p:nvGrpSpPr>
            <p:grpSpPr>
              <a:xfrm>
                <a:off x="-1124989" y="1731925"/>
                <a:ext cx="1214844" cy="1808783"/>
                <a:chOff x="-1124989" y="1731925"/>
                <a:chExt cx="1214844" cy="1808783"/>
              </a:xfrm>
            </p:grpSpPr>
            <p:grpSp>
              <p:nvGrpSpPr>
                <p:cNvPr id="95" name="Group 94"/>
                <p:cNvGrpSpPr>
                  <a:grpSpLocks noChangeAspect="1"/>
                </p:cNvGrpSpPr>
                <p:nvPr/>
              </p:nvGrpSpPr>
              <p:grpSpPr>
                <a:xfrm>
                  <a:off x="-1124989" y="2291607"/>
                  <a:ext cx="1212356" cy="1249101"/>
                  <a:chOff x="808037" y="2079361"/>
                  <a:chExt cx="1684865" cy="1735930"/>
                </a:xfrm>
              </p:grpSpPr>
              <p:sp>
                <p:nvSpPr>
                  <p:cNvPr id="97" name="Flowchart: Magnetic Disk 96"/>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98" name="Oval 97"/>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9" name="Flowchart: Magnetic Disk 98"/>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100" name="Oval 99"/>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96" name="Flowchart: Magnetic Disk 95"/>
                <p:cNvSpPr/>
                <p:nvPr/>
              </p:nvSpPr>
              <p:spPr>
                <a:xfrm>
                  <a:off x="-1119836" y="1731925"/>
                  <a:ext cx="1209691" cy="69032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sp>
            <p:nvSpPr>
              <p:cNvPr id="91" name="Oval 90"/>
              <p:cNvSpPr/>
              <p:nvPr/>
            </p:nvSpPr>
            <p:spPr bwMode="auto">
              <a:xfrm>
                <a:off x="-1103397" y="1731925"/>
                <a:ext cx="1157527" cy="229601"/>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2" name="&quot;domain B"/>
              <p:cNvSpPr/>
              <p:nvPr/>
            </p:nvSpPr>
            <p:spPr>
              <a:xfrm>
                <a:off x="-934748" y="3179454"/>
                <a:ext cx="898182"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Domaine A</a:t>
                </a:r>
                <a:endParaRPr lang="fr-FR" sz="1200" dirty="0"/>
              </a:p>
            </p:txBody>
          </p:sp>
          <p:sp>
            <p:nvSpPr>
              <p:cNvPr id="93" name="&quot;configuration"/>
              <p:cNvSpPr/>
              <p:nvPr/>
            </p:nvSpPr>
            <p:spPr>
              <a:xfrm>
                <a:off x="-1079002" y="2612341"/>
                <a:ext cx="1127657"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Configuration</a:t>
                </a:r>
                <a:endParaRPr lang="fr-FR" sz="1200" dirty="0"/>
              </a:p>
            </p:txBody>
          </p:sp>
          <p:sp>
            <p:nvSpPr>
              <p:cNvPr id="94" name="&quot;schema"/>
              <p:cNvSpPr/>
              <p:nvPr/>
            </p:nvSpPr>
            <p:spPr>
              <a:xfrm>
                <a:off x="-834480" y="2034246"/>
                <a:ext cx="627472"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Schéma</a:t>
                </a:r>
                <a:endParaRPr lang="fr-FR" sz="1200" dirty="0"/>
              </a:p>
            </p:txBody>
          </p:sp>
        </p:grpSp>
        <p:pic>
          <p:nvPicPr>
            <p:cNvPr id="12" name="Picture 11"/>
            <p:cNvPicPr>
              <a:picLocks noChangeAspect="1"/>
            </p:cNvPicPr>
            <p:nvPr/>
          </p:nvPicPr>
          <p:blipFill>
            <a:blip r:embed="rId3"/>
            <a:stretch>
              <a:fillRect/>
            </a:stretch>
          </p:blipFill>
          <p:spPr>
            <a:xfrm>
              <a:off x="4219507" y="2166174"/>
              <a:ext cx="714164" cy="1344307"/>
            </a:xfrm>
            <a:prstGeom prst="rect">
              <a:avLst/>
            </a:prstGeom>
          </p:spPr>
        </p:pic>
        <p:pic>
          <p:nvPicPr>
            <p:cNvPr id="13" name="Picture 12"/>
            <p:cNvPicPr>
              <a:picLocks noChangeAspect="1"/>
            </p:cNvPicPr>
            <p:nvPr/>
          </p:nvPicPr>
          <p:blipFill>
            <a:blip r:embed="rId3"/>
            <a:stretch>
              <a:fillRect/>
            </a:stretch>
          </p:blipFill>
          <p:spPr>
            <a:xfrm>
              <a:off x="2742947" y="2351580"/>
              <a:ext cx="714164" cy="1344307"/>
            </a:xfrm>
            <a:prstGeom prst="rect">
              <a:avLst/>
            </a:prstGeom>
          </p:spPr>
        </p:pic>
        <p:grpSp>
          <p:nvGrpSpPr>
            <p:cNvPr id="14" name="Group 13"/>
            <p:cNvGrpSpPr/>
            <p:nvPr/>
          </p:nvGrpSpPr>
          <p:grpSpPr>
            <a:xfrm>
              <a:off x="7645376" y="2463555"/>
              <a:ext cx="1086247" cy="1617316"/>
              <a:chOff x="-1124989" y="1731925"/>
              <a:chExt cx="1214844" cy="1808783"/>
            </a:xfrm>
          </p:grpSpPr>
          <p:grpSp>
            <p:nvGrpSpPr>
              <p:cNvPr id="79" name="Group 78"/>
              <p:cNvGrpSpPr/>
              <p:nvPr/>
            </p:nvGrpSpPr>
            <p:grpSpPr>
              <a:xfrm>
                <a:off x="-1124989" y="1731925"/>
                <a:ext cx="1214844" cy="1808783"/>
                <a:chOff x="-1124989" y="1731925"/>
                <a:chExt cx="1214844" cy="1808783"/>
              </a:xfrm>
            </p:grpSpPr>
            <p:grpSp>
              <p:nvGrpSpPr>
                <p:cNvPr id="84" name="Group 83"/>
                <p:cNvGrpSpPr>
                  <a:grpSpLocks noChangeAspect="1"/>
                </p:cNvGrpSpPr>
                <p:nvPr/>
              </p:nvGrpSpPr>
              <p:grpSpPr>
                <a:xfrm>
                  <a:off x="-1124989" y="2291607"/>
                  <a:ext cx="1212356" cy="1249101"/>
                  <a:chOff x="808037" y="2079361"/>
                  <a:chExt cx="1684865" cy="1735930"/>
                </a:xfrm>
              </p:grpSpPr>
              <p:sp>
                <p:nvSpPr>
                  <p:cNvPr id="86" name="Flowchart: Magnetic Disk 85"/>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7" name="Oval 86"/>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8" name="Flowchart: Magnetic Disk 87"/>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89" name="Oval 88"/>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85" name="Flowchart: Magnetic Disk 84"/>
                <p:cNvSpPr/>
                <p:nvPr/>
              </p:nvSpPr>
              <p:spPr>
                <a:xfrm>
                  <a:off x="-1119836" y="1731925"/>
                  <a:ext cx="1209691" cy="69032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sp>
            <p:nvSpPr>
              <p:cNvPr id="80" name="Oval 79"/>
              <p:cNvSpPr/>
              <p:nvPr/>
            </p:nvSpPr>
            <p:spPr bwMode="auto">
              <a:xfrm>
                <a:off x="-1103397" y="1731925"/>
                <a:ext cx="1157527" cy="229601"/>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81" name="&quot;domain B"/>
              <p:cNvSpPr/>
              <p:nvPr/>
            </p:nvSpPr>
            <p:spPr>
              <a:xfrm>
                <a:off x="-932923" y="3179454"/>
                <a:ext cx="887425"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Domaine B</a:t>
                </a:r>
                <a:endParaRPr lang="fr-FR" sz="1200" dirty="0"/>
              </a:p>
            </p:txBody>
          </p:sp>
          <p:sp>
            <p:nvSpPr>
              <p:cNvPr id="82" name="&quot;configuration"/>
              <p:cNvSpPr/>
              <p:nvPr/>
            </p:nvSpPr>
            <p:spPr>
              <a:xfrm>
                <a:off x="-1087933" y="2612341"/>
                <a:ext cx="1127657"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Configuration</a:t>
                </a:r>
                <a:endParaRPr lang="fr-FR" sz="1200" dirty="0"/>
              </a:p>
            </p:txBody>
          </p:sp>
          <p:sp>
            <p:nvSpPr>
              <p:cNvPr id="83" name="&quot;schema"/>
              <p:cNvSpPr/>
              <p:nvPr/>
            </p:nvSpPr>
            <p:spPr>
              <a:xfrm>
                <a:off x="-843411" y="2034246"/>
                <a:ext cx="627472"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Schéma</a:t>
                </a:r>
                <a:endParaRPr lang="fr-FR" sz="1200" dirty="0"/>
              </a:p>
            </p:txBody>
          </p:sp>
        </p:grpSp>
        <p:grpSp>
          <p:nvGrpSpPr>
            <p:cNvPr id="15" name="Group 14"/>
            <p:cNvGrpSpPr/>
            <p:nvPr/>
          </p:nvGrpSpPr>
          <p:grpSpPr>
            <a:xfrm>
              <a:off x="5793409" y="3678847"/>
              <a:ext cx="1086247" cy="1617316"/>
              <a:chOff x="-1124989" y="1731925"/>
              <a:chExt cx="1214844" cy="1808783"/>
            </a:xfrm>
          </p:grpSpPr>
          <p:grpSp>
            <p:nvGrpSpPr>
              <p:cNvPr id="68" name="Group 67"/>
              <p:cNvGrpSpPr/>
              <p:nvPr/>
            </p:nvGrpSpPr>
            <p:grpSpPr>
              <a:xfrm>
                <a:off x="-1124989" y="1731925"/>
                <a:ext cx="1214844" cy="1808783"/>
                <a:chOff x="-1124989" y="1731925"/>
                <a:chExt cx="1214844" cy="1808783"/>
              </a:xfrm>
            </p:grpSpPr>
            <p:grpSp>
              <p:nvGrpSpPr>
                <p:cNvPr id="73" name="Group 72"/>
                <p:cNvGrpSpPr>
                  <a:grpSpLocks noChangeAspect="1"/>
                </p:cNvGrpSpPr>
                <p:nvPr/>
              </p:nvGrpSpPr>
              <p:grpSpPr>
                <a:xfrm>
                  <a:off x="-1124989" y="2291607"/>
                  <a:ext cx="1212356" cy="1249101"/>
                  <a:chOff x="808037" y="2079361"/>
                  <a:chExt cx="1684865" cy="1735930"/>
                </a:xfrm>
              </p:grpSpPr>
              <p:sp>
                <p:nvSpPr>
                  <p:cNvPr id="75" name="Flowchart: Magnetic Disk 74"/>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6" name="Oval 75"/>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7" name="Flowchart: Magnetic Disk 76"/>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sz="1200" dirty="0"/>
                  </a:p>
                </p:txBody>
              </p:sp>
              <p:sp>
                <p:nvSpPr>
                  <p:cNvPr id="78" name="Oval 77"/>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sp>
              <p:nvSpPr>
                <p:cNvPr id="74" name="Flowchart: Magnetic Disk 73"/>
                <p:cNvSpPr/>
                <p:nvPr/>
              </p:nvSpPr>
              <p:spPr>
                <a:xfrm>
                  <a:off x="-1119836" y="1731925"/>
                  <a:ext cx="1209691" cy="69032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sp>
            <p:nvSpPr>
              <p:cNvPr id="69" name="Oval 68"/>
              <p:cNvSpPr/>
              <p:nvPr/>
            </p:nvSpPr>
            <p:spPr bwMode="auto">
              <a:xfrm>
                <a:off x="-1103397" y="1731925"/>
                <a:ext cx="1157527" cy="229601"/>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70" name="&quot;domain B"/>
              <p:cNvSpPr/>
              <p:nvPr/>
            </p:nvSpPr>
            <p:spPr>
              <a:xfrm>
                <a:off x="-992234" y="3179454"/>
                <a:ext cx="887425"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Domaine B</a:t>
                </a:r>
                <a:endParaRPr lang="fr-FR" sz="1200" dirty="0"/>
              </a:p>
            </p:txBody>
          </p:sp>
          <p:sp>
            <p:nvSpPr>
              <p:cNvPr id="71" name="&quot;configuration"/>
              <p:cNvSpPr/>
              <p:nvPr/>
            </p:nvSpPr>
            <p:spPr>
              <a:xfrm>
                <a:off x="-1062024" y="2612341"/>
                <a:ext cx="1127657"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Configuration</a:t>
                </a:r>
                <a:endParaRPr lang="fr-FR" sz="1200" dirty="0"/>
              </a:p>
            </p:txBody>
          </p:sp>
          <p:sp>
            <p:nvSpPr>
              <p:cNvPr id="72" name="&quot;schema"/>
              <p:cNvSpPr/>
              <p:nvPr/>
            </p:nvSpPr>
            <p:spPr>
              <a:xfrm>
                <a:off x="-817502" y="2034246"/>
                <a:ext cx="627472" cy="206528"/>
              </a:xfrm>
              <a:prstGeom prst="rect">
                <a:avLst/>
              </a:prstGeom>
            </p:spPr>
            <p:txBody>
              <a:bodyPr wrap="non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sz="1200" dirty="0">
                    <a:latin typeface="Segoe UI" pitchFamily="34" charset="0"/>
                  </a:rPr>
                  <a:t>Schéma</a:t>
                </a:r>
                <a:endParaRPr lang="fr-FR" sz="1200" dirty="0"/>
              </a:p>
            </p:txBody>
          </p:sp>
        </p:grpSp>
        <p:pic>
          <p:nvPicPr>
            <p:cNvPr id="16" name="Picture 15"/>
            <p:cNvPicPr>
              <a:picLocks noChangeAspect="1"/>
            </p:cNvPicPr>
            <p:nvPr/>
          </p:nvPicPr>
          <p:blipFill>
            <a:blip r:embed="rId3"/>
            <a:stretch>
              <a:fillRect/>
            </a:stretch>
          </p:blipFill>
          <p:spPr>
            <a:xfrm>
              <a:off x="8361399" y="4041974"/>
              <a:ext cx="714164" cy="1344307"/>
            </a:xfrm>
            <a:prstGeom prst="rect">
              <a:avLst/>
            </a:prstGeom>
          </p:spPr>
        </p:pic>
        <p:pic>
          <p:nvPicPr>
            <p:cNvPr id="17" name="Picture 16"/>
            <p:cNvPicPr>
              <a:picLocks noChangeAspect="1"/>
            </p:cNvPicPr>
            <p:nvPr/>
          </p:nvPicPr>
          <p:blipFill>
            <a:blip r:embed="rId3"/>
            <a:stretch>
              <a:fillRect/>
            </a:stretch>
          </p:blipFill>
          <p:spPr>
            <a:xfrm>
              <a:off x="6915878" y="4714127"/>
              <a:ext cx="714164" cy="1344307"/>
            </a:xfrm>
            <a:prstGeom prst="rect">
              <a:avLst/>
            </a:prstGeom>
          </p:spPr>
        </p:pic>
        <p:grpSp>
          <p:nvGrpSpPr>
            <p:cNvPr id="18" name="Group 17"/>
            <p:cNvGrpSpPr/>
            <p:nvPr/>
          </p:nvGrpSpPr>
          <p:grpSpPr>
            <a:xfrm>
              <a:off x="3198393" y="4495937"/>
              <a:ext cx="1755761" cy="1345578"/>
              <a:chOff x="3198393" y="4495937"/>
              <a:chExt cx="1755761" cy="1345578"/>
            </a:xfrm>
          </p:grpSpPr>
          <p:grpSp>
            <p:nvGrpSpPr>
              <p:cNvPr id="19" name="Group 18"/>
              <p:cNvGrpSpPr>
                <a:grpSpLocks noChangeAspect="1"/>
              </p:cNvGrpSpPr>
              <p:nvPr/>
            </p:nvGrpSpPr>
            <p:grpSpPr bwMode="auto">
              <a:xfrm>
                <a:off x="3317196" y="4495937"/>
                <a:ext cx="722328" cy="870802"/>
                <a:chOff x="1780" y="1364"/>
                <a:chExt cx="793" cy="956"/>
              </a:xfrm>
            </p:grpSpPr>
            <p:sp>
              <p:nvSpPr>
                <p:cNvPr id="33" name="AutoShape 3"/>
                <p:cNvSpPr>
                  <a:spLocks noChangeAspect="1" noChangeArrowheads="1" noTextEdit="1"/>
                </p:cNvSpPr>
                <p:nvPr/>
              </p:nvSpPr>
              <p:spPr bwMode="auto">
                <a:xfrm>
                  <a:off x="1780" y="1364"/>
                  <a:ext cx="793" cy="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4" name="Freeform 33"/>
                <p:cNvSpPr>
                  <a:spLocks/>
                </p:cNvSpPr>
                <p:nvPr/>
              </p:nvSpPr>
              <p:spPr bwMode="auto">
                <a:xfrm>
                  <a:off x="1818" y="1494"/>
                  <a:ext cx="700" cy="717"/>
                </a:xfrm>
                <a:custGeom>
                  <a:avLst/>
                  <a:gdLst>
                    <a:gd name="T0" fmla="*/ 1472 w 1487"/>
                    <a:gd name="T1" fmla="*/ 646 h 1524"/>
                    <a:gd name="T2" fmla="*/ 646 w 1487"/>
                    <a:gd name="T3" fmla="*/ 69 h 1524"/>
                    <a:gd name="T4" fmla="*/ 69 w 1487"/>
                    <a:gd name="T5" fmla="*/ 895 h 1524"/>
                    <a:gd name="T6" fmla="*/ 170 w 1487"/>
                    <a:gd name="T7" fmla="*/ 1154 h 1524"/>
                    <a:gd name="T8" fmla="*/ 895 w 1487"/>
                    <a:gd name="T9" fmla="*/ 1472 h 1524"/>
                    <a:gd name="T10" fmla="*/ 1477 w 1487"/>
                    <a:gd name="T11" fmla="*/ 862 h 1524"/>
                    <a:gd name="T12" fmla="*/ 1472 w 1487"/>
                    <a:gd name="T13" fmla="*/ 646 h 1524"/>
                  </a:gdLst>
                  <a:ahLst/>
                  <a:cxnLst>
                    <a:cxn ang="0">
                      <a:pos x="T0" y="T1"/>
                    </a:cxn>
                    <a:cxn ang="0">
                      <a:pos x="T2" y="T3"/>
                    </a:cxn>
                    <a:cxn ang="0">
                      <a:pos x="T4" y="T5"/>
                    </a:cxn>
                    <a:cxn ang="0">
                      <a:pos x="T6" y="T7"/>
                    </a:cxn>
                    <a:cxn ang="0">
                      <a:pos x="T8" y="T9"/>
                    </a:cxn>
                    <a:cxn ang="0">
                      <a:pos x="T10" y="T11"/>
                    </a:cxn>
                    <a:cxn ang="0">
                      <a:pos x="T12" y="T13"/>
                    </a:cxn>
                  </a:cxnLst>
                  <a:rect l="0" t="0" r="r" b="b"/>
                  <a:pathLst>
                    <a:path w="1487" h="1524">
                      <a:moveTo>
                        <a:pt x="1472" y="646"/>
                      </a:moveTo>
                      <a:cubicBezTo>
                        <a:pt x="1403" y="258"/>
                        <a:pt x="1033" y="0"/>
                        <a:pt x="646" y="69"/>
                      </a:cubicBezTo>
                      <a:cubicBezTo>
                        <a:pt x="258" y="138"/>
                        <a:pt x="0" y="508"/>
                        <a:pt x="69" y="895"/>
                      </a:cubicBezTo>
                      <a:cubicBezTo>
                        <a:pt x="86" y="990"/>
                        <a:pt x="121" y="1078"/>
                        <a:pt x="170" y="1154"/>
                      </a:cubicBezTo>
                      <a:cubicBezTo>
                        <a:pt x="320" y="1390"/>
                        <a:pt x="603" y="1524"/>
                        <a:pt x="895" y="1472"/>
                      </a:cubicBezTo>
                      <a:cubicBezTo>
                        <a:pt x="1209" y="1416"/>
                        <a:pt x="1439" y="1163"/>
                        <a:pt x="1477" y="862"/>
                      </a:cubicBezTo>
                      <a:cubicBezTo>
                        <a:pt x="1487" y="792"/>
                        <a:pt x="1485" y="719"/>
                        <a:pt x="1472" y="646"/>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5" name="Freeform 34"/>
                <p:cNvSpPr>
                  <a:spLocks/>
                </p:cNvSpPr>
                <p:nvPr/>
              </p:nvSpPr>
              <p:spPr bwMode="auto">
                <a:xfrm>
                  <a:off x="1845" y="1860"/>
                  <a:ext cx="21" cy="41"/>
                </a:xfrm>
                <a:custGeom>
                  <a:avLst/>
                  <a:gdLst>
                    <a:gd name="T0" fmla="*/ 42 w 45"/>
                    <a:gd name="T1" fmla="*/ 29 h 87"/>
                    <a:gd name="T2" fmla="*/ 43 w 45"/>
                    <a:gd name="T3" fmla="*/ 16 h 87"/>
                    <a:gd name="T4" fmla="*/ 33 w 45"/>
                    <a:gd name="T5" fmla="*/ 8 h 87"/>
                    <a:gd name="T6" fmla="*/ 0 w 45"/>
                    <a:gd name="T7" fmla="*/ 0 h 87"/>
                    <a:gd name="T8" fmla="*/ 6 w 45"/>
                    <a:gd name="T9" fmla="*/ 87 h 87"/>
                    <a:gd name="T10" fmla="*/ 42 w 45"/>
                    <a:gd name="T11" fmla="*/ 29 h 87"/>
                  </a:gdLst>
                  <a:ahLst/>
                  <a:cxnLst>
                    <a:cxn ang="0">
                      <a:pos x="T0" y="T1"/>
                    </a:cxn>
                    <a:cxn ang="0">
                      <a:pos x="T2" y="T3"/>
                    </a:cxn>
                    <a:cxn ang="0">
                      <a:pos x="T4" y="T5"/>
                    </a:cxn>
                    <a:cxn ang="0">
                      <a:pos x="T6" y="T7"/>
                    </a:cxn>
                    <a:cxn ang="0">
                      <a:pos x="T8" y="T9"/>
                    </a:cxn>
                    <a:cxn ang="0">
                      <a:pos x="T10" y="T11"/>
                    </a:cxn>
                  </a:cxnLst>
                  <a:rect l="0" t="0" r="r" b="b"/>
                  <a:pathLst>
                    <a:path w="45" h="87">
                      <a:moveTo>
                        <a:pt x="42" y="29"/>
                      </a:moveTo>
                      <a:cubicBezTo>
                        <a:pt x="44" y="25"/>
                        <a:pt x="45" y="20"/>
                        <a:pt x="43" y="16"/>
                      </a:cubicBezTo>
                      <a:cubicBezTo>
                        <a:pt x="41" y="12"/>
                        <a:pt x="38" y="9"/>
                        <a:pt x="33" y="8"/>
                      </a:cubicBezTo>
                      <a:cubicBezTo>
                        <a:pt x="0" y="0"/>
                        <a:pt x="0" y="0"/>
                        <a:pt x="0" y="0"/>
                      </a:cubicBezTo>
                      <a:cubicBezTo>
                        <a:pt x="0" y="29"/>
                        <a:pt x="2" y="58"/>
                        <a:pt x="6" y="87"/>
                      </a:cubicBezTo>
                      <a:lnTo>
                        <a:pt x="42" y="29"/>
                      </a:ln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6" name="Freeform 35"/>
                <p:cNvSpPr>
                  <a:spLocks/>
                </p:cNvSpPr>
                <p:nvPr/>
              </p:nvSpPr>
              <p:spPr bwMode="auto">
                <a:xfrm>
                  <a:off x="1845" y="1589"/>
                  <a:ext cx="366" cy="339"/>
                </a:xfrm>
                <a:custGeom>
                  <a:avLst/>
                  <a:gdLst>
                    <a:gd name="T0" fmla="*/ 329 w 778"/>
                    <a:gd name="T1" fmla="*/ 265 h 721"/>
                    <a:gd name="T2" fmla="*/ 620 w 778"/>
                    <a:gd name="T3" fmla="*/ 103 h 721"/>
                    <a:gd name="T4" fmla="*/ 631 w 778"/>
                    <a:gd name="T5" fmla="*/ 101 h 721"/>
                    <a:gd name="T6" fmla="*/ 631 w 778"/>
                    <a:gd name="T7" fmla="*/ 102 h 721"/>
                    <a:gd name="T8" fmla="*/ 688 w 778"/>
                    <a:gd name="T9" fmla="*/ 105 h 721"/>
                    <a:gd name="T10" fmla="*/ 688 w 778"/>
                    <a:gd name="T11" fmla="*/ 105 h 721"/>
                    <a:gd name="T12" fmla="*/ 729 w 778"/>
                    <a:gd name="T13" fmla="*/ 76 h 721"/>
                    <a:gd name="T14" fmla="*/ 735 w 778"/>
                    <a:gd name="T15" fmla="*/ 66 h 721"/>
                    <a:gd name="T16" fmla="*/ 732 w 778"/>
                    <a:gd name="T17" fmla="*/ 55 h 721"/>
                    <a:gd name="T18" fmla="*/ 724 w 778"/>
                    <a:gd name="T19" fmla="*/ 46 h 721"/>
                    <a:gd name="T20" fmla="*/ 768 w 778"/>
                    <a:gd name="T21" fmla="*/ 36 h 721"/>
                    <a:gd name="T22" fmla="*/ 778 w 778"/>
                    <a:gd name="T23" fmla="*/ 22 h 721"/>
                    <a:gd name="T24" fmla="*/ 767 w 778"/>
                    <a:gd name="T25" fmla="*/ 9 h 721"/>
                    <a:gd name="T26" fmla="*/ 714 w 778"/>
                    <a:gd name="T27" fmla="*/ 1 h 721"/>
                    <a:gd name="T28" fmla="*/ 370 w 778"/>
                    <a:gd name="T29" fmla="*/ 23 h 721"/>
                    <a:gd name="T30" fmla="*/ 366 w 778"/>
                    <a:gd name="T31" fmla="*/ 25 h 721"/>
                    <a:gd name="T32" fmla="*/ 315 w 778"/>
                    <a:gd name="T33" fmla="*/ 45 h 721"/>
                    <a:gd name="T34" fmla="*/ 221 w 778"/>
                    <a:gd name="T35" fmla="*/ 53 h 721"/>
                    <a:gd name="T36" fmla="*/ 0 w 778"/>
                    <a:gd name="T37" fmla="*/ 550 h 721"/>
                    <a:gd name="T38" fmla="*/ 17 w 778"/>
                    <a:gd name="T39" fmla="*/ 550 h 721"/>
                    <a:gd name="T40" fmla="*/ 89 w 778"/>
                    <a:gd name="T41" fmla="*/ 572 h 721"/>
                    <a:gd name="T42" fmla="*/ 118 w 778"/>
                    <a:gd name="T43" fmla="*/ 599 h 721"/>
                    <a:gd name="T44" fmla="*/ 120 w 778"/>
                    <a:gd name="T45" fmla="*/ 600 h 721"/>
                    <a:gd name="T46" fmla="*/ 153 w 778"/>
                    <a:gd name="T47" fmla="*/ 621 h 721"/>
                    <a:gd name="T48" fmla="*/ 174 w 778"/>
                    <a:gd name="T49" fmla="*/ 649 h 721"/>
                    <a:gd name="T50" fmla="*/ 202 w 778"/>
                    <a:gd name="T51" fmla="*/ 703 h 721"/>
                    <a:gd name="T52" fmla="*/ 209 w 778"/>
                    <a:gd name="T53" fmla="*/ 710 h 721"/>
                    <a:gd name="T54" fmla="*/ 235 w 778"/>
                    <a:gd name="T55" fmla="*/ 720 h 721"/>
                    <a:gd name="T56" fmla="*/ 247 w 778"/>
                    <a:gd name="T57" fmla="*/ 718 h 721"/>
                    <a:gd name="T58" fmla="*/ 254 w 778"/>
                    <a:gd name="T59" fmla="*/ 709 h 721"/>
                    <a:gd name="T60" fmla="*/ 264 w 778"/>
                    <a:gd name="T61" fmla="*/ 648 h 721"/>
                    <a:gd name="T62" fmla="*/ 261 w 778"/>
                    <a:gd name="T63" fmla="*/ 637 h 721"/>
                    <a:gd name="T64" fmla="*/ 256 w 778"/>
                    <a:gd name="T65" fmla="*/ 632 h 721"/>
                    <a:gd name="T66" fmla="*/ 267 w 778"/>
                    <a:gd name="T67" fmla="*/ 623 h 721"/>
                    <a:gd name="T68" fmla="*/ 270 w 778"/>
                    <a:gd name="T69" fmla="*/ 618 h 721"/>
                    <a:gd name="T70" fmla="*/ 279 w 778"/>
                    <a:gd name="T71" fmla="*/ 601 h 721"/>
                    <a:gd name="T72" fmla="*/ 329 w 778"/>
                    <a:gd name="T73" fmla="*/ 265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8" h="721">
                      <a:moveTo>
                        <a:pt x="329" y="265"/>
                      </a:moveTo>
                      <a:cubicBezTo>
                        <a:pt x="398" y="165"/>
                        <a:pt x="507" y="109"/>
                        <a:pt x="620" y="103"/>
                      </a:cubicBezTo>
                      <a:cubicBezTo>
                        <a:pt x="631" y="101"/>
                        <a:pt x="631" y="101"/>
                        <a:pt x="631" y="101"/>
                      </a:cubicBezTo>
                      <a:cubicBezTo>
                        <a:pt x="631" y="102"/>
                        <a:pt x="631" y="102"/>
                        <a:pt x="631" y="102"/>
                      </a:cubicBezTo>
                      <a:cubicBezTo>
                        <a:pt x="650" y="102"/>
                        <a:pt x="669" y="103"/>
                        <a:pt x="688" y="105"/>
                      </a:cubicBezTo>
                      <a:cubicBezTo>
                        <a:pt x="688" y="105"/>
                        <a:pt x="688" y="105"/>
                        <a:pt x="688" y="105"/>
                      </a:cubicBezTo>
                      <a:cubicBezTo>
                        <a:pt x="729" y="76"/>
                        <a:pt x="729" y="76"/>
                        <a:pt x="729" y="76"/>
                      </a:cubicBezTo>
                      <a:cubicBezTo>
                        <a:pt x="732" y="74"/>
                        <a:pt x="735" y="70"/>
                        <a:pt x="735" y="66"/>
                      </a:cubicBezTo>
                      <a:cubicBezTo>
                        <a:pt x="736" y="62"/>
                        <a:pt x="734" y="58"/>
                        <a:pt x="732" y="55"/>
                      </a:cubicBezTo>
                      <a:cubicBezTo>
                        <a:pt x="724" y="46"/>
                        <a:pt x="724" y="46"/>
                        <a:pt x="724" y="46"/>
                      </a:cubicBezTo>
                      <a:cubicBezTo>
                        <a:pt x="768" y="36"/>
                        <a:pt x="768" y="36"/>
                        <a:pt x="768" y="36"/>
                      </a:cubicBezTo>
                      <a:cubicBezTo>
                        <a:pt x="774" y="34"/>
                        <a:pt x="778" y="29"/>
                        <a:pt x="778" y="22"/>
                      </a:cubicBezTo>
                      <a:cubicBezTo>
                        <a:pt x="778" y="16"/>
                        <a:pt x="774" y="10"/>
                        <a:pt x="767" y="9"/>
                      </a:cubicBezTo>
                      <a:cubicBezTo>
                        <a:pt x="725" y="0"/>
                        <a:pt x="717" y="0"/>
                        <a:pt x="714" y="1"/>
                      </a:cubicBezTo>
                      <a:cubicBezTo>
                        <a:pt x="703" y="2"/>
                        <a:pt x="503" y="15"/>
                        <a:pt x="370" y="23"/>
                      </a:cubicBezTo>
                      <a:cubicBezTo>
                        <a:pt x="369" y="24"/>
                        <a:pt x="367" y="24"/>
                        <a:pt x="366" y="25"/>
                      </a:cubicBezTo>
                      <a:cubicBezTo>
                        <a:pt x="315" y="45"/>
                        <a:pt x="315" y="45"/>
                        <a:pt x="315" y="45"/>
                      </a:cubicBezTo>
                      <a:cubicBezTo>
                        <a:pt x="221" y="53"/>
                        <a:pt x="221" y="53"/>
                        <a:pt x="221" y="53"/>
                      </a:cubicBezTo>
                      <a:cubicBezTo>
                        <a:pt x="87" y="180"/>
                        <a:pt x="5" y="358"/>
                        <a:pt x="0" y="550"/>
                      </a:cubicBezTo>
                      <a:cubicBezTo>
                        <a:pt x="17" y="550"/>
                        <a:pt x="17" y="550"/>
                        <a:pt x="17" y="550"/>
                      </a:cubicBezTo>
                      <a:cubicBezTo>
                        <a:pt x="89" y="572"/>
                        <a:pt x="89" y="572"/>
                        <a:pt x="89" y="572"/>
                      </a:cubicBezTo>
                      <a:cubicBezTo>
                        <a:pt x="118" y="599"/>
                        <a:pt x="118" y="599"/>
                        <a:pt x="118" y="599"/>
                      </a:cubicBezTo>
                      <a:cubicBezTo>
                        <a:pt x="119" y="599"/>
                        <a:pt x="120" y="600"/>
                        <a:pt x="120" y="600"/>
                      </a:cubicBezTo>
                      <a:cubicBezTo>
                        <a:pt x="153" y="621"/>
                        <a:pt x="153" y="621"/>
                        <a:pt x="153" y="621"/>
                      </a:cubicBezTo>
                      <a:cubicBezTo>
                        <a:pt x="174" y="649"/>
                        <a:pt x="174" y="649"/>
                        <a:pt x="174" y="649"/>
                      </a:cubicBezTo>
                      <a:cubicBezTo>
                        <a:pt x="202" y="703"/>
                        <a:pt x="202" y="703"/>
                        <a:pt x="202" y="703"/>
                      </a:cubicBezTo>
                      <a:cubicBezTo>
                        <a:pt x="203" y="706"/>
                        <a:pt x="206" y="709"/>
                        <a:pt x="209" y="710"/>
                      </a:cubicBezTo>
                      <a:cubicBezTo>
                        <a:pt x="235" y="720"/>
                        <a:pt x="235" y="720"/>
                        <a:pt x="235" y="720"/>
                      </a:cubicBezTo>
                      <a:cubicBezTo>
                        <a:pt x="239" y="721"/>
                        <a:pt x="244" y="721"/>
                        <a:pt x="247" y="718"/>
                      </a:cubicBezTo>
                      <a:cubicBezTo>
                        <a:pt x="251" y="716"/>
                        <a:pt x="253" y="713"/>
                        <a:pt x="254" y="709"/>
                      </a:cubicBezTo>
                      <a:cubicBezTo>
                        <a:pt x="264" y="648"/>
                        <a:pt x="264" y="648"/>
                        <a:pt x="264" y="648"/>
                      </a:cubicBezTo>
                      <a:cubicBezTo>
                        <a:pt x="264" y="644"/>
                        <a:pt x="263" y="640"/>
                        <a:pt x="261" y="637"/>
                      </a:cubicBezTo>
                      <a:cubicBezTo>
                        <a:pt x="256" y="632"/>
                        <a:pt x="256" y="632"/>
                        <a:pt x="256" y="632"/>
                      </a:cubicBezTo>
                      <a:cubicBezTo>
                        <a:pt x="267" y="623"/>
                        <a:pt x="267" y="623"/>
                        <a:pt x="267" y="623"/>
                      </a:cubicBezTo>
                      <a:cubicBezTo>
                        <a:pt x="268" y="621"/>
                        <a:pt x="270" y="620"/>
                        <a:pt x="270" y="618"/>
                      </a:cubicBezTo>
                      <a:cubicBezTo>
                        <a:pt x="279" y="601"/>
                        <a:pt x="279" y="601"/>
                        <a:pt x="279" y="601"/>
                      </a:cubicBezTo>
                      <a:cubicBezTo>
                        <a:pt x="243" y="492"/>
                        <a:pt x="257" y="367"/>
                        <a:pt x="329" y="265"/>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7" name="Freeform 36"/>
                <p:cNvSpPr>
                  <a:spLocks/>
                </p:cNvSpPr>
                <p:nvPr/>
              </p:nvSpPr>
              <p:spPr bwMode="auto">
                <a:xfrm>
                  <a:off x="2252" y="1934"/>
                  <a:ext cx="50" cy="30"/>
                </a:xfrm>
                <a:custGeom>
                  <a:avLst/>
                  <a:gdLst>
                    <a:gd name="T0" fmla="*/ 3 w 105"/>
                    <a:gd name="T1" fmla="*/ 54 h 62"/>
                    <a:gd name="T2" fmla="*/ 18 w 105"/>
                    <a:gd name="T3" fmla="*/ 49 h 62"/>
                    <a:gd name="T4" fmla="*/ 27 w 105"/>
                    <a:gd name="T5" fmla="*/ 36 h 62"/>
                    <a:gd name="T6" fmla="*/ 84 w 105"/>
                    <a:gd name="T7" fmla="*/ 61 h 62"/>
                    <a:gd name="T8" fmla="*/ 92 w 105"/>
                    <a:gd name="T9" fmla="*/ 62 h 62"/>
                    <a:gd name="T10" fmla="*/ 101 w 105"/>
                    <a:gd name="T11" fmla="*/ 56 h 62"/>
                    <a:gd name="T12" fmla="*/ 99 w 105"/>
                    <a:gd name="T13" fmla="*/ 38 h 62"/>
                    <a:gd name="T14" fmla="*/ 58 w 105"/>
                    <a:gd name="T15" fmla="*/ 0 h 62"/>
                    <a:gd name="T16" fmla="*/ 0 w 105"/>
                    <a:gd name="T17" fmla="*/ 53 h 62"/>
                    <a:gd name="T18" fmla="*/ 3 w 105"/>
                    <a:gd name="T19"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 h="62">
                      <a:moveTo>
                        <a:pt x="3" y="54"/>
                      </a:moveTo>
                      <a:cubicBezTo>
                        <a:pt x="9" y="56"/>
                        <a:pt x="15" y="53"/>
                        <a:pt x="18" y="49"/>
                      </a:cubicBezTo>
                      <a:cubicBezTo>
                        <a:pt x="27" y="36"/>
                        <a:pt x="27" y="36"/>
                        <a:pt x="27" y="36"/>
                      </a:cubicBezTo>
                      <a:cubicBezTo>
                        <a:pt x="84" y="61"/>
                        <a:pt x="84" y="61"/>
                        <a:pt x="84" y="61"/>
                      </a:cubicBezTo>
                      <a:cubicBezTo>
                        <a:pt x="86" y="62"/>
                        <a:pt x="89" y="62"/>
                        <a:pt x="92" y="62"/>
                      </a:cubicBezTo>
                      <a:cubicBezTo>
                        <a:pt x="96" y="61"/>
                        <a:pt x="99" y="59"/>
                        <a:pt x="101" y="56"/>
                      </a:cubicBezTo>
                      <a:cubicBezTo>
                        <a:pt x="105" y="50"/>
                        <a:pt x="104" y="43"/>
                        <a:pt x="99" y="38"/>
                      </a:cubicBezTo>
                      <a:cubicBezTo>
                        <a:pt x="58" y="0"/>
                        <a:pt x="58" y="0"/>
                        <a:pt x="58" y="0"/>
                      </a:cubicBezTo>
                      <a:cubicBezTo>
                        <a:pt x="41" y="20"/>
                        <a:pt x="21" y="38"/>
                        <a:pt x="0" y="53"/>
                      </a:cubicBezTo>
                      <a:lnTo>
                        <a:pt x="3" y="54"/>
                      </a:ln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8" name="Freeform 37"/>
                <p:cNvSpPr>
                  <a:spLocks/>
                </p:cNvSpPr>
                <p:nvPr/>
              </p:nvSpPr>
              <p:spPr bwMode="auto">
                <a:xfrm>
                  <a:off x="2285" y="1914"/>
                  <a:ext cx="17" cy="22"/>
                </a:xfrm>
                <a:custGeom>
                  <a:avLst/>
                  <a:gdLst>
                    <a:gd name="T0" fmla="*/ 4 w 37"/>
                    <a:gd name="T1" fmla="*/ 26 h 47"/>
                    <a:gd name="T2" fmla="*/ 3 w 37"/>
                    <a:gd name="T3" fmla="*/ 29 h 47"/>
                    <a:gd name="T4" fmla="*/ 12 w 37"/>
                    <a:gd name="T5" fmla="*/ 46 h 47"/>
                    <a:gd name="T6" fmla="*/ 19 w 37"/>
                    <a:gd name="T7" fmla="*/ 47 h 47"/>
                    <a:gd name="T8" fmla="*/ 29 w 37"/>
                    <a:gd name="T9" fmla="*/ 37 h 47"/>
                    <a:gd name="T10" fmla="*/ 35 w 37"/>
                    <a:gd name="T11" fmla="*/ 20 h 47"/>
                    <a:gd name="T12" fmla="*/ 29 w 37"/>
                    <a:gd name="T13" fmla="*/ 4 h 47"/>
                    <a:gd name="T14" fmla="*/ 23 w 37"/>
                    <a:gd name="T15" fmla="*/ 0 h 47"/>
                    <a:gd name="T16" fmla="*/ 18 w 37"/>
                    <a:gd name="T17" fmla="*/ 8 h 47"/>
                    <a:gd name="T18" fmla="*/ 4 w 37"/>
                    <a:gd name="T1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47">
                      <a:moveTo>
                        <a:pt x="4" y="26"/>
                      </a:moveTo>
                      <a:cubicBezTo>
                        <a:pt x="3" y="29"/>
                        <a:pt x="3" y="29"/>
                        <a:pt x="3" y="29"/>
                      </a:cubicBezTo>
                      <a:cubicBezTo>
                        <a:pt x="0" y="36"/>
                        <a:pt x="4" y="44"/>
                        <a:pt x="12" y="46"/>
                      </a:cubicBezTo>
                      <a:cubicBezTo>
                        <a:pt x="14" y="47"/>
                        <a:pt x="16" y="47"/>
                        <a:pt x="19" y="47"/>
                      </a:cubicBezTo>
                      <a:cubicBezTo>
                        <a:pt x="24" y="46"/>
                        <a:pt x="28" y="43"/>
                        <a:pt x="29" y="37"/>
                      </a:cubicBezTo>
                      <a:cubicBezTo>
                        <a:pt x="35" y="20"/>
                        <a:pt x="35" y="20"/>
                        <a:pt x="35" y="20"/>
                      </a:cubicBezTo>
                      <a:cubicBezTo>
                        <a:pt x="37" y="14"/>
                        <a:pt x="35" y="7"/>
                        <a:pt x="29" y="4"/>
                      </a:cubicBezTo>
                      <a:cubicBezTo>
                        <a:pt x="23" y="0"/>
                        <a:pt x="23" y="0"/>
                        <a:pt x="23" y="0"/>
                      </a:cubicBezTo>
                      <a:cubicBezTo>
                        <a:pt x="21" y="3"/>
                        <a:pt x="19" y="5"/>
                        <a:pt x="18" y="8"/>
                      </a:cubicBezTo>
                      <a:cubicBezTo>
                        <a:pt x="13" y="14"/>
                        <a:pt x="8" y="20"/>
                        <a:pt x="4" y="26"/>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39" name="Freeform 38"/>
                <p:cNvSpPr>
                  <a:spLocks/>
                </p:cNvSpPr>
                <p:nvPr/>
              </p:nvSpPr>
              <p:spPr bwMode="auto">
                <a:xfrm>
                  <a:off x="2299" y="1922"/>
                  <a:ext cx="40" cy="28"/>
                </a:xfrm>
                <a:custGeom>
                  <a:avLst/>
                  <a:gdLst>
                    <a:gd name="T0" fmla="*/ 10 w 85"/>
                    <a:gd name="T1" fmla="*/ 28 h 59"/>
                    <a:gd name="T2" fmla="*/ 63 w 85"/>
                    <a:gd name="T3" fmla="*/ 57 h 59"/>
                    <a:gd name="T4" fmla="*/ 72 w 85"/>
                    <a:gd name="T5" fmla="*/ 58 h 59"/>
                    <a:gd name="T6" fmla="*/ 82 w 85"/>
                    <a:gd name="T7" fmla="*/ 51 h 59"/>
                    <a:gd name="T8" fmla="*/ 76 w 85"/>
                    <a:gd name="T9" fmla="*/ 32 h 59"/>
                    <a:gd name="T10" fmla="*/ 23 w 85"/>
                    <a:gd name="T11" fmla="*/ 4 h 59"/>
                    <a:gd name="T12" fmla="*/ 4 w 85"/>
                    <a:gd name="T13" fmla="*/ 9 h 59"/>
                    <a:gd name="T14" fmla="*/ 10 w 85"/>
                    <a:gd name="T15" fmla="*/ 28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 h="59">
                      <a:moveTo>
                        <a:pt x="10" y="28"/>
                      </a:moveTo>
                      <a:cubicBezTo>
                        <a:pt x="63" y="57"/>
                        <a:pt x="63" y="57"/>
                        <a:pt x="63" y="57"/>
                      </a:cubicBezTo>
                      <a:cubicBezTo>
                        <a:pt x="66" y="58"/>
                        <a:pt x="69" y="59"/>
                        <a:pt x="72" y="58"/>
                      </a:cubicBezTo>
                      <a:cubicBezTo>
                        <a:pt x="76" y="57"/>
                        <a:pt x="80" y="55"/>
                        <a:pt x="82" y="51"/>
                      </a:cubicBezTo>
                      <a:cubicBezTo>
                        <a:pt x="85" y="44"/>
                        <a:pt x="83" y="36"/>
                        <a:pt x="76" y="32"/>
                      </a:cubicBezTo>
                      <a:cubicBezTo>
                        <a:pt x="23" y="4"/>
                        <a:pt x="23" y="4"/>
                        <a:pt x="23" y="4"/>
                      </a:cubicBezTo>
                      <a:cubicBezTo>
                        <a:pt x="16" y="0"/>
                        <a:pt x="8" y="3"/>
                        <a:pt x="4" y="9"/>
                      </a:cubicBezTo>
                      <a:cubicBezTo>
                        <a:pt x="0" y="16"/>
                        <a:pt x="3" y="25"/>
                        <a:pt x="10" y="28"/>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0" name="Freeform 39"/>
                <p:cNvSpPr>
                  <a:spLocks/>
                </p:cNvSpPr>
                <p:nvPr/>
              </p:nvSpPr>
              <p:spPr bwMode="auto">
                <a:xfrm>
                  <a:off x="2124" y="1964"/>
                  <a:ext cx="183" cy="143"/>
                </a:xfrm>
                <a:custGeom>
                  <a:avLst/>
                  <a:gdLst>
                    <a:gd name="T0" fmla="*/ 265 w 388"/>
                    <a:gd name="T1" fmla="*/ 303 h 304"/>
                    <a:gd name="T2" fmla="*/ 269 w 388"/>
                    <a:gd name="T3" fmla="*/ 301 h 304"/>
                    <a:gd name="T4" fmla="*/ 312 w 388"/>
                    <a:gd name="T5" fmla="*/ 279 h 304"/>
                    <a:gd name="T6" fmla="*/ 317 w 388"/>
                    <a:gd name="T7" fmla="*/ 275 h 304"/>
                    <a:gd name="T8" fmla="*/ 358 w 388"/>
                    <a:gd name="T9" fmla="*/ 225 h 304"/>
                    <a:gd name="T10" fmla="*/ 361 w 388"/>
                    <a:gd name="T11" fmla="*/ 220 h 304"/>
                    <a:gd name="T12" fmla="*/ 386 w 388"/>
                    <a:gd name="T13" fmla="*/ 137 h 304"/>
                    <a:gd name="T14" fmla="*/ 383 w 388"/>
                    <a:gd name="T15" fmla="*/ 123 h 304"/>
                    <a:gd name="T16" fmla="*/ 336 w 388"/>
                    <a:gd name="T17" fmla="*/ 73 h 304"/>
                    <a:gd name="T18" fmla="*/ 318 w 388"/>
                    <a:gd name="T19" fmla="*/ 26 h 304"/>
                    <a:gd name="T20" fmla="*/ 312 w 388"/>
                    <a:gd name="T21" fmla="*/ 19 h 304"/>
                    <a:gd name="T22" fmla="*/ 285 w 388"/>
                    <a:gd name="T23" fmla="*/ 2 h 304"/>
                    <a:gd name="T24" fmla="*/ 273 w 388"/>
                    <a:gd name="T25" fmla="*/ 1 h 304"/>
                    <a:gd name="T26" fmla="*/ 265 w 388"/>
                    <a:gd name="T27" fmla="*/ 10 h 304"/>
                    <a:gd name="T28" fmla="*/ 252 w 388"/>
                    <a:gd name="T29" fmla="*/ 44 h 304"/>
                    <a:gd name="T30" fmla="*/ 233 w 388"/>
                    <a:gd name="T31" fmla="*/ 42 h 304"/>
                    <a:gd name="T32" fmla="*/ 234 w 388"/>
                    <a:gd name="T33" fmla="*/ 31 h 304"/>
                    <a:gd name="T34" fmla="*/ 230 w 388"/>
                    <a:gd name="T35" fmla="*/ 20 h 304"/>
                    <a:gd name="T36" fmla="*/ 229 w 388"/>
                    <a:gd name="T37" fmla="*/ 18 h 304"/>
                    <a:gd name="T38" fmla="*/ 151 w 388"/>
                    <a:gd name="T39" fmla="*/ 50 h 304"/>
                    <a:gd name="T40" fmla="*/ 150 w 388"/>
                    <a:gd name="T41" fmla="*/ 52 h 304"/>
                    <a:gd name="T42" fmla="*/ 146 w 388"/>
                    <a:gd name="T43" fmla="*/ 51 h 304"/>
                    <a:gd name="T44" fmla="*/ 115 w 388"/>
                    <a:gd name="T45" fmla="*/ 58 h 304"/>
                    <a:gd name="T46" fmla="*/ 77 w 388"/>
                    <a:gd name="T47" fmla="*/ 100 h 304"/>
                    <a:gd name="T48" fmla="*/ 75 w 388"/>
                    <a:gd name="T49" fmla="*/ 102 h 304"/>
                    <a:gd name="T50" fmla="*/ 62 w 388"/>
                    <a:gd name="T51" fmla="*/ 123 h 304"/>
                    <a:gd name="T52" fmla="*/ 8 w 388"/>
                    <a:gd name="T53" fmla="*/ 147 h 304"/>
                    <a:gd name="T54" fmla="*/ 0 w 388"/>
                    <a:gd name="T55" fmla="*/ 161 h 304"/>
                    <a:gd name="T56" fmla="*/ 12 w 388"/>
                    <a:gd name="T57" fmla="*/ 266 h 304"/>
                    <a:gd name="T58" fmla="*/ 6 w 388"/>
                    <a:gd name="T59" fmla="*/ 285 h 304"/>
                    <a:gd name="T60" fmla="*/ 10 w 388"/>
                    <a:gd name="T61" fmla="*/ 299 h 304"/>
                    <a:gd name="T62" fmla="*/ 23 w 388"/>
                    <a:gd name="T63" fmla="*/ 303 h 304"/>
                    <a:gd name="T64" fmla="*/ 90 w 388"/>
                    <a:gd name="T65" fmla="*/ 287 h 304"/>
                    <a:gd name="T66" fmla="*/ 95 w 388"/>
                    <a:gd name="T67" fmla="*/ 285 h 304"/>
                    <a:gd name="T68" fmla="*/ 157 w 388"/>
                    <a:gd name="T69" fmla="*/ 238 h 304"/>
                    <a:gd name="T70" fmla="*/ 194 w 388"/>
                    <a:gd name="T71" fmla="*/ 259 h 304"/>
                    <a:gd name="T72" fmla="*/ 216 w 388"/>
                    <a:gd name="T73" fmla="*/ 282 h 304"/>
                    <a:gd name="T74" fmla="*/ 259 w 388"/>
                    <a:gd name="T75" fmla="*/ 303 h 304"/>
                    <a:gd name="T76" fmla="*/ 265 w 388"/>
                    <a:gd name="T77" fmla="*/ 303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304">
                      <a:moveTo>
                        <a:pt x="265" y="303"/>
                      </a:moveTo>
                      <a:cubicBezTo>
                        <a:pt x="266" y="303"/>
                        <a:pt x="268" y="302"/>
                        <a:pt x="269" y="301"/>
                      </a:cubicBezTo>
                      <a:cubicBezTo>
                        <a:pt x="312" y="279"/>
                        <a:pt x="312" y="279"/>
                        <a:pt x="312" y="279"/>
                      </a:cubicBezTo>
                      <a:cubicBezTo>
                        <a:pt x="314" y="278"/>
                        <a:pt x="315" y="277"/>
                        <a:pt x="317" y="275"/>
                      </a:cubicBezTo>
                      <a:cubicBezTo>
                        <a:pt x="358" y="225"/>
                        <a:pt x="358" y="225"/>
                        <a:pt x="358" y="225"/>
                      </a:cubicBezTo>
                      <a:cubicBezTo>
                        <a:pt x="360" y="224"/>
                        <a:pt x="361" y="222"/>
                        <a:pt x="361" y="220"/>
                      </a:cubicBezTo>
                      <a:cubicBezTo>
                        <a:pt x="386" y="137"/>
                        <a:pt x="386" y="137"/>
                        <a:pt x="386" y="137"/>
                      </a:cubicBezTo>
                      <a:cubicBezTo>
                        <a:pt x="388" y="132"/>
                        <a:pt x="386" y="127"/>
                        <a:pt x="383" y="123"/>
                      </a:cubicBezTo>
                      <a:cubicBezTo>
                        <a:pt x="336" y="73"/>
                        <a:pt x="336" y="73"/>
                        <a:pt x="336" y="73"/>
                      </a:cubicBezTo>
                      <a:cubicBezTo>
                        <a:pt x="318" y="26"/>
                        <a:pt x="318" y="26"/>
                        <a:pt x="318" y="26"/>
                      </a:cubicBezTo>
                      <a:cubicBezTo>
                        <a:pt x="316" y="23"/>
                        <a:pt x="314" y="20"/>
                        <a:pt x="312" y="19"/>
                      </a:cubicBezTo>
                      <a:cubicBezTo>
                        <a:pt x="285" y="2"/>
                        <a:pt x="285" y="2"/>
                        <a:pt x="285" y="2"/>
                      </a:cubicBezTo>
                      <a:cubicBezTo>
                        <a:pt x="282" y="0"/>
                        <a:pt x="277" y="0"/>
                        <a:pt x="273" y="1"/>
                      </a:cubicBezTo>
                      <a:cubicBezTo>
                        <a:pt x="269" y="2"/>
                        <a:pt x="266" y="6"/>
                        <a:pt x="265" y="10"/>
                      </a:cubicBezTo>
                      <a:cubicBezTo>
                        <a:pt x="252" y="44"/>
                        <a:pt x="252" y="44"/>
                        <a:pt x="252" y="44"/>
                      </a:cubicBezTo>
                      <a:cubicBezTo>
                        <a:pt x="233" y="42"/>
                        <a:pt x="233" y="42"/>
                        <a:pt x="233" y="42"/>
                      </a:cubicBezTo>
                      <a:cubicBezTo>
                        <a:pt x="234" y="31"/>
                        <a:pt x="234" y="31"/>
                        <a:pt x="234" y="31"/>
                      </a:cubicBezTo>
                      <a:cubicBezTo>
                        <a:pt x="235" y="27"/>
                        <a:pt x="233" y="23"/>
                        <a:pt x="230" y="20"/>
                      </a:cubicBezTo>
                      <a:cubicBezTo>
                        <a:pt x="230" y="19"/>
                        <a:pt x="229" y="18"/>
                        <a:pt x="229" y="18"/>
                      </a:cubicBezTo>
                      <a:cubicBezTo>
                        <a:pt x="204" y="31"/>
                        <a:pt x="178" y="42"/>
                        <a:pt x="151" y="50"/>
                      </a:cubicBezTo>
                      <a:cubicBezTo>
                        <a:pt x="150" y="52"/>
                        <a:pt x="150" y="52"/>
                        <a:pt x="150" y="52"/>
                      </a:cubicBezTo>
                      <a:cubicBezTo>
                        <a:pt x="146" y="51"/>
                        <a:pt x="146" y="51"/>
                        <a:pt x="146" y="51"/>
                      </a:cubicBezTo>
                      <a:cubicBezTo>
                        <a:pt x="136" y="54"/>
                        <a:pt x="126" y="56"/>
                        <a:pt x="115" y="58"/>
                      </a:cubicBezTo>
                      <a:cubicBezTo>
                        <a:pt x="77" y="100"/>
                        <a:pt x="77" y="100"/>
                        <a:pt x="77" y="100"/>
                      </a:cubicBezTo>
                      <a:cubicBezTo>
                        <a:pt x="76" y="100"/>
                        <a:pt x="76" y="101"/>
                        <a:pt x="75" y="102"/>
                      </a:cubicBezTo>
                      <a:cubicBezTo>
                        <a:pt x="62" y="123"/>
                        <a:pt x="62" y="123"/>
                        <a:pt x="62" y="123"/>
                      </a:cubicBezTo>
                      <a:cubicBezTo>
                        <a:pt x="8" y="147"/>
                        <a:pt x="8" y="147"/>
                        <a:pt x="8" y="147"/>
                      </a:cubicBezTo>
                      <a:cubicBezTo>
                        <a:pt x="3" y="150"/>
                        <a:pt x="0" y="155"/>
                        <a:pt x="0" y="161"/>
                      </a:cubicBezTo>
                      <a:cubicBezTo>
                        <a:pt x="12" y="266"/>
                        <a:pt x="12" y="266"/>
                        <a:pt x="12" y="266"/>
                      </a:cubicBezTo>
                      <a:cubicBezTo>
                        <a:pt x="6" y="285"/>
                        <a:pt x="6" y="285"/>
                        <a:pt x="6" y="285"/>
                      </a:cubicBezTo>
                      <a:cubicBezTo>
                        <a:pt x="5" y="290"/>
                        <a:pt x="6" y="295"/>
                        <a:pt x="10" y="299"/>
                      </a:cubicBezTo>
                      <a:cubicBezTo>
                        <a:pt x="13" y="302"/>
                        <a:pt x="18" y="304"/>
                        <a:pt x="23" y="303"/>
                      </a:cubicBezTo>
                      <a:cubicBezTo>
                        <a:pt x="90" y="287"/>
                        <a:pt x="90" y="287"/>
                        <a:pt x="90" y="287"/>
                      </a:cubicBezTo>
                      <a:cubicBezTo>
                        <a:pt x="92" y="287"/>
                        <a:pt x="93" y="286"/>
                        <a:pt x="95" y="285"/>
                      </a:cubicBezTo>
                      <a:cubicBezTo>
                        <a:pt x="157" y="238"/>
                        <a:pt x="157" y="238"/>
                        <a:pt x="157" y="238"/>
                      </a:cubicBezTo>
                      <a:cubicBezTo>
                        <a:pt x="194" y="259"/>
                        <a:pt x="194" y="259"/>
                        <a:pt x="194" y="259"/>
                      </a:cubicBezTo>
                      <a:cubicBezTo>
                        <a:pt x="203" y="268"/>
                        <a:pt x="213" y="278"/>
                        <a:pt x="216" y="282"/>
                      </a:cubicBezTo>
                      <a:cubicBezTo>
                        <a:pt x="218" y="292"/>
                        <a:pt x="230" y="296"/>
                        <a:pt x="259" y="303"/>
                      </a:cubicBezTo>
                      <a:cubicBezTo>
                        <a:pt x="261" y="303"/>
                        <a:pt x="263" y="303"/>
                        <a:pt x="265" y="303"/>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1" name="Freeform 40"/>
                <p:cNvSpPr>
                  <a:spLocks/>
                </p:cNvSpPr>
                <p:nvPr/>
              </p:nvSpPr>
              <p:spPr bwMode="auto">
                <a:xfrm>
                  <a:off x="2238" y="2107"/>
                  <a:ext cx="26" cy="25"/>
                </a:xfrm>
                <a:custGeom>
                  <a:avLst/>
                  <a:gdLst>
                    <a:gd name="T0" fmla="*/ 52 w 54"/>
                    <a:gd name="T1" fmla="*/ 7 h 52"/>
                    <a:gd name="T2" fmla="*/ 38 w 54"/>
                    <a:gd name="T3" fmla="*/ 0 h 52"/>
                    <a:gd name="T4" fmla="*/ 17 w 54"/>
                    <a:gd name="T5" fmla="*/ 1 h 52"/>
                    <a:gd name="T6" fmla="*/ 4 w 54"/>
                    <a:gd name="T7" fmla="*/ 6 h 52"/>
                    <a:gd name="T8" fmla="*/ 1 w 54"/>
                    <a:gd name="T9" fmla="*/ 20 h 52"/>
                    <a:gd name="T10" fmla="*/ 10 w 54"/>
                    <a:gd name="T11" fmla="*/ 43 h 52"/>
                    <a:gd name="T12" fmla="*/ 21 w 54"/>
                    <a:gd name="T13" fmla="*/ 52 h 52"/>
                    <a:gd name="T14" fmla="*/ 25 w 54"/>
                    <a:gd name="T15" fmla="*/ 52 h 52"/>
                    <a:gd name="T16" fmla="*/ 34 w 54"/>
                    <a:gd name="T17" fmla="*/ 46 h 52"/>
                    <a:gd name="T18" fmla="*/ 51 w 54"/>
                    <a:gd name="T19" fmla="*/ 22 h 52"/>
                    <a:gd name="T20" fmla="*/ 52 w 54"/>
                    <a:gd name="T21" fmla="*/ 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52">
                      <a:moveTo>
                        <a:pt x="52" y="7"/>
                      </a:moveTo>
                      <a:cubicBezTo>
                        <a:pt x="49" y="2"/>
                        <a:pt x="44" y="0"/>
                        <a:pt x="38" y="0"/>
                      </a:cubicBezTo>
                      <a:cubicBezTo>
                        <a:pt x="30" y="1"/>
                        <a:pt x="20" y="1"/>
                        <a:pt x="17" y="1"/>
                      </a:cubicBezTo>
                      <a:cubicBezTo>
                        <a:pt x="12" y="0"/>
                        <a:pt x="7" y="2"/>
                        <a:pt x="4" y="6"/>
                      </a:cubicBezTo>
                      <a:cubicBezTo>
                        <a:pt x="1" y="10"/>
                        <a:pt x="0" y="15"/>
                        <a:pt x="1" y="20"/>
                      </a:cubicBezTo>
                      <a:cubicBezTo>
                        <a:pt x="10" y="43"/>
                        <a:pt x="10" y="43"/>
                        <a:pt x="10" y="43"/>
                      </a:cubicBezTo>
                      <a:cubicBezTo>
                        <a:pt x="11" y="48"/>
                        <a:pt x="16" y="51"/>
                        <a:pt x="21" y="52"/>
                      </a:cubicBezTo>
                      <a:cubicBezTo>
                        <a:pt x="22" y="52"/>
                        <a:pt x="24" y="52"/>
                        <a:pt x="25" y="52"/>
                      </a:cubicBezTo>
                      <a:cubicBezTo>
                        <a:pt x="29" y="51"/>
                        <a:pt x="32" y="49"/>
                        <a:pt x="34" y="46"/>
                      </a:cubicBezTo>
                      <a:cubicBezTo>
                        <a:pt x="51" y="22"/>
                        <a:pt x="51" y="22"/>
                        <a:pt x="51" y="22"/>
                      </a:cubicBezTo>
                      <a:cubicBezTo>
                        <a:pt x="54" y="18"/>
                        <a:pt x="54" y="12"/>
                        <a:pt x="52" y="7"/>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2" name="Freeform 41"/>
                <p:cNvSpPr>
                  <a:spLocks/>
                </p:cNvSpPr>
                <p:nvPr/>
              </p:nvSpPr>
              <p:spPr bwMode="auto">
                <a:xfrm>
                  <a:off x="2361" y="2057"/>
                  <a:ext cx="32" cy="42"/>
                </a:xfrm>
                <a:custGeom>
                  <a:avLst/>
                  <a:gdLst>
                    <a:gd name="T0" fmla="*/ 66 w 68"/>
                    <a:gd name="T1" fmla="*/ 30 h 90"/>
                    <a:gd name="T2" fmla="*/ 52 w 68"/>
                    <a:gd name="T3" fmla="*/ 22 h 90"/>
                    <a:gd name="T4" fmla="*/ 45 w 68"/>
                    <a:gd name="T5" fmla="*/ 8 h 90"/>
                    <a:gd name="T6" fmla="*/ 31 w 68"/>
                    <a:gd name="T7" fmla="*/ 0 h 90"/>
                    <a:gd name="T8" fmla="*/ 19 w 68"/>
                    <a:gd name="T9" fmla="*/ 10 h 90"/>
                    <a:gd name="T10" fmla="*/ 1 w 68"/>
                    <a:gd name="T11" fmla="*/ 72 h 90"/>
                    <a:gd name="T12" fmla="*/ 8 w 68"/>
                    <a:gd name="T13" fmla="*/ 88 h 90"/>
                    <a:gd name="T14" fmla="*/ 17 w 68"/>
                    <a:gd name="T15" fmla="*/ 89 h 90"/>
                    <a:gd name="T16" fmla="*/ 25 w 68"/>
                    <a:gd name="T17" fmla="*/ 85 h 90"/>
                    <a:gd name="T18" fmla="*/ 63 w 68"/>
                    <a:gd name="T19" fmla="*/ 46 h 90"/>
                    <a:gd name="T20" fmla="*/ 66 w 68"/>
                    <a:gd name="T21" fmla="*/ 3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90">
                      <a:moveTo>
                        <a:pt x="66" y="30"/>
                      </a:moveTo>
                      <a:cubicBezTo>
                        <a:pt x="63" y="25"/>
                        <a:pt x="57" y="22"/>
                        <a:pt x="52" y="22"/>
                      </a:cubicBezTo>
                      <a:cubicBezTo>
                        <a:pt x="45" y="8"/>
                        <a:pt x="45" y="8"/>
                        <a:pt x="45" y="8"/>
                      </a:cubicBezTo>
                      <a:cubicBezTo>
                        <a:pt x="43" y="3"/>
                        <a:pt x="37" y="0"/>
                        <a:pt x="31" y="0"/>
                      </a:cubicBezTo>
                      <a:cubicBezTo>
                        <a:pt x="25" y="1"/>
                        <a:pt x="20" y="5"/>
                        <a:pt x="19" y="10"/>
                      </a:cubicBezTo>
                      <a:cubicBezTo>
                        <a:pt x="1" y="72"/>
                        <a:pt x="1" y="72"/>
                        <a:pt x="1" y="72"/>
                      </a:cubicBezTo>
                      <a:cubicBezTo>
                        <a:pt x="0" y="78"/>
                        <a:pt x="2" y="84"/>
                        <a:pt x="8" y="88"/>
                      </a:cubicBezTo>
                      <a:cubicBezTo>
                        <a:pt x="11" y="89"/>
                        <a:pt x="14" y="90"/>
                        <a:pt x="17" y="89"/>
                      </a:cubicBezTo>
                      <a:cubicBezTo>
                        <a:pt x="20" y="89"/>
                        <a:pt x="23" y="88"/>
                        <a:pt x="25" y="85"/>
                      </a:cubicBezTo>
                      <a:cubicBezTo>
                        <a:pt x="63" y="46"/>
                        <a:pt x="63" y="46"/>
                        <a:pt x="63" y="46"/>
                      </a:cubicBezTo>
                      <a:cubicBezTo>
                        <a:pt x="67" y="42"/>
                        <a:pt x="68" y="35"/>
                        <a:pt x="66" y="30"/>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3" name="Freeform 42"/>
                <p:cNvSpPr>
                  <a:spLocks/>
                </p:cNvSpPr>
                <p:nvPr/>
              </p:nvSpPr>
              <p:spPr bwMode="auto">
                <a:xfrm>
                  <a:off x="2307" y="2091"/>
                  <a:ext cx="54" cy="48"/>
                </a:xfrm>
                <a:custGeom>
                  <a:avLst/>
                  <a:gdLst>
                    <a:gd name="T0" fmla="*/ 112 w 116"/>
                    <a:gd name="T1" fmla="*/ 22 h 101"/>
                    <a:gd name="T2" fmla="*/ 105 w 116"/>
                    <a:gd name="T3" fmla="*/ 8 h 101"/>
                    <a:gd name="T4" fmla="*/ 95 w 116"/>
                    <a:gd name="T5" fmla="*/ 0 h 101"/>
                    <a:gd name="T6" fmla="*/ 83 w 116"/>
                    <a:gd name="T7" fmla="*/ 4 h 101"/>
                    <a:gd name="T8" fmla="*/ 6 w 116"/>
                    <a:gd name="T9" fmla="*/ 77 h 101"/>
                    <a:gd name="T10" fmla="*/ 4 w 116"/>
                    <a:gd name="T11" fmla="*/ 96 h 101"/>
                    <a:gd name="T12" fmla="*/ 18 w 116"/>
                    <a:gd name="T13" fmla="*/ 101 h 101"/>
                    <a:gd name="T14" fmla="*/ 23 w 116"/>
                    <a:gd name="T15" fmla="*/ 98 h 101"/>
                    <a:gd name="T16" fmla="*/ 108 w 116"/>
                    <a:gd name="T17" fmla="*/ 40 h 101"/>
                    <a:gd name="T18" fmla="*/ 112 w 116"/>
                    <a:gd name="T19" fmla="*/ 2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01">
                      <a:moveTo>
                        <a:pt x="112" y="22"/>
                      </a:moveTo>
                      <a:cubicBezTo>
                        <a:pt x="105" y="8"/>
                        <a:pt x="105" y="8"/>
                        <a:pt x="105" y="8"/>
                      </a:cubicBezTo>
                      <a:cubicBezTo>
                        <a:pt x="103" y="4"/>
                        <a:pt x="99" y="1"/>
                        <a:pt x="95" y="0"/>
                      </a:cubicBezTo>
                      <a:cubicBezTo>
                        <a:pt x="91" y="0"/>
                        <a:pt x="86" y="1"/>
                        <a:pt x="83" y="4"/>
                      </a:cubicBezTo>
                      <a:cubicBezTo>
                        <a:pt x="6" y="77"/>
                        <a:pt x="6" y="77"/>
                        <a:pt x="6" y="77"/>
                      </a:cubicBezTo>
                      <a:cubicBezTo>
                        <a:pt x="0" y="82"/>
                        <a:pt x="0" y="90"/>
                        <a:pt x="4" y="96"/>
                      </a:cubicBezTo>
                      <a:cubicBezTo>
                        <a:pt x="8" y="100"/>
                        <a:pt x="13" y="101"/>
                        <a:pt x="18" y="101"/>
                      </a:cubicBezTo>
                      <a:cubicBezTo>
                        <a:pt x="20" y="100"/>
                        <a:pt x="21" y="99"/>
                        <a:pt x="23" y="98"/>
                      </a:cubicBezTo>
                      <a:cubicBezTo>
                        <a:pt x="108" y="40"/>
                        <a:pt x="108" y="40"/>
                        <a:pt x="108" y="40"/>
                      </a:cubicBezTo>
                      <a:cubicBezTo>
                        <a:pt x="114" y="36"/>
                        <a:pt x="116" y="28"/>
                        <a:pt x="112" y="22"/>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4" name="Freeform 43"/>
                <p:cNvSpPr>
                  <a:spLocks/>
                </p:cNvSpPr>
                <p:nvPr/>
              </p:nvSpPr>
              <p:spPr bwMode="auto">
                <a:xfrm>
                  <a:off x="2339" y="1982"/>
                  <a:ext cx="23" cy="19"/>
                </a:xfrm>
                <a:custGeom>
                  <a:avLst/>
                  <a:gdLst>
                    <a:gd name="T0" fmla="*/ 41 w 49"/>
                    <a:gd name="T1" fmla="*/ 16 h 42"/>
                    <a:gd name="T2" fmla="*/ 23 w 49"/>
                    <a:gd name="T3" fmla="*/ 4 h 42"/>
                    <a:gd name="T4" fmla="*/ 4 w 49"/>
                    <a:gd name="T5" fmla="*/ 8 h 42"/>
                    <a:gd name="T6" fmla="*/ 8 w 49"/>
                    <a:gd name="T7" fmla="*/ 28 h 42"/>
                    <a:gd name="T8" fmla="*/ 26 w 49"/>
                    <a:gd name="T9" fmla="*/ 39 h 42"/>
                    <a:gd name="T10" fmla="*/ 36 w 49"/>
                    <a:gd name="T11" fmla="*/ 41 h 42"/>
                    <a:gd name="T12" fmla="*/ 45 w 49"/>
                    <a:gd name="T13" fmla="*/ 35 h 42"/>
                    <a:gd name="T14" fmla="*/ 41 w 49"/>
                    <a:gd name="T15" fmla="*/ 16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42">
                      <a:moveTo>
                        <a:pt x="41" y="16"/>
                      </a:moveTo>
                      <a:cubicBezTo>
                        <a:pt x="23" y="4"/>
                        <a:pt x="23" y="4"/>
                        <a:pt x="23" y="4"/>
                      </a:cubicBezTo>
                      <a:cubicBezTo>
                        <a:pt x="17" y="0"/>
                        <a:pt x="8" y="2"/>
                        <a:pt x="4" y="8"/>
                      </a:cubicBezTo>
                      <a:cubicBezTo>
                        <a:pt x="0" y="15"/>
                        <a:pt x="1" y="23"/>
                        <a:pt x="8" y="28"/>
                      </a:cubicBezTo>
                      <a:cubicBezTo>
                        <a:pt x="26" y="39"/>
                        <a:pt x="26" y="39"/>
                        <a:pt x="26" y="39"/>
                      </a:cubicBezTo>
                      <a:cubicBezTo>
                        <a:pt x="29" y="41"/>
                        <a:pt x="32" y="42"/>
                        <a:pt x="36" y="41"/>
                      </a:cubicBezTo>
                      <a:cubicBezTo>
                        <a:pt x="39" y="41"/>
                        <a:pt x="43" y="39"/>
                        <a:pt x="45" y="35"/>
                      </a:cubicBezTo>
                      <a:cubicBezTo>
                        <a:pt x="49" y="29"/>
                        <a:pt x="47" y="20"/>
                        <a:pt x="41" y="16"/>
                      </a:cubicBezTo>
                      <a:close/>
                    </a:path>
                  </a:pathLst>
                </a:custGeom>
                <a:solidFill>
                  <a:srgbClr val="80DEF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5" name="Freeform 44"/>
                <p:cNvSpPr>
                  <a:spLocks/>
                </p:cNvSpPr>
                <p:nvPr/>
              </p:nvSpPr>
              <p:spPr bwMode="auto">
                <a:xfrm>
                  <a:off x="2156" y="1643"/>
                  <a:ext cx="5" cy="6"/>
                </a:xfrm>
                <a:custGeom>
                  <a:avLst/>
                  <a:gdLst>
                    <a:gd name="T0" fmla="*/ 5 w 5"/>
                    <a:gd name="T1" fmla="*/ 6 h 6"/>
                    <a:gd name="T2" fmla="*/ 0 w 5"/>
                    <a:gd name="T3" fmla="*/ 0 h 6"/>
                    <a:gd name="T4" fmla="*/ 0 w 5"/>
                    <a:gd name="T5" fmla="*/ 5 h 6"/>
                    <a:gd name="T6" fmla="*/ 5 w 5"/>
                    <a:gd name="T7" fmla="*/ 6 h 6"/>
                  </a:gdLst>
                  <a:ahLst/>
                  <a:cxnLst>
                    <a:cxn ang="0">
                      <a:pos x="T0" y="T1"/>
                    </a:cxn>
                    <a:cxn ang="0">
                      <a:pos x="T2" y="T3"/>
                    </a:cxn>
                    <a:cxn ang="0">
                      <a:pos x="T4" y="T5"/>
                    </a:cxn>
                    <a:cxn ang="0">
                      <a:pos x="T6" y="T7"/>
                    </a:cxn>
                  </a:cxnLst>
                  <a:rect l="0" t="0" r="r" b="b"/>
                  <a:pathLst>
                    <a:path w="5" h="6">
                      <a:moveTo>
                        <a:pt x="5" y="6"/>
                      </a:moveTo>
                      <a:lnTo>
                        <a:pt x="0" y="0"/>
                      </a:lnTo>
                      <a:lnTo>
                        <a:pt x="0" y="5"/>
                      </a:lnTo>
                      <a:lnTo>
                        <a:pt x="5"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6" name="Freeform 45"/>
                <p:cNvSpPr>
                  <a:spLocks/>
                </p:cNvSpPr>
                <p:nvPr/>
              </p:nvSpPr>
              <p:spPr bwMode="auto">
                <a:xfrm>
                  <a:off x="2142" y="1853"/>
                  <a:ext cx="1" cy="1"/>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7" name="Freeform 46"/>
                <p:cNvSpPr>
                  <a:spLocks/>
                </p:cNvSpPr>
                <p:nvPr/>
              </p:nvSpPr>
              <p:spPr bwMode="auto">
                <a:xfrm>
                  <a:off x="1959" y="1637"/>
                  <a:ext cx="190" cy="297"/>
                </a:xfrm>
                <a:custGeom>
                  <a:avLst/>
                  <a:gdLst>
                    <a:gd name="T0" fmla="*/ 86 w 403"/>
                    <a:gd name="T1" fmla="*/ 456 h 631"/>
                    <a:gd name="T2" fmla="*/ 102 w 403"/>
                    <a:gd name="T3" fmla="*/ 477 h 631"/>
                    <a:gd name="T4" fmla="*/ 103 w 403"/>
                    <a:gd name="T5" fmla="*/ 478 h 631"/>
                    <a:gd name="T6" fmla="*/ 121 w 403"/>
                    <a:gd name="T7" fmla="*/ 499 h 631"/>
                    <a:gd name="T8" fmla="*/ 137 w 403"/>
                    <a:gd name="T9" fmla="*/ 503 h 631"/>
                    <a:gd name="T10" fmla="*/ 140 w 403"/>
                    <a:gd name="T11" fmla="*/ 502 h 631"/>
                    <a:gd name="T12" fmla="*/ 167 w 403"/>
                    <a:gd name="T13" fmla="*/ 552 h 631"/>
                    <a:gd name="T14" fmla="*/ 182 w 403"/>
                    <a:gd name="T15" fmla="*/ 589 h 631"/>
                    <a:gd name="T16" fmla="*/ 187 w 403"/>
                    <a:gd name="T17" fmla="*/ 595 h 631"/>
                    <a:gd name="T18" fmla="*/ 232 w 403"/>
                    <a:gd name="T19" fmla="*/ 628 h 631"/>
                    <a:gd name="T20" fmla="*/ 243 w 403"/>
                    <a:gd name="T21" fmla="*/ 631 h 631"/>
                    <a:gd name="T22" fmla="*/ 243 w 403"/>
                    <a:gd name="T23" fmla="*/ 631 h 631"/>
                    <a:gd name="T24" fmla="*/ 255 w 403"/>
                    <a:gd name="T25" fmla="*/ 615 h 631"/>
                    <a:gd name="T26" fmla="*/ 252 w 403"/>
                    <a:gd name="T27" fmla="*/ 609 h 631"/>
                    <a:gd name="T28" fmla="*/ 230 w 403"/>
                    <a:gd name="T29" fmla="*/ 570 h 631"/>
                    <a:gd name="T30" fmla="*/ 217 w 403"/>
                    <a:gd name="T31" fmla="*/ 538 h 631"/>
                    <a:gd name="T32" fmla="*/ 239 w 403"/>
                    <a:gd name="T33" fmla="*/ 548 h 631"/>
                    <a:gd name="T34" fmla="*/ 253 w 403"/>
                    <a:gd name="T35" fmla="*/ 547 h 631"/>
                    <a:gd name="T36" fmla="*/ 279 w 403"/>
                    <a:gd name="T37" fmla="*/ 509 h 631"/>
                    <a:gd name="T38" fmla="*/ 266 w 403"/>
                    <a:gd name="T39" fmla="*/ 471 h 631"/>
                    <a:gd name="T40" fmla="*/ 258 w 403"/>
                    <a:gd name="T41" fmla="*/ 464 h 631"/>
                    <a:gd name="T42" fmla="*/ 233 w 403"/>
                    <a:gd name="T43" fmla="*/ 454 h 631"/>
                    <a:gd name="T44" fmla="*/ 231 w 403"/>
                    <a:gd name="T45" fmla="*/ 445 h 631"/>
                    <a:gd name="T46" fmla="*/ 256 w 403"/>
                    <a:gd name="T47" fmla="*/ 438 h 631"/>
                    <a:gd name="T48" fmla="*/ 260 w 403"/>
                    <a:gd name="T49" fmla="*/ 436 h 631"/>
                    <a:gd name="T50" fmla="*/ 332 w 403"/>
                    <a:gd name="T51" fmla="*/ 384 h 631"/>
                    <a:gd name="T52" fmla="*/ 338 w 403"/>
                    <a:gd name="T53" fmla="*/ 373 h 631"/>
                    <a:gd name="T54" fmla="*/ 338 w 403"/>
                    <a:gd name="T55" fmla="*/ 314 h 631"/>
                    <a:gd name="T56" fmla="*/ 333 w 403"/>
                    <a:gd name="T57" fmla="*/ 303 h 631"/>
                    <a:gd name="T58" fmla="*/ 295 w 403"/>
                    <a:gd name="T59" fmla="*/ 271 h 631"/>
                    <a:gd name="T60" fmla="*/ 296 w 403"/>
                    <a:gd name="T61" fmla="*/ 256 h 631"/>
                    <a:gd name="T62" fmla="*/ 293 w 403"/>
                    <a:gd name="T63" fmla="*/ 245 h 631"/>
                    <a:gd name="T64" fmla="*/ 283 w 403"/>
                    <a:gd name="T65" fmla="*/ 240 h 631"/>
                    <a:gd name="T66" fmla="*/ 259 w 403"/>
                    <a:gd name="T67" fmla="*/ 239 h 631"/>
                    <a:gd name="T68" fmla="*/ 260 w 403"/>
                    <a:gd name="T69" fmla="*/ 236 h 631"/>
                    <a:gd name="T70" fmla="*/ 290 w 403"/>
                    <a:gd name="T71" fmla="*/ 232 h 631"/>
                    <a:gd name="T72" fmla="*/ 302 w 403"/>
                    <a:gd name="T73" fmla="*/ 243 h 631"/>
                    <a:gd name="T74" fmla="*/ 303 w 403"/>
                    <a:gd name="T75" fmla="*/ 244 h 631"/>
                    <a:gd name="T76" fmla="*/ 345 w 403"/>
                    <a:gd name="T77" fmla="*/ 274 h 631"/>
                    <a:gd name="T78" fmla="*/ 356 w 403"/>
                    <a:gd name="T79" fmla="*/ 276 h 631"/>
                    <a:gd name="T80" fmla="*/ 365 w 403"/>
                    <a:gd name="T81" fmla="*/ 268 h 631"/>
                    <a:gd name="T82" fmla="*/ 379 w 403"/>
                    <a:gd name="T83" fmla="*/ 242 h 631"/>
                    <a:gd name="T84" fmla="*/ 373 w 403"/>
                    <a:gd name="T85" fmla="*/ 223 h 631"/>
                    <a:gd name="T86" fmla="*/ 347 w 403"/>
                    <a:gd name="T87" fmla="*/ 209 h 631"/>
                    <a:gd name="T88" fmla="*/ 355 w 403"/>
                    <a:gd name="T89" fmla="*/ 178 h 631"/>
                    <a:gd name="T90" fmla="*/ 355 w 403"/>
                    <a:gd name="T91" fmla="*/ 176 h 631"/>
                    <a:gd name="T92" fmla="*/ 358 w 403"/>
                    <a:gd name="T93" fmla="*/ 142 h 631"/>
                    <a:gd name="T94" fmla="*/ 389 w 403"/>
                    <a:gd name="T95" fmla="*/ 140 h 631"/>
                    <a:gd name="T96" fmla="*/ 402 w 403"/>
                    <a:gd name="T97" fmla="*/ 129 h 631"/>
                    <a:gd name="T98" fmla="*/ 396 w 403"/>
                    <a:gd name="T99" fmla="*/ 114 h 631"/>
                    <a:gd name="T100" fmla="*/ 322 w 403"/>
                    <a:gd name="T101" fmla="*/ 68 h 631"/>
                    <a:gd name="T102" fmla="*/ 315 w 403"/>
                    <a:gd name="T103" fmla="*/ 66 h 631"/>
                    <a:gd name="T104" fmla="*/ 267 w 403"/>
                    <a:gd name="T105" fmla="*/ 63 h 631"/>
                    <a:gd name="T106" fmla="*/ 278 w 403"/>
                    <a:gd name="T107" fmla="*/ 38 h 631"/>
                    <a:gd name="T108" fmla="*/ 345 w 403"/>
                    <a:gd name="T109" fmla="*/ 26 h 631"/>
                    <a:gd name="T110" fmla="*/ 356 w 403"/>
                    <a:gd name="T111" fmla="*/ 16 h 631"/>
                    <a:gd name="T112" fmla="*/ 354 w 403"/>
                    <a:gd name="T113" fmla="*/ 4 h 631"/>
                    <a:gd name="T114" fmla="*/ 377 w 403"/>
                    <a:gd name="T115" fmla="*/ 0 h 631"/>
                    <a:gd name="T116" fmla="*/ 86 w 403"/>
                    <a:gd name="T117" fmla="*/ 162 h 631"/>
                    <a:gd name="T118" fmla="*/ 36 w 403"/>
                    <a:gd name="T119" fmla="*/ 498 h 631"/>
                    <a:gd name="T120" fmla="*/ 56 w 403"/>
                    <a:gd name="T121" fmla="*/ 461 h 631"/>
                    <a:gd name="T122" fmla="*/ 86 w 403"/>
                    <a:gd name="T123" fmla="*/ 456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03" h="631">
                      <a:moveTo>
                        <a:pt x="86" y="456"/>
                      </a:moveTo>
                      <a:cubicBezTo>
                        <a:pt x="102" y="477"/>
                        <a:pt x="102" y="477"/>
                        <a:pt x="102" y="477"/>
                      </a:cubicBezTo>
                      <a:cubicBezTo>
                        <a:pt x="102" y="478"/>
                        <a:pt x="103" y="478"/>
                        <a:pt x="103" y="478"/>
                      </a:cubicBezTo>
                      <a:cubicBezTo>
                        <a:pt x="121" y="499"/>
                        <a:pt x="121" y="499"/>
                        <a:pt x="121" y="499"/>
                      </a:cubicBezTo>
                      <a:cubicBezTo>
                        <a:pt x="125" y="504"/>
                        <a:pt x="132" y="506"/>
                        <a:pt x="137" y="503"/>
                      </a:cubicBezTo>
                      <a:cubicBezTo>
                        <a:pt x="140" y="502"/>
                        <a:pt x="140" y="502"/>
                        <a:pt x="140" y="502"/>
                      </a:cubicBezTo>
                      <a:cubicBezTo>
                        <a:pt x="167" y="552"/>
                        <a:pt x="167" y="552"/>
                        <a:pt x="167" y="552"/>
                      </a:cubicBezTo>
                      <a:cubicBezTo>
                        <a:pt x="182" y="589"/>
                        <a:pt x="182" y="589"/>
                        <a:pt x="182" y="589"/>
                      </a:cubicBezTo>
                      <a:cubicBezTo>
                        <a:pt x="183" y="591"/>
                        <a:pt x="185" y="593"/>
                        <a:pt x="187" y="595"/>
                      </a:cubicBezTo>
                      <a:cubicBezTo>
                        <a:pt x="232" y="628"/>
                        <a:pt x="232" y="628"/>
                        <a:pt x="232" y="628"/>
                      </a:cubicBezTo>
                      <a:cubicBezTo>
                        <a:pt x="236" y="631"/>
                        <a:pt x="239" y="631"/>
                        <a:pt x="243" y="631"/>
                      </a:cubicBezTo>
                      <a:cubicBezTo>
                        <a:pt x="243" y="631"/>
                        <a:pt x="243" y="631"/>
                        <a:pt x="243" y="631"/>
                      </a:cubicBezTo>
                      <a:cubicBezTo>
                        <a:pt x="251" y="629"/>
                        <a:pt x="256" y="622"/>
                        <a:pt x="255" y="615"/>
                      </a:cubicBezTo>
                      <a:cubicBezTo>
                        <a:pt x="254" y="612"/>
                        <a:pt x="253" y="611"/>
                        <a:pt x="252" y="609"/>
                      </a:cubicBezTo>
                      <a:cubicBezTo>
                        <a:pt x="230" y="570"/>
                        <a:pt x="230" y="570"/>
                        <a:pt x="230" y="570"/>
                      </a:cubicBezTo>
                      <a:cubicBezTo>
                        <a:pt x="217" y="538"/>
                        <a:pt x="217" y="538"/>
                        <a:pt x="217" y="538"/>
                      </a:cubicBezTo>
                      <a:cubicBezTo>
                        <a:pt x="239" y="548"/>
                        <a:pt x="239" y="548"/>
                        <a:pt x="239" y="548"/>
                      </a:cubicBezTo>
                      <a:cubicBezTo>
                        <a:pt x="244" y="550"/>
                        <a:pt x="249" y="549"/>
                        <a:pt x="253" y="547"/>
                      </a:cubicBezTo>
                      <a:cubicBezTo>
                        <a:pt x="264" y="540"/>
                        <a:pt x="282" y="525"/>
                        <a:pt x="279" y="509"/>
                      </a:cubicBezTo>
                      <a:cubicBezTo>
                        <a:pt x="277" y="498"/>
                        <a:pt x="268" y="476"/>
                        <a:pt x="266" y="471"/>
                      </a:cubicBezTo>
                      <a:cubicBezTo>
                        <a:pt x="264" y="468"/>
                        <a:pt x="261" y="465"/>
                        <a:pt x="258" y="464"/>
                      </a:cubicBezTo>
                      <a:cubicBezTo>
                        <a:pt x="233" y="454"/>
                        <a:pt x="233" y="454"/>
                        <a:pt x="233" y="454"/>
                      </a:cubicBezTo>
                      <a:cubicBezTo>
                        <a:pt x="231" y="445"/>
                        <a:pt x="231" y="445"/>
                        <a:pt x="231" y="445"/>
                      </a:cubicBezTo>
                      <a:cubicBezTo>
                        <a:pt x="256" y="438"/>
                        <a:pt x="256" y="438"/>
                        <a:pt x="256" y="438"/>
                      </a:cubicBezTo>
                      <a:cubicBezTo>
                        <a:pt x="257" y="437"/>
                        <a:pt x="259" y="436"/>
                        <a:pt x="260" y="436"/>
                      </a:cubicBezTo>
                      <a:cubicBezTo>
                        <a:pt x="332" y="384"/>
                        <a:pt x="332" y="384"/>
                        <a:pt x="332" y="384"/>
                      </a:cubicBezTo>
                      <a:cubicBezTo>
                        <a:pt x="336" y="382"/>
                        <a:pt x="338" y="377"/>
                        <a:pt x="338" y="373"/>
                      </a:cubicBezTo>
                      <a:cubicBezTo>
                        <a:pt x="338" y="314"/>
                        <a:pt x="338" y="314"/>
                        <a:pt x="338" y="314"/>
                      </a:cubicBezTo>
                      <a:cubicBezTo>
                        <a:pt x="337" y="310"/>
                        <a:pt x="336" y="306"/>
                        <a:pt x="333" y="303"/>
                      </a:cubicBezTo>
                      <a:cubicBezTo>
                        <a:pt x="295" y="271"/>
                        <a:pt x="295" y="271"/>
                        <a:pt x="295" y="271"/>
                      </a:cubicBezTo>
                      <a:cubicBezTo>
                        <a:pt x="296" y="256"/>
                        <a:pt x="296" y="256"/>
                        <a:pt x="296" y="256"/>
                      </a:cubicBezTo>
                      <a:cubicBezTo>
                        <a:pt x="297" y="252"/>
                        <a:pt x="296" y="248"/>
                        <a:pt x="293" y="245"/>
                      </a:cubicBezTo>
                      <a:cubicBezTo>
                        <a:pt x="291" y="242"/>
                        <a:pt x="287" y="241"/>
                        <a:pt x="283" y="240"/>
                      </a:cubicBezTo>
                      <a:cubicBezTo>
                        <a:pt x="259" y="239"/>
                        <a:pt x="259" y="239"/>
                        <a:pt x="259" y="239"/>
                      </a:cubicBezTo>
                      <a:cubicBezTo>
                        <a:pt x="260" y="236"/>
                        <a:pt x="260" y="236"/>
                        <a:pt x="260" y="236"/>
                      </a:cubicBezTo>
                      <a:cubicBezTo>
                        <a:pt x="290" y="232"/>
                        <a:pt x="290" y="232"/>
                        <a:pt x="290" y="232"/>
                      </a:cubicBezTo>
                      <a:cubicBezTo>
                        <a:pt x="302" y="243"/>
                        <a:pt x="302" y="243"/>
                        <a:pt x="302" y="243"/>
                      </a:cubicBezTo>
                      <a:cubicBezTo>
                        <a:pt x="302" y="244"/>
                        <a:pt x="303" y="244"/>
                        <a:pt x="303" y="244"/>
                      </a:cubicBezTo>
                      <a:cubicBezTo>
                        <a:pt x="345" y="274"/>
                        <a:pt x="345" y="274"/>
                        <a:pt x="345" y="274"/>
                      </a:cubicBezTo>
                      <a:cubicBezTo>
                        <a:pt x="348" y="276"/>
                        <a:pt x="352" y="277"/>
                        <a:pt x="356" y="276"/>
                      </a:cubicBezTo>
                      <a:cubicBezTo>
                        <a:pt x="360" y="275"/>
                        <a:pt x="364" y="272"/>
                        <a:pt x="365" y="268"/>
                      </a:cubicBezTo>
                      <a:cubicBezTo>
                        <a:pt x="379" y="242"/>
                        <a:pt x="379" y="242"/>
                        <a:pt x="379" y="242"/>
                      </a:cubicBezTo>
                      <a:cubicBezTo>
                        <a:pt x="382" y="235"/>
                        <a:pt x="380" y="227"/>
                        <a:pt x="373" y="223"/>
                      </a:cubicBezTo>
                      <a:cubicBezTo>
                        <a:pt x="347" y="209"/>
                        <a:pt x="347" y="209"/>
                        <a:pt x="347" y="209"/>
                      </a:cubicBezTo>
                      <a:cubicBezTo>
                        <a:pt x="355" y="178"/>
                        <a:pt x="355" y="178"/>
                        <a:pt x="355" y="178"/>
                      </a:cubicBezTo>
                      <a:cubicBezTo>
                        <a:pt x="355" y="178"/>
                        <a:pt x="355" y="177"/>
                        <a:pt x="355" y="176"/>
                      </a:cubicBezTo>
                      <a:cubicBezTo>
                        <a:pt x="358" y="142"/>
                        <a:pt x="358" y="142"/>
                        <a:pt x="358" y="142"/>
                      </a:cubicBezTo>
                      <a:cubicBezTo>
                        <a:pt x="389" y="140"/>
                        <a:pt x="389" y="140"/>
                        <a:pt x="389" y="140"/>
                      </a:cubicBezTo>
                      <a:cubicBezTo>
                        <a:pt x="395" y="139"/>
                        <a:pt x="400" y="135"/>
                        <a:pt x="402" y="129"/>
                      </a:cubicBezTo>
                      <a:cubicBezTo>
                        <a:pt x="403" y="123"/>
                        <a:pt x="401" y="117"/>
                        <a:pt x="396" y="114"/>
                      </a:cubicBezTo>
                      <a:cubicBezTo>
                        <a:pt x="322" y="68"/>
                        <a:pt x="322" y="68"/>
                        <a:pt x="322" y="68"/>
                      </a:cubicBezTo>
                      <a:cubicBezTo>
                        <a:pt x="320" y="67"/>
                        <a:pt x="318" y="66"/>
                        <a:pt x="315" y="66"/>
                      </a:cubicBezTo>
                      <a:cubicBezTo>
                        <a:pt x="267" y="63"/>
                        <a:pt x="267" y="63"/>
                        <a:pt x="267" y="63"/>
                      </a:cubicBezTo>
                      <a:cubicBezTo>
                        <a:pt x="278" y="38"/>
                        <a:pt x="278" y="38"/>
                        <a:pt x="278" y="38"/>
                      </a:cubicBezTo>
                      <a:cubicBezTo>
                        <a:pt x="345" y="26"/>
                        <a:pt x="345" y="26"/>
                        <a:pt x="345" y="26"/>
                      </a:cubicBezTo>
                      <a:cubicBezTo>
                        <a:pt x="351" y="25"/>
                        <a:pt x="355" y="21"/>
                        <a:pt x="356" y="16"/>
                      </a:cubicBezTo>
                      <a:cubicBezTo>
                        <a:pt x="358" y="12"/>
                        <a:pt x="357" y="7"/>
                        <a:pt x="354" y="4"/>
                      </a:cubicBezTo>
                      <a:cubicBezTo>
                        <a:pt x="377" y="0"/>
                        <a:pt x="377" y="0"/>
                        <a:pt x="377" y="0"/>
                      </a:cubicBezTo>
                      <a:cubicBezTo>
                        <a:pt x="264" y="6"/>
                        <a:pt x="155" y="62"/>
                        <a:pt x="86" y="162"/>
                      </a:cubicBezTo>
                      <a:cubicBezTo>
                        <a:pt x="14" y="264"/>
                        <a:pt x="0" y="389"/>
                        <a:pt x="36" y="498"/>
                      </a:cubicBezTo>
                      <a:cubicBezTo>
                        <a:pt x="56" y="461"/>
                        <a:pt x="56" y="461"/>
                        <a:pt x="56" y="461"/>
                      </a:cubicBezTo>
                      <a:lnTo>
                        <a:pt x="86" y="456"/>
                      </a:lnTo>
                      <a:close/>
                    </a:path>
                  </a:pathLst>
                </a:custGeom>
                <a:solidFill>
                  <a:srgbClr val="FFFFFF"/>
                </a:solidFill>
                <a:ln w="9525">
                  <a:noFill/>
                  <a:round/>
                  <a:headEnd/>
                  <a:tailEnd/>
                </a:ln>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8" name="Freeform 47"/>
                <p:cNvSpPr>
                  <a:spLocks noEditPoints="1"/>
                </p:cNvSpPr>
                <p:nvPr/>
              </p:nvSpPr>
              <p:spPr bwMode="auto">
                <a:xfrm>
                  <a:off x="2142" y="1637"/>
                  <a:ext cx="42" cy="33"/>
                </a:xfrm>
                <a:custGeom>
                  <a:avLst/>
                  <a:gdLst>
                    <a:gd name="T0" fmla="*/ 3 w 89"/>
                    <a:gd name="T1" fmla="*/ 34 h 70"/>
                    <a:gd name="T2" fmla="*/ 12 w 89"/>
                    <a:gd name="T3" fmla="*/ 45 h 70"/>
                    <a:gd name="T4" fmla="*/ 62 w 89"/>
                    <a:gd name="T5" fmla="*/ 67 h 70"/>
                    <a:gd name="T6" fmla="*/ 80 w 89"/>
                    <a:gd name="T7" fmla="*/ 61 h 70"/>
                    <a:gd name="T8" fmla="*/ 86 w 89"/>
                    <a:gd name="T9" fmla="*/ 49 h 70"/>
                    <a:gd name="T10" fmla="*/ 84 w 89"/>
                    <a:gd name="T11" fmla="*/ 33 h 70"/>
                    <a:gd name="T12" fmla="*/ 57 w 89"/>
                    <a:gd name="T13" fmla="*/ 3 h 70"/>
                    <a:gd name="T14" fmla="*/ 0 w 89"/>
                    <a:gd name="T15" fmla="*/ 0 h 70"/>
                    <a:gd name="T16" fmla="*/ 3 w 89"/>
                    <a:gd name="T17" fmla="*/ 34 h 70"/>
                    <a:gd name="T18" fmla="*/ 41 w 89"/>
                    <a:gd name="T19" fmla="*/ 27 h 70"/>
                    <a:gd name="T20" fmla="*/ 30 w 89"/>
                    <a:gd name="T21" fmla="*/ 23 h 70"/>
                    <a:gd name="T22" fmla="*/ 30 w 89"/>
                    <a:gd name="T23" fmla="*/ 14 h 70"/>
                    <a:gd name="T24" fmla="*/ 41 w 89"/>
                    <a:gd name="T25"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70">
                      <a:moveTo>
                        <a:pt x="3" y="34"/>
                      </a:moveTo>
                      <a:cubicBezTo>
                        <a:pt x="4" y="39"/>
                        <a:pt x="7" y="43"/>
                        <a:pt x="12" y="45"/>
                      </a:cubicBezTo>
                      <a:cubicBezTo>
                        <a:pt x="62" y="67"/>
                        <a:pt x="62" y="67"/>
                        <a:pt x="62" y="67"/>
                      </a:cubicBezTo>
                      <a:cubicBezTo>
                        <a:pt x="69" y="70"/>
                        <a:pt x="77" y="67"/>
                        <a:pt x="80" y="61"/>
                      </a:cubicBezTo>
                      <a:cubicBezTo>
                        <a:pt x="86" y="49"/>
                        <a:pt x="86" y="49"/>
                        <a:pt x="86" y="49"/>
                      </a:cubicBezTo>
                      <a:cubicBezTo>
                        <a:pt x="89" y="44"/>
                        <a:pt x="88" y="38"/>
                        <a:pt x="84" y="33"/>
                      </a:cubicBezTo>
                      <a:cubicBezTo>
                        <a:pt x="57" y="3"/>
                        <a:pt x="57" y="3"/>
                        <a:pt x="57" y="3"/>
                      </a:cubicBezTo>
                      <a:cubicBezTo>
                        <a:pt x="38" y="1"/>
                        <a:pt x="19" y="0"/>
                        <a:pt x="0" y="0"/>
                      </a:cubicBezTo>
                      <a:lnTo>
                        <a:pt x="3" y="34"/>
                      </a:lnTo>
                      <a:close/>
                      <a:moveTo>
                        <a:pt x="41" y="27"/>
                      </a:moveTo>
                      <a:cubicBezTo>
                        <a:pt x="30" y="23"/>
                        <a:pt x="30" y="23"/>
                        <a:pt x="30" y="23"/>
                      </a:cubicBezTo>
                      <a:cubicBezTo>
                        <a:pt x="30" y="14"/>
                        <a:pt x="30" y="14"/>
                        <a:pt x="30" y="14"/>
                      </a:cubicBezTo>
                      <a:lnTo>
                        <a:pt x="41"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49" name="Freeform 48"/>
                <p:cNvSpPr>
                  <a:spLocks/>
                </p:cNvSpPr>
                <p:nvPr/>
              </p:nvSpPr>
              <p:spPr bwMode="auto">
                <a:xfrm>
                  <a:off x="2145" y="1705"/>
                  <a:ext cx="35" cy="27"/>
                </a:xfrm>
                <a:custGeom>
                  <a:avLst/>
                  <a:gdLst>
                    <a:gd name="T0" fmla="*/ 73 w 74"/>
                    <a:gd name="T1" fmla="*/ 19 h 56"/>
                    <a:gd name="T2" fmla="*/ 61 w 74"/>
                    <a:gd name="T3" fmla="*/ 8 h 56"/>
                    <a:gd name="T4" fmla="*/ 17 w 74"/>
                    <a:gd name="T5" fmla="*/ 1 h 56"/>
                    <a:gd name="T6" fmla="*/ 3 w 74"/>
                    <a:gd name="T7" fmla="*/ 7 h 56"/>
                    <a:gd name="T8" fmla="*/ 2 w 74"/>
                    <a:gd name="T9" fmla="*/ 22 h 56"/>
                    <a:gd name="T10" fmla="*/ 16 w 74"/>
                    <a:gd name="T11" fmla="*/ 48 h 56"/>
                    <a:gd name="T12" fmla="*/ 25 w 74"/>
                    <a:gd name="T13" fmla="*/ 55 h 56"/>
                    <a:gd name="T14" fmla="*/ 31 w 74"/>
                    <a:gd name="T15" fmla="*/ 55 h 56"/>
                    <a:gd name="T16" fmla="*/ 36 w 74"/>
                    <a:gd name="T17" fmla="*/ 53 h 56"/>
                    <a:gd name="T18" fmla="*/ 67 w 74"/>
                    <a:gd name="T19" fmla="*/ 33 h 56"/>
                    <a:gd name="T20" fmla="*/ 73 w 74"/>
                    <a:gd name="T21" fmla="*/ 1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56">
                      <a:moveTo>
                        <a:pt x="73" y="19"/>
                      </a:moveTo>
                      <a:cubicBezTo>
                        <a:pt x="71" y="13"/>
                        <a:pt x="67" y="9"/>
                        <a:pt x="61" y="8"/>
                      </a:cubicBezTo>
                      <a:cubicBezTo>
                        <a:pt x="17" y="1"/>
                        <a:pt x="17" y="1"/>
                        <a:pt x="17" y="1"/>
                      </a:cubicBezTo>
                      <a:cubicBezTo>
                        <a:pt x="11" y="0"/>
                        <a:pt x="6" y="3"/>
                        <a:pt x="3" y="7"/>
                      </a:cubicBezTo>
                      <a:cubicBezTo>
                        <a:pt x="0" y="11"/>
                        <a:pt x="0" y="17"/>
                        <a:pt x="2" y="22"/>
                      </a:cubicBezTo>
                      <a:cubicBezTo>
                        <a:pt x="16" y="48"/>
                        <a:pt x="16" y="48"/>
                        <a:pt x="16" y="48"/>
                      </a:cubicBezTo>
                      <a:cubicBezTo>
                        <a:pt x="18" y="52"/>
                        <a:pt x="21" y="54"/>
                        <a:pt x="25" y="55"/>
                      </a:cubicBezTo>
                      <a:cubicBezTo>
                        <a:pt x="27" y="56"/>
                        <a:pt x="29" y="56"/>
                        <a:pt x="31" y="55"/>
                      </a:cubicBezTo>
                      <a:cubicBezTo>
                        <a:pt x="33" y="55"/>
                        <a:pt x="35" y="54"/>
                        <a:pt x="36" y="53"/>
                      </a:cubicBezTo>
                      <a:cubicBezTo>
                        <a:pt x="67" y="33"/>
                        <a:pt x="67" y="33"/>
                        <a:pt x="67" y="33"/>
                      </a:cubicBezTo>
                      <a:cubicBezTo>
                        <a:pt x="71" y="30"/>
                        <a:pt x="74" y="24"/>
                        <a:pt x="73"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0" name="Freeform 49"/>
                <p:cNvSpPr>
                  <a:spLocks/>
                </p:cNvSpPr>
                <p:nvPr/>
              </p:nvSpPr>
              <p:spPr bwMode="auto">
                <a:xfrm>
                  <a:off x="2145" y="1730"/>
                  <a:ext cx="44" cy="54"/>
                </a:xfrm>
                <a:custGeom>
                  <a:avLst/>
                  <a:gdLst>
                    <a:gd name="T0" fmla="*/ 88 w 93"/>
                    <a:gd name="T1" fmla="*/ 39 h 114"/>
                    <a:gd name="T2" fmla="*/ 86 w 93"/>
                    <a:gd name="T3" fmla="*/ 33 h 114"/>
                    <a:gd name="T4" fmla="*/ 66 w 93"/>
                    <a:gd name="T5" fmla="*/ 6 h 114"/>
                    <a:gd name="T6" fmla="*/ 52 w 93"/>
                    <a:gd name="T7" fmla="*/ 1 h 114"/>
                    <a:gd name="T8" fmla="*/ 41 w 93"/>
                    <a:gd name="T9" fmla="*/ 9 h 114"/>
                    <a:gd name="T10" fmla="*/ 23 w 93"/>
                    <a:gd name="T11" fmla="*/ 58 h 114"/>
                    <a:gd name="T12" fmla="*/ 3 w 93"/>
                    <a:gd name="T13" fmla="*/ 93 h 114"/>
                    <a:gd name="T14" fmla="*/ 5 w 93"/>
                    <a:gd name="T15" fmla="*/ 110 h 114"/>
                    <a:gd name="T16" fmla="*/ 18 w 93"/>
                    <a:gd name="T17" fmla="*/ 114 h 114"/>
                    <a:gd name="T18" fmla="*/ 22 w 93"/>
                    <a:gd name="T19" fmla="*/ 112 h 114"/>
                    <a:gd name="T20" fmla="*/ 73 w 93"/>
                    <a:gd name="T21" fmla="*/ 85 h 114"/>
                    <a:gd name="T22" fmla="*/ 88 w 93"/>
                    <a:gd name="T23" fmla="*/ 39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114">
                      <a:moveTo>
                        <a:pt x="88" y="39"/>
                      </a:moveTo>
                      <a:cubicBezTo>
                        <a:pt x="88" y="37"/>
                        <a:pt x="87" y="35"/>
                        <a:pt x="86" y="33"/>
                      </a:cubicBezTo>
                      <a:cubicBezTo>
                        <a:pt x="66" y="6"/>
                        <a:pt x="66" y="6"/>
                        <a:pt x="66" y="6"/>
                      </a:cubicBezTo>
                      <a:cubicBezTo>
                        <a:pt x="62" y="2"/>
                        <a:pt x="57" y="0"/>
                        <a:pt x="52" y="1"/>
                      </a:cubicBezTo>
                      <a:cubicBezTo>
                        <a:pt x="47" y="1"/>
                        <a:pt x="43" y="5"/>
                        <a:pt x="41" y="9"/>
                      </a:cubicBezTo>
                      <a:cubicBezTo>
                        <a:pt x="23" y="58"/>
                        <a:pt x="23" y="58"/>
                        <a:pt x="23" y="58"/>
                      </a:cubicBezTo>
                      <a:cubicBezTo>
                        <a:pt x="3" y="93"/>
                        <a:pt x="3" y="93"/>
                        <a:pt x="3" y="93"/>
                      </a:cubicBezTo>
                      <a:cubicBezTo>
                        <a:pt x="0" y="98"/>
                        <a:pt x="1" y="105"/>
                        <a:pt x="5" y="110"/>
                      </a:cubicBezTo>
                      <a:cubicBezTo>
                        <a:pt x="9" y="113"/>
                        <a:pt x="13" y="114"/>
                        <a:pt x="18" y="114"/>
                      </a:cubicBezTo>
                      <a:cubicBezTo>
                        <a:pt x="19" y="113"/>
                        <a:pt x="20" y="113"/>
                        <a:pt x="22" y="112"/>
                      </a:cubicBezTo>
                      <a:cubicBezTo>
                        <a:pt x="23" y="112"/>
                        <a:pt x="58" y="94"/>
                        <a:pt x="73" y="85"/>
                      </a:cubicBezTo>
                      <a:cubicBezTo>
                        <a:pt x="93" y="71"/>
                        <a:pt x="89" y="42"/>
                        <a:pt x="88" y="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1" name="Freeform 50"/>
                <p:cNvSpPr>
                  <a:spLocks/>
                </p:cNvSpPr>
                <p:nvPr/>
              </p:nvSpPr>
              <p:spPr bwMode="auto">
                <a:xfrm>
                  <a:off x="2094" y="1891"/>
                  <a:ext cx="52" cy="61"/>
                </a:xfrm>
                <a:custGeom>
                  <a:avLst/>
                  <a:gdLst>
                    <a:gd name="T0" fmla="*/ 28 w 111"/>
                    <a:gd name="T1" fmla="*/ 124 h 129"/>
                    <a:gd name="T2" fmla="*/ 83 w 111"/>
                    <a:gd name="T3" fmla="*/ 129 h 129"/>
                    <a:gd name="T4" fmla="*/ 87 w 111"/>
                    <a:gd name="T5" fmla="*/ 129 h 129"/>
                    <a:gd name="T6" fmla="*/ 98 w 111"/>
                    <a:gd name="T7" fmla="*/ 117 h 129"/>
                    <a:gd name="T8" fmla="*/ 110 w 111"/>
                    <a:gd name="T9" fmla="*/ 37 h 129"/>
                    <a:gd name="T10" fmla="*/ 106 w 111"/>
                    <a:gd name="T11" fmla="*/ 25 h 129"/>
                    <a:gd name="T12" fmla="*/ 69 w 111"/>
                    <a:gd name="T13" fmla="*/ 1 h 129"/>
                    <a:gd name="T14" fmla="*/ 42 w 111"/>
                    <a:gd name="T15" fmla="*/ 34 h 129"/>
                    <a:gd name="T16" fmla="*/ 27 w 111"/>
                    <a:gd name="T17" fmla="*/ 59 h 129"/>
                    <a:gd name="T18" fmla="*/ 7 w 111"/>
                    <a:gd name="T19" fmla="*/ 71 h 129"/>
                    <a:gd name="T20" fmla="*/ 0 w 111"/>
                    <a:gd name="T21" fmla="*/ 80 h 129"/>
                    <a:gd name="T22" fmla="*/ 2 w 111"/>
                    <a:gd name="T23" fmla="*/ 90 h 129"/>
                    <a:gd name="T24" fmla="*/ 18 w 111"/>
                    <a:gd name="T25" fmla="*/ 117 h 129"/>
                    <a:gd name="T26" fmla="*/ 28 w 111"/>
                    <a:gd name="T27" fmla="*/ 12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 h="129">
                      <a:moveTo>
                        <a:pt x="28" y="124"/>
                      </a:moveTo>
                      <a:cubicBezTo>
                        <a:pt x="83" y="129"/>
                        <a:pt x="83" y="129"/>
                        <a:pt x="83" y="129"/>
                      </a:cubicBezTo>
                      <a:cubicBezTo>
                        <a:pt x="85" y="129"/>
                        <a:pt x="86" y="129"/>
                        <a:pt x="87" y="129"/>
                      </a:cubicBezTo>
                      <a:cubicBezTo>
                        <a:pt x="93" y="128"/>
                        <a:pt x="98" y="123"/>
                        <a:pt x="98" y="117"/>
                      </a:cubicBezTo>
                      <a:cubicBezTo>
                        <a:pt x="110" y="37"/>
                        <a:pt x="110" y="37"/>
                        <a:pt x="110" y="37"/>
                      </a:cubicBezTo>
                      <a:cubicBezTo>
                        <a:pt x="111" y="32"/>
                        <a:pt x="109" y="28"/>
                        <a:pt x="106" y="25"/>
                      </a:cubicBezTo>
                      <a:cubicBezTo>
                        <a:pt x="81" y="1"/>
                        <a:pt x="75" y="0"/>
                        <a:pt x="69" y="1"/>
                      </a:cubicBezTo>
                      <a:cubicBezTo>
                        <a:pt x="62" y="2"/>
                        <a:pt x="59" y="5"/>
                        <a:pt x="42" y="34"/>
                      </a:cubicBezTo>
                      <a:cubicBezTo>
                        <a:pt x="38" y="40"/>
                        <a:pt x="30" y="53"/>
                        <a:pt x="27" y="59"/>
                      </a:cubicBezTo>
                      <a:cubicBezTo>
                        <a:pt x="23" y="62"/>
                        <a:pt x="14" y="67"/>
                        <a:pt x="7" y="71"/>
                      </a:cubicBezTo>
                      <a:cubicBezTo>
                        <a:pt x="4" y="73"/>
                        <a:pt x="1" y="76"/>
                        <a:pt x="0" y="80"/>
                      </a:cubicBezTo>
                      <a:cubicBezTo>
                        <a:pt x="0" y="83"/>
                        <a:pt x="0" y="87"/>
                        <a:pt x="2" y="90"/>
                      </a:cubicBezTo>
                      <a:cubicBezTo>
                        <a:pt x="18" y="117"/>
                        <a:pt x="18" y="117"/>
                        <a:pt x="18" y="117"/>
                      </a:cubicBezTo>
                      <a:cubicBezTo>
                        <a:pt x="20" y="121"/>
                        <a:pt x="24" y="124"/>
                        <a:pt x="28" y="1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2" name="Freeform 51"/>
                <p:cNvSpPr>
                  <a:spLocks/>
                </p:cNvSpPr>
                <p:nvPr/>
              </p:nvSpPr>
              <p:spPr bwMode="auto">
                <a:xfrm>
                  <a:off x="2090" y="1963"/>
                  <a:ext cx="41" cy="15"/>
                </a:xfrm>
                <a:custGeom>
                  <a:avLst/>
                  <a:gdLst>
                    <a:gd name="T0" fmla="*/ 74 w 88"/>
                    <a:gd name="T1" fmla="*/ 4 h 32"/>
                    <a:gd name="T2" fmla="*/ 15 w 88"/>
                    <a:gd name="T3" fmla="*/ 0 h 32"/>
                    <a:gd name="T4" fmla="*/ 0 w 88"/>
                    <a:gd name="T5" fmla="*/ 13 h 32"/>
                    <a:gd name="T6" fmla="*/ 13 w 88"/>
                    <a:gd name="T7" fmla="*/ 28 h 32"/>
                    <a:gd name="T8" fmla="*/ 73 w 88"/>
                    <a:gd name="T9" fmla="*/ 32 h 32"/>
                    <a:gd name="T10" fmla="*/ 76 w 88"/>
                    <a:gd name="T11" fmla="*/ 32 h 32"/>
                    <a:gd name="T12" fmla="*/ 88 w 88"/>
                    <a:gd name="T13" fmla="*/ 19 h 32"/>
                    <a:gd name="T14" fmla="*/ 74 w 88"/>
                    <a:gd name="T15" fmla="*/ 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2">
                      <a:moveTo>
                        <a:pt x="74" y="4"/>
                      </a:moveTo>
                      <a:cubicBezTo>
                        <a:pt x="15" y="0"/>
                        <a:pt x="15" y="0"/>
                        <a:pt x="15" y="0"/>
                      </a:cubicBezTo>
                      <a:cubicBezTo>
                        <a:pt x="7" y="0"/>
                        <a:pt x="1" y="6"/>
                        <a:pt x="0" y="13"/>
                      </a:cubicBezTo>
                      <a:cubicBezTo>
                        <a:pt x="0" y="21"/>
                        <a:pt x="5" y="28"/>
                        <a:pt x="13" y="28"/>
                      </a:cubicBezTo>
                      <a:cubicBezTo>
                        <a:pt x="73" y="32"/>
                        <a:pt x="73" y="32"/>
                        <a:pt x="73" y="32"/>
                      </a:cubicBezTo>
                      <a:cubicBezTo>
                        <a:pt x="74" y="32"/>
                        <a:pt x="75" y="32"/>
                        <a:pt x="76" y="32"/>
                      </a:cubicBezTo>
                      <a:cubicBezTo>
                        <a:pt x="82" y="30"/>
                        <a:pt x="87" y="25"/>
                        <a:pt x="88" y="19"/>
                      </a:cubicBezTo>
                      <a:cubicBezTo>
                        <a:pt x="88" y="11"/>
                        <a:pt x="82" y="4"/>
                        <a:pt x="74"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3" name="Freeform 52"/>
                <p:cNvSpPr>
                  <a:spLocks/>
                </p:cNvSpPr>
                <p:nvPr/>
              </p:nvSpPr>
              <p:spPr bwMode="auto">
                <a:xfrm>
                  <a:off x="2132" y="1964"/>
                  <a:ext cx="23" cy="14"/>
                </a:xfrm>
                <a:custGeom>
                  <a:avLst/>
                  <a:gdLst>
                    <a:gd name="T0" fmla="*/ 34 w 49"/>
                    <a:gd name="T1" fmla="*/ 0 h 29"/>
                    <a:gd name="T2" fmla="*/ 14 w 49"/>
                    <a:gd name="T3" fmla="*/ 1 h 29"/>
                    <a:gd name="T4" fmla="*/ 0 w 49"/>
                    <a:gd name="T5" fmla="*/ 16 h 29"/>
                    <a:gd name="T6" fmla="*/ 15 w 49"/>
                    <a:gd name="T7" fmla="*/ 29 h 29"/>
                    <a:gd name="T8" fmla="*/ 35 w 49"/>
                    <a:gd name="T9" fmla="*/ 28 h 29"/>
                    <a:gd name="T10" fmla="*/ 37 w 49"/>
                    <a:gd name="T11" fmla="*/ 28 h 29"/>
                    <a:gd name="T12" fmla="*/ 48 w 49"/>
                    <a:gd name="T13" fmla="*/ 13 h 29"/>
                    <a:gd name="T14" fmla="*/ 34 w 49"/>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9">
                      <a:moveTo>
                        <a:pt x="34" y="0"/>
                      </a:moveTo>
                      <a:cubicBezTo>
                        <a:pt x="14" y="1"/>
                        <a:pt x="14" y="1"/>
                        <a:pt x="14" y="1"/>
                      </a:cubicBezTo>
                      <a:cubicBezTo>
                        <a:pt x="6" y="1"/>
                        <a:pt x="0" y="8"/>
                        <a:pt x="0" y="16"/>
                      </a:cubicBezTo>
                      <a:cubicBezTo>
                        <a:pt x="1" y="23"/>
                        <a:pt x="7" y="29"/>
                        <a:pt x="15" y="29"/>
                      </a:cubicBezTo>
                      <a:cubicBezTo>
                        <a:pt x="35" y="28"/>
                        <a:pt x="35" y="28"/>
                        <a:pt x="35" y="28"/>
                      </a:cubicBezTo>
                      <a:cubicBezTo>
                        <a:pt x="36" y="28"/>
                        <a:pt x="36" y="28"/>
                        <a:pt x="37" y="28"/>
                      </a:cubicBezTo>
                      <a:cubicBezTo>
                        <a:pt x="44" y="27"/>
                        <a:pt x="49" y="21"/>
                        <a:pt x="48" y="13"/>
                      </a:cubicBezTo>
                      <a:cubicBezTo>
                        <a:pt x="48" y="6"/>
                        <a:pt x="42" y="0"/>
                        <a:pt x="3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4" name="Freeform 53"/>
                <p:cNvSpPr>
                  <a:spLocks/>
                </p:cNvSpPr>
                <p:nvPr/>
              </p:nvSpPr>
              <p:spPr bwMode="auto">
                <a:xfrm>
                  <a:off x="2198" y="1869"/>
                  <a:ext cx="15" cy="18"/>
                </a:xfrm>
                <a:custGeom>
                  <a:avLst/>
                  <a:gdLst>
                    <a:gd name="T0" fmla="*/ 2 w 31"/>
                    <a:gd name="T1" fmla="*/ 25 h 38"/>
                    <a:gd name="T2" fmla="*/ 19 w 31"/>
                    <a:gd name="T3" fmla="*/ 37 h 38"/>
                    <a:gd name="T4" fmla="*/ 30 w 31"/>
                    <a:gd name="T5" fmla="*/ 21 h 38"/>
                    <a:gd name="T6" fmla="*/ 29 w 31"/>
                    <a:gd name="T7" fmla="*/ 13 h 38"/>
                    <a:gd name="T8" fmla="*/ 12 w 31"/>
                    <a:gd name="T9" fmla="*/ 1 h 38"/>
                    <a:gd name="T10" fmla="*/ 1 w 31"/>
                    <a:gd name="T11" fmla="*/ 18 h 38"/>
                    <a:gd name="T12" fmla="*/ 2 w 31"/>
                    <a:gd name="T13" fmla="*/ 25 h 38"/>
                  </a:gdLst>
                  <a:ahLst/>
                  <a:cxnLst>
                    <a:cxn ang="0">
                      <a:pos x="T0" y="T1"/>
                    </a:cxn>
                    <a:cxn ang="0">
                      <a:pos x="T2" y="T3"/>
                    </a:cxn>
                    <a:cxn ang="0">
                      <a:pos x="T4" y="T5"/>
                    </a:cxn>
                    <a:cxn ang="0">
                      <a:pos x="T6" y="T7"/>
                    </a:cxn>
                    <a:cxn ang="0">
                      <a:pos x="T8" y="T9"/>
                    </a:cxn>
                    <a:cxn ang="0">
                      <a:pos x="T10" y="T11"/>
                    </a:cxn>
                    <a:cxn ang="0">
                      <a:pos x="T12" y="T13"/>
                    </a:cxn>
                  </a:cxnLst>
                  <a:rect l="0" t="0" r="r" b="b"/>
                  <a:pathLst>
                    <a:path w="31" h="38">
                      <a:moveTo>
                        <a:pt x="2" y="25"/>
                      </a:moveTo>
                      <a:cubicBezTo>
                        <a:pt x="4" y="33"/>
                        <a:pt x="11" y="38"/>
                        <a:pt x="19" y="37"/>
                      </a:cubicBezTo>
                      <a:cubicBezTo>
                        <a:pt x="26" y="35"/>
                        <a:pt x="31" y="28"/>
                        <a:pt x="30" y="21"/>
                      </a:cubicBezTo>
                      <a:cubicBezTo>
                        <a:pt x="29" y="13"/>
                        <a:pt x="29" y="13"/>
                        <a:pt x="29" y="13"/>
                      </a:cubicBezTo>
                      <a:cubicBezTo>
                        <a:pt x="27" y="5"/>
                        <a:pt x="20" y="0"/>
                        <a:pt x="12" y="1"/>
                      </a:cubicBezTo>
                      <a:cubicBezTo>
                        <a:pt x="5" y="3"/>
                        <a:pt x="0" y="10"/>
                        <a:pt x="1" y="18"/>
                      </a:cubicBezTo>
                      <a:lnTo>
                        <a:pt x="2" y="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5" name="Freeform 54"/>
                <p:cNvSpPr>
                  <a:spLocks/>
                </p:cNvSpPr>
                <p:nvPr/>
              </p:nvSpPr>
              <p:spPr bwMode="auto">
                <a:xfrm>
                  <a:off x="2147" y="1871"/>
                  <a:ext cx="26" cy="33"/>
                </a:xfrm>
                <a:custGeom>
                  <a:avLst/>
                  <a:gdLst>
                    <a:gd name="T0" fmla="*/ 5 w 55"/>
                    <a:gd name="T1" fmla="*/ 52 h 72"/>
                    <a:gd name="T2" fmla="*/ 27 w 55"/>
                    <a:gd name="T3" fmla="*/ 69 h 72"/>
                    <a:gd name="T4" fmla="*/ 38 w 55"/>
                    <a:gd name="T5" fmla="*/ 71 h 72"/>
                    <a:gd name="T6" fmla="*/ 41 w 55"/>
                    <a:gd name="T7" fmla="*/ 70 h 72"/>
                    <a:gd name="T8" fmla="*/ 50 w 55"/>
                    <a:gd name="T9" fmla="*/ 59 h 72"/>
                    <a:gd name="T10" fmla="*/ 54 w 55"/>
                    <a:gd name="T11" fmla="*/ 17 h 72"/>
                    <a:gd name="T12" fmla="*/ 47 w 55"/>
                    <a:gd name="T13" fmla="*/ 3 h 72"/>
                    <a:gd name="T14" fmla="*/ 31 w 55"/>
                    <a:gd name="T15" fmla="*/ 5 h 72"/>
                    <a:gd name="T16" fmla="*/ 4 w 55"/>
                    <a:gd name="T17" fmla="*/ 31 h 72"/>
                    <a:gd name="T18" fmla="*/ 0 w 55"/>
                    <a:gd name="T19" fmla="*/ 42 h 72"/>
                    <a:gd name="T20" fmla="*/ 5 w 55"/>
                    <a:gd name="T21" fmla="*/ 5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72">
                      <a:moveTo>
                        <a:pt x="5" y="52"/>
                      </a:moveTo>
                      <a:cubicBezTo>
                        <a:pt x="27" y="69"/>
                        <a:pt x="27" y="69"/>
                        <a:pt x="27" y="69"/>
                      </a:cubicBezTo>
                      <a:cubicBezTo>
                        <a:pt x="30" y="71"/>
                        <a:pt x="34" y="72"/>
                        <a:pt x="38" y="71"/>
                      </a:cubicBezTo>
                      <a:cubicBezTo>
                        <a:pt x="39" y="71"/>
                        <a:pt x="40" y="71"/>
                        <a:pt x="41" y="70"/>
                      </a:cubicBezTo>
                      <a:cubicBezTo>
                        <a:pt x="46" y="68"/>
                        <a:pt x="49" y="64"/>
                        <a:pt x="50" y="59"/>
                      </a:cubicBezTo>
                      <a:cubicBezTo>
                        <a:pt x="54" y="17"/>
                        <a:pt x="54" y="17"/>
                        <a:pt x="54" y="17"/>
                      </a:cubicBezTo>
                      <a:cubicBezTo>
                        <a:pt x="55" y="11"/>
                        <a:pt x="52" y="6"/>
                        <a:pt x="47" y="3"/>
                      </a:cubicBezTo>
                      <a:cubicBezTo>
                        <a:pt x="41" y="0"/>
                        <a:pt x="35" y="1"/>
                        <a:pt x="31" y="5"/>
                      </a:cubicBezTo>
                      <a:cubicBezTo>
                        <a:pt x="4" y="31"/>
                        <a:pt x="4" y="31"/>
                        <a:pt x="4" y="31"/>
                      </a:cubicBezTo>
                      <a:cubicBezTo>
                        <a:pt x="1" y="34"/>
                        <a:pt x="0" y="37"/>
                        <a:pt x="0" y="42"/>
                      </a:cubicBezTo>
                      <a:cubicBezTo>
                        <a:pt x="0" y="46"/>
                        <a:pt x="2" y="49"/>
                        <a:pt x="5" y="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6" name="Freeform 55"/>
                <p:cNvSpPr>
                  <a:spLocks/>
                </p:cNvSpPr>
                <p:nvPr/>
              </p:nvSpPr>
              <p:spPr bwMode="auto">
                <a:xfrm>
                  <a:off x="2127" y="1870"/>
                  <a:ext cx="20" cy="22"/>
                </a:xfrm>
                <a:custGeom>
                  <a:avLst/>
                  <a:gdLst>
                    <a:gd name="T0" fmla="*/ 32 w 41"/>
                    <a:gd name="T1" fmla="*/ 3 h 46"/>
                    <a:gd name="T2" fmla="*/ 13 w 41"/>
                    <a:gd name="T3" fmla="*/ 9 h 46"/>
                    <a:gd name="T4" fmla="*/ 4 w 41"/>
                    <a:gd name="T5" fmla="*/ 25 h 46"/>
                    <a:gd name="T6" fmla="*/ 10 w 41"/>
                    <a:gd name="T7" fmla="*/ 44 h 46"/>
                    <a:gd name="T8" fmla="*/ 19 w 41"/>
                    <a:gd name="T9" fmla="*/ 45 h 46"/>
                    <a:gd name="T10" fmla="*/ 29 w 41"/>
                    <a:gd name="T11" fmla="*/ 38 h 46"/>
                    <a:gd name="T12" fmla="*/ 37 w 41"/>
                    <a:gd name="T13" fmla="*/ 22 h 46"/>
                    <a:gd name="T14" fmla="*/ 32 w 41"/>
                    <a:gd name="T15" fmla="*/ 3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46">
                      <a:moveTo>
                        <a:pt x="32" y="3"/>
                      </a:moveTo>
                      <a:cubicBezTo>
                        <a:pt x="25" y="0"/>
                        <a:pt x="17" y="2"/>
                        <a:pt x="13" y="9"/>
                      </a:cubicBezTo>
                      <a:cubicBezTo>
                        <a:pt x="4" y="25"/>
                        <a:pt x="4" y="25"/>
                        <a:pt x="4" y="25"/>
                      </a:cubicBezTo>
                      <a:cubicBezTo>
                        <a:pt x="0" y="31"/>
                        <a:pt x="3" y="40"/>
                        <a:pt x="10" y="44"/>
                      </a:cubicBezTo>
                      <a:cubicBezTo>
                        <a:pt x="13" y="45"/>
                        <a:pt x="16" y="46"/>
                        <a:pt x="19" y="45"/>
                      </a:cubicBezTo>
                      <a:cubicBezTo>
                        <a:pt x="23" y="44"/>
                        <a:pt x="27" y="42"/>
                        <a:pt x="29" y="38"/>
                      </a:cubicBezTo>
                      <a:cubicBezTo>
                        <a:pt x="37" y="22"/>
                        <a:pt x="37" y="22"/>
                        <a:pt x="37" y="22"/>
                      </a:cubicBezTo>
                      <a:cubicBezTo>
                        <a:pt x="41" y="16"/>
                        <a:pt x="39" y="7"/>
                        <a:pt x="3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7" name="Freeform 56"/>
                <p:cNvSpPr>
                  <a:spLocks noEditPoints="1"/>
                </p:cNvSpPr>
                <p:nvPr/>
              </p:nvSpPr>
              <p:spPr bwMode="auto">
                <a:xfrm>
                  <a:off x="2127" y="1827"/>
                  <a:ext cx="37" cy="41"/>
                </a:xfrm>
                <a:custGeom>
                  <a:avLst/>
                  <a:gdLst>
                    <a:gd name="T0" fmla="*/ 10 w 78"/>
                    <a:gd name="T1" fmla="*/ 84 h 88"/>
                    <a:gd name="T2" fmla="*/ 20 w 78"/>
                    <a:gd name="T3" fmla="*/ 87 h 88"/>
                    <a:gd name="T4" fmla="*/ 64 w 78"/>
                    <a:gd name="T5" fmla="*/ 83 h 88"/>
                    <a:gd name="T6" fmla="*/ 65 w 78"/>
                    <a:gd name="T7" fmla="*/ 83 h 88"/>
                    <a:gd name="T8" fmla="*/ 65 w 78"/>
                    <a:gd name="T9" fmla="*/ 83 h 88"/>
                    <a:gd name="T10" fmla="*/ 77 w 78"/>
                    <a:gd name="T11" fmla="*/ 67 h 88"/>
                    <a:gd name="T12" fmla="*/ 72 w 78"/>
                    <a:gd name="T13" fmla="*/ 59 h 88"/>
                    <a:gd name="T14" fmla="*/ 24 w 78"/>
                    <a:gd name="T15" fmla="*/ 6 h 88"/>
                    <a:gd name="T16" fmla="*/ 9 w 78"/>
                    <a:gd name="T17" fmla="*/ 2 h 88"/>
                    <a:gd name="T18" fmla="*/ 0 w 78"/>
                    <a:gd name="T19" fmla="*/ 16 h 88"/>
                    <a:gd name="T20" fmla="*/ 5 w 78"/>
                    <a:gd name="T21" fmla="*/ 75 h 88"/>
                    <a:gd name="T22" fmla="*/ 10 w 78"/>
                    <a:gd name="T23" fmla="*/ 84 h 88"/>
                    <a:gd name="T24" fmla="*/ 34 w 78"/>
                    <a:gd name="T25" fmla="*/ 58 h 88"/>
                    <a:gd name="T26" fmla="*/ 32 w 78"/>
                    <a:gd name="T27" fmla="*/ 58 h 88"/>
                    <a:gd name="T28" fmla="*/ 32 w 78"/>
                    <a:gd name="T29" fmla="*/ 55 h 88"/>
                    <a:gd name="T30" fmla="*/ 34 w 78"/>
                    <a:gd name="T31"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 h="88">
                      <a:moveTo>
                        <a:pt x="10" y="84"/>
                      </a:moveTo>
                      <a:cubicBezTo>
                        <a:pt x="13" y="87"/>
                        <a:pt x="17" y="88"/>
                        <a:pt x="20" y="87"/>
                      </a:cubicBezTo>
                      <a:cubicBezTo>
                        <a:pt x="64" y="83"/>
                        <a:pt x="64" y="83"/>
                        <a:pt x="64" y="83"/>
                      </a:cubicBezTo>
                      <a:cubicBezTo>
                        <a:pt x="65" y="83"/>
                        <a:pt x="65" y="83"/>
                        <a:pt x="65" y="83"/>
                      </a:cubicBezTo>
                      <a:cubicBezTo>
                        <a:pt x="65" y="83"/>
                        <a:pt x="65" y="83"/>
                        <a:pt x="65" y="83"/>
                      </a:cubicBezTo>
                      <a:cubicBezTo>
                        <a:pt x="73" y="82"/>
                        <a:pt x="78" y="74"/>
                        <a:pt x="77" y="67"/>
                      </a:cubicBezTo>
                      <a:cubicBezTo>
                        <a:pt x="76" y="63"/>
                        <a:pt x="75" y="61"/>
                        <a:pt x="72" y="59"/>
                      </a:cubicBezTo>
                      <a:cubicBezTo>
                        <a:pt x="24" y="6"/>
                        <a:pt x="24" y="6"/>
                        <a:pt x="24" y="6"/>
                      </a:cubicBezTo>
                      <a:cubicBezTo>
                        <a:pt x="20" y="1"/>
                        <a:pt x="14" y="0"/>
                        <a:pt x="9" y="2"/>
                      </a:cubicBezTo>
                      <a:cubicBezTo>
                        <a:pt x="3" y="5"/>
                        <a:pt x="0" y="10"/>
                        <a:pt x="0" y="16"/>
                      </a:cubicBezTo>
                      <a:cubicBezTo>
                        <a:pt x="5" y="75"/>
                        <a:pt x="5" y="75"/>
                        <a:pt x="5" y="75"/>
                      </a:cubicBezTo>
                      <a:cubicBezTo>
                        <a:pt x="5" y="78"/>
                        <a:pt x="7" y="82"/>
                        <a:pt x="10" y="84"/>
                      </a:cubicBezTo>
                      <a:close/>
                      <a:moveTo>
                        <a:pt x="34" y="58"/>
                      </a:moveTo>
                      <a:cubicBezTo>
                        <a:pt x="32" y="58"/>
                        <a:pt x="32" y="58"/>
                        <a:pt x="32" y="58"/>
                      </a:cubicBezTo>
                      <a:cubicBezTo>
                        <a:pt x="32" y="55"/>
                        <a:pt x="32" y="55"/>
                        <a:pt x="32" y="55"/>
                      </a:cubicBezTo>
                      <a:lnTo>
                        <a:pt x="34"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8" name="Freeform 57"/>
                <p:cNvSpPr>
                  <a:spLocks/>
                </p:cNvSpPr>
                <p:nvPr/>
              </p:nvSpPr>
              <p:spPr bwMode="auto">
                <a:xfrm>
                  <a:off x="2177" y="1903"/>
                  <a:ext cx="13" cy="22"/>
                </a:xfrm>
                <a:custGeom>
                  <a:avLst/>
                  <a:gdLst>
                    <a:gd name="T0" fmla="*/ 15 w 29"/>
                    <a:gd name="T1" fmla="*/ 0 h 47"/>
                    <a:gd name="T2" fmla="*/ 1 w 29"/>
                    <a:gd name="T3" fmla="*/ 14 h 47"/>
                    <a:gd name="T4" fmla="*/ 0 w 29"/>
                    <a:gd name="T5" fmla="*/ 33 h 47"/>
                    <a:gd name="T6" fmla="*/ 14 w 29"/>
                    <a:gd name="T7" fmla="*/ 47 h 47"/>
                    <a:gd name="T8" fmla="*/ 17 w 29"/>
                    <a:gd name="T9" fmla="*/ 47 h 47"/>
                    <a:gd name="T10" fmla="*/ 28 w 29"/>
                    <a:gd name="T11" fmla="*/ 34 h 47"/>
                    <a:gd name="T12" fmla="*/ 29 w 29"/>
                    <a:gd name="T13" fmla="*/ 15 h 47"/>
                    <a:gd name="T14" fmla="*/ 15 w 29"/>
                    <a:gd name="T15" fmla="*/ 0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47">
                      <a:moveTo>
                        <a:pt x="15" y="0"/>
                      </a:moveTo>
                      <a:cubicBezTo>
                        <a:pt x="8" y="0"/>
                        <a:pt x="1" y="6"/>
                        <a:pt x="1" y="14"/>
                      </a:cubicBezTo>
                      <a:cubicBezTo>
                        <a:pt x="0" y="33"/>
                        <a:pt x="0" y="33"/>
                        <a:pt x="0" y="33"/>
                      </a:cubicBezTo>
                      <a:cubicBezTo>
                        <a:pt x="0" y="41"/>
                        <a:pt x="6" y="47"/>
                        <a:pt x="14" y="47"/>
                      </a:cubicBezTo>
                      <a:cubicBezTo>
                        <a:pt x="15" y="47"/>
                        <a:pt x="16" y="47"/>
                        <a:pt x="17" y="47"/>
                      </a:cubicBezTo>
                      <a:cubicBezTo>
                        <a:pt x="23" y="46"/>
                        <a:pt x="28" y="41"/>
                        <a:pt x="28" y="34"/>
                      </a:cubicBezTo>
                      <a:cubicBezTo>
                        <a:pt x="29" y="15"/>
                        <a:pt x="29" y="15"/>
                        <a:pt x="29" y="15"/>
                      </a:cubicBezTo>
                      <a:cubicBezTo>
                        <a:pt x="29" y="7"/>
                        <a:pt x="23" y="1"/>
                        <a:pt x="1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59" name="Freeform 58"/>
                <p:cNvSpPr>
                  <a:spLocks/>
                </p:cNvSpPr>
                <p:nvPr/>
              </p:nvSpPr>
              <p:spPr bwMode="auto">
                <a:xfrm>
                  <a:off x="2182" y="1929"/>
                  <a:ext cx="19" cy="15"/>
                </a:xfrm>
                <a:custGeom>
                  <a:avLst/>
                  <a:gdLst>
                    <a:gd name="T0" fmla="*/ 29 w 42"/>
                    <a:gd name="T1" fmla="*/ 28 h 32"/>
                    <a:gd name="T2" fmla="*/ 41 w 42"/>
                    <a:gd name="T3" fmla="*/ 12 h 32"/>
                    <a:gd name="T4" fmla="*/ 24 w 42"/>
                    <a:gd name="T5" fmla="*/ 1 h 32"/>
                    <a:gd name="T6" fmla="*/ 13 w 42"/>
                    <a:gd name="T7" fmla="*/ 3 h 32"/>
                    <a:gd name="T8" fmla="*/ 1 w 42"/>
                    <a:gd name="T9" fmla="*/ 19 h 32"/>
                    <a:gd name="T10" fmla="*/ 18 w 42"/>
                    <a:gd name="T11" fmla="*/ 31 h 32"/>
                    <a:gd name="T12" fmla="*/ 29 w 42"/>
                    <a:gd name="T13" fmla="*/ 28 h 32"/>
                  </a:gdLst>
                  <a:ahLst/>
                  <a:cxnLst>
                    <a:cxn ang="0">
                      <a:pos x="T0" y="T1"/>
                    </a:cxn>
                    <a:cxn ang="0">
                      <a:pos x="T2" y="T3"/>
                    </a:cxn>
                    <a:cxn ang="0">
                      <a:pos x="T4" y="T5"/>
                    </a:cxn>
                    <a:cxn ang="0">
                      <a:pos x="T6" y="T7"/>
                    </a:cxn>
                    <a:cxn ang="0">
                      <a:pos x="T8" y="T9"/>
                    </a:cxn>
                    <a:cxn ang="0">
                      <a:pos x="T10" y="T11"/>
                    </a:cxn>
                    <a:cxn ang="0">
                      <a:pos x="T12" y="T13"/>
                    </a:cxn>
                  </a:cxnLst>
                  <a:rect l="0" t="0" r="r" b="b"/>
                  <a:pathLst>
                    <a:path w="42" h="32">
                      <a:moveTo>
                        <a:pt x="29" y="28"/>
                      </a:moveTo>
                      <a:cubicBezTo>
                        <a:pt x="37" y="27"/>
                        <a:pt x="42" y="20"/>
                        <a:pt x="41" y="12"/>
                      </a:cubicBezTo>
                      <a:cubicBezTo>
                        <a:pt x="39" y="5"/>
                        <a:pt x="32" y="0"/>
                        <a:pt x="24" y="1"/>
                      </a:cubicBezTo>
                      <a:cubicBezTo>
                        <a:pt x="13" y="3"/>
                        <a:pt x="13" y="3"/>
                        <a:pt x="13" y="3"/>
                      </a:cubicBezTo>
                      <a:cubicBezTo>
                        <a:pt x="5" y="4"/>
                        <a:pt x="0" y="12"/>
                        <a:pt x="1" y="19"/>
                      </a:cubicBezTo>
                      <a:cubicBezTo>
                        <a:pt x="3" y="27"/>
                        <a:pt x="10" y="32"/>
                        <a:pt x="18" y="31"/>
                      </a:cubicBezTo>
                      <a:lnTo>
                        <a:pt x="29"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0" name="Freeform 59"/>
                <p:cNvSpPr>
                  <a:spLocks/>
                </p:cNvSpPr>
                <p:nvPr/>
              </p:nvSpPr>
              <p:spPr bwMode="auto">
                <a:xfrm>
                  <a:off x="2144" y="1916"/>
                  <a:ext cx="30" cy="38"/>
                </a:xfrm>
                <a:custGeom>
                  <a:avLst/>
                  <a:gdLst>
                    <a:gd name="T0" fmla="*/ 12 w 62"/>
                    <a:gd name="T1" fmla="*/ 16 h 81"/>
                    <a:gd name="T2" fmla="*/ 2 w 62"/>
                    <a:gd name="T3" fmla="*/ 64 h 81"/>
                    <a:gd name="T4" fmla="*/ 12 w 62"/>
                    <a:gd name="T5" fmla="*/ 81 h 81"/>
                    <a:gd name="T6" fmla="*/ 18 w 62"/>
                    <a:gd name="T7" fmla="*/ 81 h 81"/>
                    <a:gd name="T8" fmla="*/ 29 w 62"/>
                    <a:gd name="T9" fmla="*/ 70 h 81"/>
                    <a:gd name="T10" fmla="*/ 38 w 62"/>
                    <a:gd name="T11" fmla="*/ 31 h 81"/>
                    <a:gd name="T12" fmla="*/ 49 w 62"/>
                    <a:gd name="T13" fmla="*/ 29 h 81"/>
                    <a:gd name="T14" fmla="*/ 61 w 62"/>
                    <a:gd name="T15" fmla="*/ 13 h 81"/>
                    <a:gd name="T16" fmla="*/ 44 w 62"/>
                    <a:gd name="T17" fmla="*/ 2 h 81"/>
                    <a:gd name="T18" fmla="*/ 23 w 62"/>
                    <a:gd name="T19" fmla="*/ 5 h 81"/>
                    <a:gd name="T20" fmla="*/ 12 w 62"/>
                    <a:gd name="T21" fmla="*/ 1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81">
                      <a:moveTo>
                        <a:pt x="12" y="16"/>
                      </a:moveTo>
                      <a:cubicBezTo>
                        <a:pt x="2" y="64"/>
                        <a:pt x="2" y="64"/>
                        <a:pt x="2" y="64"/>
                      </a:cubicBezTo>
                      <a:cubicBezTo>
                        <a:pt x="0" y="71"/>
                        <a:pt x="5" y="79"/>
                        <a:pt x="12" y="81"/>
                      </a:cubicBezTo>
                      <a:cubicBezTo>
                        <a:pt x="14" y="81"/>
                        <a:pt x="16" y="81"/>
                        <a:pt x="18" y="81"/>
                      </a:cubicBezTo>
                      <a:cubicBezTo>
                        <a:pt x="23" y="80"/>
                        <a:pt x="28" y="76"/>
                        <a:pt x="29" y="70"/>
                      </a:cubicBezTo>
                      <a:cubicBezTo>
                        <a:pt x="38" y="31"/>
                        <a:pt x="38" y="31"/>
                        <a:pt x="38" y="31"/>
                      </a:cubicBezTo>
                      <a:cubicBezTo>
                        <a:pt x="49" y="29"/>
                        <a:pt x="49" y="29"/>
                        <a:pt x="49" y="29"/>
                      </a:cubicBezTo>
                      <a:cubicBezTo>
                        <a:pt x="57" y="28"/>
                        <a:pt x="62" y="20"/>
                        <a:pt x="61" y="13"/>
                      </a:cubicBezTo>
                      <a:cubicBezTo>
                        <a:pt x="59" y="5"/>
                        <a:pt x="52" y="0"/>
                        <a:pt x="44" y="2"/>
                      </a:cubicBezTo>
                      <a:cubicBezTo>
                        <a:pt x="23" y="5"/>
                        <a:pt x="23" y="5"/>
                        <a:pt x="23" y="5"/>
                      </a:cubicBezTo>
                      <a:cubicBezTo>
                        <a:pt x="18" y="6"/>
                        <a:pt x="13" y="10"/>
                        <a:pt x="12" y="1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1" name="Freeform 60"/>
                <p:cNvSpPr>
                  <a:spLocks/>
                </p:cNvSpPr>
                <p:nvPr/>
              </p:nvSpPr>
              <p:spPr bwMode="auto">
                <a:xfrm>
                  <a:off x="2204" y="1914"/>
                  <a:ext cx="75" cy="45"/>
                </a:xfrm>
                <a:custGeom>
                  <a:avLst/>
                  <a:gdLst>
                    <a:gd name="T0" fmla="*/ 145 w 160"/>
                    <a:gd name="T1" fmla="*/ 31 h 96"/>
                    <a:gd name="T2" fmla="*/ 64 w 160"/>
                    <a:gd name="T3" fmla="*/ 6 h 96"/>
                    <a:gd name="T4" fmla="*/ 51 w 160"/>
                    <a:gd name="T5" fmla="*/ 8 h 96"/>
                    <a:gd name="T6" fmla="*/ 38 w 160"/>
                    <a:gd name="T7" fmla="*/ 17 h 96"/>
                    <a:gd name="T8" fmla="*/ 25 w 160"/>
                    <a:gd name="T9" fmla="*/ 5 h 96"/>
                    <a:gd name="T10" fmla="*/ 10 w 160"/>
                    <a:gd name="T11" fmla="*/ 3 h 96"/>
                    <a:gd name="T12" fmla="*/ 2 w 160"/>
                    <a:gd name="T13" fmla="*/ 15 h 96"/>
                    <a:gd name="T14" fmla="*/ 1 w 160"/>
                    <a:gd name="T15" fmla="*/ 44 h 96"/>
                    <a:gd name="T16" fmla="*/ 12 w 160"/>
                    <a:gd name="T17" fmla="*/ 58 h 96"/>
                    <a:gd name="T18" fmla="*/ 54 w 160"/>
                    <a:gd name="T19" fmla="*/ 67 h 96"/>
                    <a:gd name="T20" fmla="*/ 53 w 160"/>
                    <a:gd name="T21" fmla="*/ 71 h 96"/>
                    <a:gd name="T22" fmla="*/ 64 w 160"/>
                    <a:gd name="T23" fmla="*/ 85 h 96"/>
                    <a:gd name="T24" fmla="*/ 102 w 160"/>
                    <a:gd name="T25" fmla="*/ 96 h 96"/>
                    <a:gd name="T26" fmla="*/ 160 w 160"/>
                    <a:gd name="T27" fmla="*/ 43 h 96"/>
                    <a:gd name="T28" fmla="*/ 151 w 160"/>
                    <a:gd name="T29" fmla="*/ 34 h 96"/>
                    <a:gd name="T30" fmla="*/ 145 w 160"/>
                    <a:gd name="T31" fmla="*/ 3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0" h="96">
                      <a:moveTo>
                        <a:pt x="145" y="31"/>
                      </a:moveTo>
                      <a:cubicBezTo>
                        <a:pt x="64" y="6"/>
                        <a:pt x="64" y="6"/>
                        <a:pt x="64" y="6"/>
                      </a:cubicBezTo>
                      <a:cubicBezTo>
                        <a:pt x="60" y="5"/>
                        <a:pt x="55" y="6"/>
                        <a:pt x="51" y="8"/>
                      </a:cubicBezTo>
                      <a:cubicBezTo>
                        <a:pt x="38" y="17"/>
                        <a:pt x="38" y="17"/>
                        <a:pt x="38" y="17"/>
                      </a:cubicBezTo>
                      <a:cubicBezTo>
                        <a:pt x="25" y="5"/>
                        <a:pt x="25" y="5"/>
                        <a:pt x="25" y="5"/>
                      </a:cubicBezTo>
                      <a:cubicBezTo>
                        <a:pt x="21" y="1"/>
                        <a:pt x="15" y="0"/>
                        <a:pt x="10" y="3"/>
                      </a:cubicBezTo>
                      <a:cubicBezTo>
                        <a:pt x="5" y="5"/>
                        <a:pt x="2" y="10"/>
                        <a:pt x="2" y="15"/>
                      </a:cubicBezTo>
                      <a:cubicBezTo>
                        <a:pt x="1" y="44"/>
                        <a:pt x="1" y="44"/>
                        <a:pt x="1" y="44"/>
                      </a:cubicBezTo>
                      <a:cubicBezTo>
                        <a:pt x="0" y="50"/>
                        <a:pt x="5" y="56"/>
                        <a:pt x="12" y="58"/>
                      </a:cubicBezTo>
                      <a:cubicBezTo>
                        <a:pt x="54" y="67"/>
                        <a:pt x="54" y="67"/>
                        <a:pt x="54" y="67"/>
                      </a:cubicBezTo>
                      <a:cubicBezTo>
                        <a:pt x="53" y="71"/>
                        <a:pt x="53" y="71"/>
                        <a:pt x="53" y="71"/>
                      </a:cubicBezTo>
                      <a:cubicBezTo>
                        <a:pt x="53" y="78"/>
                        <a:pt x="57" y="83"/>
                        <a:pt x="64" y="85"/>
                      </a:cubicBezTo>
                      <a:cubicBezTo>
                        <a:pt x="102" y="96"/>
                        <a:pt x="102" y="96"/>
                        <a:pt x="102" y="96"/>
                      </a:cubicBezTo>
                      <a:cubicBezTo>
                        <a:pt x="123" y="81"/>
                        <a:pt x="143" y="63"/>
                        <a:pt x="160" y="43"/>
                      </a:cubicBezTo>
                      <a:cubicBezTo>
                        <a:pt x="151" y="34"/>
                        <a:pt x="151" y="34"/>
                        <a:pt x="151" y="34"/>
                      </a:cubicBezTo>
                      <a:cubicBezTo>
                        <a:pt x="149" y="33"/>
                        <a:pt x="147" y="32"/>
                        <a:pt x="145"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2" name="Freeform 61"/>
                <p:cNvSpPr>
                  <a:spLocks/>
                </p:cNvSpPr>
                <p:nvPr/>
              </p:nvSpPr>
              <p:spPr bwMode="auto">
                <a:xfrm>
                  <a:off x="2279" y="1910"/>
                  <a:ext cx="16" cy="16"/>
                </a:xfrm>
                <a:custGeom>
                  <a:avLst/>
                  <a:gdLst>
                    <a:gd name="T0" fmla="*/ 4 w 34"/>
                    <a:gd name="T1" fmla="*/ 9 h 36"/>
                    <a:gd name="T2" fmla="*/ 9 w 34"/>
                    <a:gd name="T3" fmla="*/ 28 h 36"/>
                    <a:gd name="T4" fmla="*/ 16 w 34"/>
                    <a:gd name="T5" fmla="*/ 32 h 36"/>
                    <a:gd name="T6" fmla="*/ 15 w 34"/>
                    <a:gd name="T7" fmla="*/ 36 h 36"/>
                    <a:gd name="T8" fmla="*/ 29 w 34"/>
                    <a:gd name="T9" fmla="*/ 18 h 36"/>
                    <a:gd name="T10" fmla="*/ 34 w 34"/>
                    <a:gd name="T11" fmla="*/ 10 h 36"/>
                    <a:gd name="T12" fmla="*/ 23 w 34"/>
                    <a:gd name="T13" fmla="*/ 4 h 36"/>
                    <a:gd name="T14" fmla="*/ 4 w 34"/>
                    <a:gd name="T15" fmla="*/ 9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36">
                      <a:moveTo>
                        <a:pt x="4" y="9"/>
                      </a:moveTo>
                      <a:cubicBezTo>
                        <a:pt x="0" y="15"/>
                        <a:pt x="2" y="24"/>
                        <a:pt x="9" y="28"/>
                      </a:cubicBezTo>
                      <a:cubicBezTo>
                        <a:pt x="16" y="32"/>
                        <a:pt x="16" y="32"/>
                        <a:pt x="16" y="32"/>
                      </a:cubicBezTo>
                      <a:cubicBezTo>
                        <a:pt x="15" y="36"/>
                        <a:pt x="15" y="36"/>
                        <a:pt x="15" y="36"/>
                      </a:cubicBezTo>
                      <a:cubicBezTo>
                        <a:pt x="19" y="30"/>
                        <a:pt x="24" y="24"/>
                        <a:pt x="29" y="18"/>
                      </a:cubicBezTo>
                      <a:cubicBezTo>
                        <a:pt x="30" y="15"/>
                        <a:pt x="32" y="13"/>
                        <a:pt x="34" y="10"/>
                      </a:cubicBezTo>
                      <a:cubicBezTo>
                        <a:pt x="23" y="4"/>
                        <a:pt x="23" y="4"/>
                        <a:pt x="23" y="4"/>
                      </a:cubicBezTo>
                      <a:cubicBezTo>
                        <a:pt x="17" y="0"/>
                        <a:pt x="8" y="2"/>
                        <a:pt x="4"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3" name="Freeform 62"/>
                <p:cNvSpPr>
                  <a:spLocks/>
                </p:cNvSpPr>
                <p:nvPr/>
              </p:nvSpPr>
              <p:spPr bwMode="auto">
                <a:xfrm>
                  <a:off x="2299" y="1855"/>
                  <a:ext cx="18" cy="15"/>
                </a:xfrm>
                <a:custGeom>
                  <a:avLst/>
                  <a:gdLst>
                    <a:gd name="T0" fmla="*/ 17 w 37"/>
                    <a:gd name="T1" fmla="*/ 30 h 31"/>
                    <a:gd name="T2" fmla="*/ 24 w 37"/>
                    <a:gd name="T3" fmla="*/ 29 h 31"/>
                    <a:gd name="T4" fmla="*/ 36 w 37"/>
                    <a:gd name="T5" fmla="*/ 12 h 31"/>
                    <a:gd name="T6" fmla="*/ 19 w 37"/>
                    <a:gd name="T7" fmla="*/ 1 h 31"/>
                    <a:gd name="T8" fmla="*/ 12 w 37"/>
                    <a:gd name="T9" fmla="*/ 2 h 31"/>
                    <a:gd name="T10" fmla="*/ 1 w 37"/>
                    <a:gd name="T11" fmla="*/ 18 h 31"/>
                    <a:gd name="T12" fmla="*/ 17 w 37"/>
                    <a:gd name="T13" fmla="*/ 30 h 31"/>
                  </a:gdLst>
                  <a:ahLst/>
                  <a:cxnLst>
                    <a:cxn ang="0">
                      <a:pos x="T0" y="T1"/>
                    </a:cxn>
                    <a:cxn ang="0">
                      <a:pos x="T2" y="T3"/>
                    </a:cxn>
                    <a:cxn ang="0">
                      <a:pos x="T4" y="T5"/>
                    </a:cxn>
                    <a:cxn ang="0">
                      <a:pos x="T6" y="T7"/>
                    </a:cxn>
                    <a:cxn ang="0">
                      <a:pos x="T8" y="T9"/>
                    </a:cxn>
                    <a:cxn ang="0">
                      <a:pos x="T10" y="T11"/>
                    </a:cxn>
                    <a:cxn ang="0">
                      <a:pos x="T12" y="T13"/>
                    </a:cxn>
                  </a:cxnLst>
                  <a:rect l="0" t="0" r="r" b="b"/>
                  <a:pathLst>
                    <a:path w="37" h="31">
                      <a:moveTo>
                        <a:pt x="17" y="30"/>
                      </a:moveTo>
                      <a:cubicBezTo>
                        <a:pt x="24" y="29"/>
                        <a:pt x="24" y="29"/>
                        <a:pt x="24" y="29"/>
                      </a:cubicBezTo>
                      <a:cubicBezTo>
                        <a:pt x="32" y="27"/>
                        <a:pt x="37" y="20"/>
                        <a:pt x="36" y="12"/>
                      </a:cubicBezTo>
                      <a:cubicBezTo>
                        <a:pt x="34" y="5"/>
                        <a:pt x="27" y="0"/>
                        <a:pt x="19" y="1"/>
                      </a:cubicBezTo>
                      <a:cubicBezTo>
                        <a:pt x="12" y="2"/>
                        <a:pt x="12" y="2"/>
                        <a:pt x="12" y="2"/>
                      </a:cubicBezTo>
                      <a:cubicBezTo>
                        <a:pt x="5" y="4"/>
                        <a:pt x="0" y="11"/>
                        <a:pt x="1" y="18"/>
                      </a:cubicBezTo>
                      <a:cubicBezTo>
                        <a:pt x="2" y="26"/>
                        <a:pt x="10" y="31"/>
                        <a:pt x="17" y="3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4" name="Freeform 63"/>
                <p:cNvSpPr>
                  <a:spLocks/>
                </p:cNvSpPr>
                <p:nvPr/>
              </p:nvSpPr>
              <p:spPr bwMode="auto">
                <a:xfrm>
                  <a:off x="2166" y="1957"/>
                  <a:ext cx="27" cy="23"/>
                </a:xfrm>
                <a:custGeom>
                  <a:avLst/>
                  <a:gdLst>
                    <a:gd name="T0" fmla="*/ 42 w 58"/>
                    <a:gd name="T1" fmla="*/ 1 h 49"/>
                    <a:gd name="T2" fmla="*/ 23 w 58"/>
                    <a:gd name="T3" fmla="*/ 3 h 49"/>
                    <a:gd name="T4" fmla="*/ 12 w 58"/>
                    <a:gd name="T5" fmla="*/ 11 h 49"/>
                    <a:gd name="T6" fmla="*/ 4 w 58"/>
                    <a:gd name="T7" fmla="*/ 28 h 49"/>
                    <a:gd name="T8" fmla="*/ 10 w 58"/>
                    <a:gd name="T9" fmla="*/ 47 h 49"/>
                    <a:gd name="T10" fmla="*/ 19 w 58"/>
                    <a:gd name="T11" fmla="*/ 48 h 49"/>
                    <a:gd name="T12" fmla="*/ 29 w 58"/>
                    <a:gd name="T13" fmla="*/ 40 h 49"/>
                    <a:gd name="T14" fmla="*/ 34 w 58"/>
                    <a:gd name="T15" fmla="*/ 30 h 49"/>
                    <a:gd name="T16" fmla="*/ 45 w 58"/>
                    <a:gd name="T17" fmla="*/ 29 h 49"/>
                    <a:gd name="T18" fmla="*/ 57 w 58"/>
                    <a:gd name="T19" fmla="*/ 13 h 49"/>
                    <a:gd name="T20" fmla="*/ 42 w 58"/>
                    <a:gd name="T21"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49">
                      <a:moveTo>
                        <a:pt x="42" y="1"/>
                      </a:moveTo>
                      <a:cubicBezTo>
                        <a:pt x="23" y="3"/>
                        <a:pt x="23" y="3"/>
                        <a:pt x="23" y="3"/>
                      </a:cubicBezTo>
                      <a:cubicBezTo>
                        <a:pt x="18" y="3"/>
                        <a:pt x="14" y="6"/>
                        <a:pt x="12" y="11"/>
                      </a:cubicBezTo>
                      <a:cubicBezTo>
                        <a:pt x="4" y="28"/>
                        <a:pt x="4" y="28"/>
                        <a:pt x="4" y="28"/>
                      </a:cubicBezTo>
                      <a:cubicBezTo>
                        <a:pt x="0" y="35"/>
                        <a:pt x="3" y="44"/>
                        <a:pt x="10" y="47"/>
                      </a:cubicBezTo>
                      <a:cubicBezTo>
                        <a:pt x="13" y="48"/>
                        <a:pt x="16" y="49"/>
                        <a:pt x="19" y="48"/>
                      </a:cubicBezTo>
                      <a:cubicBezTo>
                        <a:pt x="23" y="47"/>
                        <a:pt x="27" y="45"/>
                        <a:pt x="29" y="40"/>
                      </a:cubicBezTo>
                      <a:cubicBezTo>
                        <a:pt x="34" y="30"/>
                        <a:pt x="34" y="30"/>
                        <a:pt x="34" y="30"/>
                      </a:cubicBezTo>
                      <a:cubicBezTo>
                        <a:pt x="45" y="29"/>
                        <a:pt x="45" y="29"/>
                        <a:pt x="45" y="29"/>
                      </a:cubicBezTo>
                      <a:cubicBezTo>
                        <a:pt x="52" y="28"/>
                        <a:pt x="58" y="21"/>
                        <a:pt x="57" y="13"/>
                      </a:cubicBezTo>
                      <a:cubicBezTo>
                        <a:pt x="56" y="6"/>
                        <a:pt x="49" y="0"/>
                        <a:pt x="4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5" name="Freeform 64"/>
                <p:cNvSpPr>
                  <a:spLocks/>
                </p:cNvSpPr>
                <p:nvPr/>
              </p:nvSpPr>
              <p:spPr bwMode="auto">
                <a:xfrm>
                  <a:off x="2038" y="1921"/>
                  <a:ext cx="45" cy="54"/>
                </a:xfrm>
                <a:custGeom>
                  <a:avLst/>
                  <a:gdLst>
                    <a:gd name="T0" fmla="*/ 97 w 97"/>
                    <a:gd name="T1" fmla="*/ 66 h 116"/>
                    <a:gd name="T2" fmla="*/ 91 w 97"/>
                    <a:gd name="T3" fmla="*/ 54 h 116"/>
                    <a:gd name="T4" fmla="*/ 23 w 97"/>
                    <a:gd name="T5" fmla="*/ 5 h 116"/>
                    <a:gd name="T6" fmla="*/ 4 w 97"/>
                    <a:gd name="T7" fmla="*/ 7 h 116"/>
                    <a:gd name="T8" fmla="*/ 5 w 97"/>
                    <a:gd name="T9" fmla="*/ 25 h 116"/>
                    <a:gd name="T10" fmla="*/ 30 w 97"/>
                    <a:gd name="T11" fmla="*/ 52 h 116"/>
                    <a:gd name="T12" fmla="*/ 50 w 97"/>
                    <a:gd name="T13" fmla="*/ 93 h 116"/>
                    <a:gd name="T14" fmla="*/ 54 w 97"/>
                    <a:gd name="T15" fmla="*/ 99 h 116"/>
                    <a:gd name="T16" fmla="*/ 74 w 97"/>
                    <a:gd name="T17" fmla="*/ 113 h 116"/>
                    <a:gd name="T18" fmla="*/ 85 w 97"/>
                    <a:gd name="T19" fmla="*/ 115 h 116"/>
                    <a:gd name="T20" fmla="*/ 88 w 97"/>
                    <a:gd name="T21" fmla="*/ 114 h 116"/>
                    <a:gd name="T22" fmla="*/ 96 w 97"/>
                    <a:gd name="T23" fmla="*/ 102 h 116"/>
                    <a:gd name="T24" fmla="*/ 97 w 97"/>
                    <a:gd name="T25" fmla="*/ 6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16">
                      <a:moveTo>
                        <a:pt x="97" y="66"/>
                      </a:moveTo>
                      <a:cubicBezTo>
                        <a:pt x="97" y="61"/>
                        <a:pt x="95" y="57"/>
                        <a:pt x="91" y="54"/>
                      </a:cubicBezTo>
                      <a:cubicBezTo>
                        <a:pt x="23" y="5"/>
                        <a:pt x="23" y="5"/>
                        <a:pt x="23" y="5"/>
                      </a:cubicBezTo>
                      <a:cubicBezTo>
                        <a:pt x="17" y="0"/>
                        <a:pt x="9" y="1"/>
                        <a:pt x="4" y="7"/>
                      </a:cubicBezTo>
                      <a:cubicBezTo>
                        <a:pt x="0" y="12"/>
                        <a:pt x="0" y="20"/>
                        <a:pt x="5" y="25"/>
                      </a:cubicBezTo>
                      <a:cubicBezTo>
                        <a:pt x="15" y="36"/>
                        <a:pt x="27" y="49"/>
                        <a:pt x="30" y="52"/>
                      </a:cubicBezTo>
                      <a:cubicBezTo>
                        <a:pt x="32" y="58"/>
                        <a:pt x="43" y="80"/>
                        <a:pt x="50" y="93"/>
                      </a:cubicBezTo>
                      <a:cubicBezTo>
                        <a:pt x="51" y="95"/>
                        <a:pt x="53" y="97"/>
                        <a:pt x="54" y="99"/>
                      </a:cubicBezTo>
                      <a:cubicBezTo>
                        <a:pt x="74" y="113"/>
                        <a:pt x="74" y="113"/>
                        <a:pt x="74" y="113"/>
                      </a:cubicBezTo>
                      <a:cubicBezTo>
                        <a:pt x="77" y="115"/>
                        <a:pt x="81" y="116"/>
                        <a:pt x="85" y="115"/>
                      </a:cubicBezTo>
                      <a:cubicBezTo>
                        <a:pt x="86" y="115"/>
                        <a:pt x="87" y="114"/>
                        <a:pt x="88" y="114"/>
                      </a:cubicBezTo>
                      <a:cubicBezTo>
                        <a:pt x="93" y="112"/>
                        <a:pt x="96" y="107"/>
                        <a:pt x="96" y="102"/>
                      </a:cubicBezTo>
                      <a:lnTo>
                        <a:pt x="97" y="6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6" name="Freeform 65"/>
                <p:cNvSpPr>
                  <a:spLocks/>
                </p:cNvSpPr>
                <p:nvPr/>
              </p:nvSpPr>
              <p:spPr bwMode="auto">
                <a:xfrm>
                  <a:off x="2178" y="1985"/>
                  <a:ext cx="15" cy="6"/>
                </a:xfrm>
                <a:custGeom>
                  <a:avLst/>
                  <a:gdLst>
                    <a:gd name="T0" fmla="*/ 22 w 31"/>
                    <a:gd name="T1" fmla="*/ 2 h 13"/>
                    <a:gd name="T2" fmla="*/ 7 w 31"/>
                    <a:gd name="T3" fmla="*/ 6 h 13"/>
                    <a:gd name="T4" fmla="*/ 0 w 31"/>
                    <a:gd name="T5" fmla="*/ 13 h 13"/>
                    <a:gd name="T6" fmla="*/ 31 w 31"/>
                    <a:gd name="T7" fmla="*/ 6 h 13"/>
                    <a:gd name="T8" fmla="*/ 22 w 31"/>
                    <a:gd name="T9" fmla="*/ 2 h 13"/>
                  </a:gdLst>
                  <a:ahLst/>
                  <a:cxnLst>
                    <a:cxn ang="0">
                      <a:pos x="T0" y="T1"/>
                    </a:cxn>
                    <a:cxn ang="0">
                      <a:pos x="T2" y="T3"/>
                    </a:cxn>
                    <a:cxn ang="0">
                      <a:pos x="T4" y="T5"/>
                    </a:cxn>
                    <a:cxn ang="0">
                      <a:pos x="T6" y="T7"/>
                    </a:cxn>
                    <a:cxn ang="0">
                      <a:pos x="T8" y="T9"/>
                    </a:cxn>
                  </a:cxnLst>
                  <a:rect l="0" t="0" r="r" b="b"/>
                  <a:pathLst>
                    <a:path w="31" h="13">
                      <a:moveTo>
                        <a:pt x="22" y="2"/>
                      </a:moveTo>
                      <a:cubicBezTo>
                        <a:pt x="16" y="0"/>
                        <a:pt x="10" y="2"/>
                        <a:pt x="7" y="6"/>
                      </a:cubicBezTo>
                      <a:cubicBezTo>
                        <a:pt x="0" y="13"/>
                        <a:pt x="0" y="13"/>
                        <a:pt x="0" y="13"/>
                      </a:cubicBezTo>
                      <a:cubicBezTo>
                        <a:pt x="11" y="11"/>
                        <a:pt x="21" y="9"/>
                        <a:pt x="31" y="6"/>
                      </a:cubicBezTo>
                      <a:lnTo>
                        <a:pt x="22"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sp>
              <p:nvSpPr>
                <p:cNvPr id="67" name="Freeform 66"/>
                <p:cNvSpPr>
                  <a:spLocks/>
                </p:cNvSpPr>
                <p:nvPr/>
              </p:nvSpPr>
              <p:spPr bwMode="auto">
                <a:xfrm>
                  <a:off x="2195" y="1971"/>
                  <a:ext cx="37" cy="17"/>
                </a:xfrm>
                <a:custGeom>
                  <a:avLst/>
                  <a:gdLst>
                    <a:gd name="T0" fmla="*/ 68 w 78"/>
                    <a:gd name="T1" fmla="*/ 0 h 35"/>
                    <a:gd name="T2" fmla="*/ 16 w 78"/>
                    <a:gd name="T3" fmla="*/ 5 h 35"/>
                    <a:gd name="T4" fmla="*/ 4 w 78"/>
                    <a:gd name="T5" fmla="*/ 16 h 35"/>
                    <a:gd name="T6" fmla="*/ 0 w 78"/>
                    <a:gd name="T7" fmla="*/ 35 h 35"/>
                    <a:gd name="T8" fmla="*/ 78 w 78"/>
                    <a:gd name="T9" fmla="*/ 3 h 35"/>
                    <a:gd name="T10" fmla="*/ 68 w 78"/>
                    <a:gd name="T11" fmla="*/ 0 h 35"/>
                  </a:gdLst>
                  <a:ahLst/>
                  <a:cxnLst>
                    <a:cxn ang="0">
                      <a:pos x="T0" y="T1"/>
                    </a:cxn>
                    <a:cxn ang="0">
                      <a:pos x="T2" y="T3"/>
                    </a:cxn>
                    <a:cxn ang="0">
                      <a:pos x="T4" y="T5"/>
                    </a:cxn>
                    <a:cxn ang="0">
                      <a:pos x="T6" y="T7"/>
                    </a:cxn>
                    <a:cxn ang="0">
                      <a:pos x="T8" y="T9"/>
                    </a:cxn>
                    <a:cxn ang="0">
                      <a:pos x="T10" y="T11"/>
                    </a:cxn>
                  </a:cxnLst>
                  <a:rect l="0" t="0" r="r" b="b"/>
                  <a:pathLst>
                    <a:path w="78" h="35">
                      <a:moveTo>
                        <a:pt x="68" y="0"/>
                      </a:moveTo>
                      <a:cubicBezTo>
                        <a:pt x="16" y="5"/>
                        <a:pt x="16" y="5"/>
                        <a:pt x="16" y="5"/>
                      </a:cubicBezTo>
                      <a:cubicBezTo>
                        <a:pt x="10" y="5"/>
                        <a:pt x="5" y="10"/>
                        <a:pt x="4" y="16"/>
                      </a:cubicBezTo>
                      <a:cubicBezTo>
                        <a:pt x="0" y="35"/>
                        <a:pt x="0" y="35"/>
                        <a:pt x="0" y="35"/>
                      </a:cubicBezTo>
                      <a:cubicBezTo>
                        <a:pt x="27" y="27"/>
                        <a:pt x="53" y="16"/>
                        <a:pt x="78" y="3"/>
                      </a:cubicBezTo>
                      <a:cubicBezTo>
                        <a:pt x="75" y="1"/>
                        <a:pt x="72" y="0"/>
                        <a:pt x="6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p>
              </p:txBody>
            </p:sp>
          </p:grpSp>
          <p:grpSp>
            <p:nvGrpSpPr>
              <p:cNvPr id="20" name="Group 19"/>
              <p:cNvGrpSpPr/>
              <p:nvPr/>
            </p:nvGrpSpPr>
            <p:grpSpPr>
              <a:xfrm>
                <a:off x="3699183" y="4884208"/>
                <a:ext cx="387560" cy="755300"/>
                <a:chOff x="-1195515" y="1269120"/>
                <a:chExt cx="1688322" cy="3290299"/>
              </a:xfrm>
            </p:grpSpPr>
            <p:grpSp>
              <p:nvGrpSpPr>
                <p:cNvPr id="23" name="Group 22"/>
                <p:cNvGrpSpPr>
                  <a:grpSpLocks noChangeAspect="1"/>
                </p:cNvGrpSpPr>
                <p:nvPr/>
              </p:nvGrpSpPr>
              <p:grpSpPr>
                <a:xfrm>
                  <a:off x="-1195515" y="2823489"/>
                  <a:ext cx="1684865" cy="1735930"/>
                  <a:chOff x="808037" y="2079361"/>
                  <a:chExt cx="1684865" cy="1735930"/>
                </a:xfrm>
              </p:grpSpPr>
              <p:sp>
                <p:nvSpPr>
                  <p:cNvPr id="29" name="Flowchart: Magnetic Disk 28"/>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0" name="Oval 29"/>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1" name="Flowchart: Magnetic Disk 30"/>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2" name="Oval 31"/>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24" name="Group 23"/>
                <p:cNvGrpSpPr>
                  <a:grpSpLocks noChangeAspect="1"/>
                </p:cNvGrpSpPr>
                <p:nvPr/>
              </p:nvGrpSpPr>
              <p:grpSpPr>
                <a:xfrm>
                  <a:off x="-1192058" y="1269120"/>
                  <a:ext cx="1684865" cy="1735930"/>
                  <a:chOff x="808037" y="2079361"/>
                  <a:chExt cx="1684865" cy="1735930"/>
                </a:xfrm>
              </p:grpSpPr>
              <p:sp>
                <p:nvSpPr>
                  <p:cNvPr id="25" name="Flowchart: Magnetic Disk 24"/>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6" name="Oval 25"/>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7" name="Flowchart: Magnetic Disk 26"/>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8" name="Oval 27"/>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42744">
                <a:off x="3198393" y="4950258"/>
                <a:ext cx="637475" cy="891257"/>
              </a:xfrm>
              <a:prstGeom prst="rect">
                <a:avLst/>
              </a:prstGeom>
            </p:spPr>
          </p:pic>
          <p:sp>
            <p:nvSpPr>
              <p:cNvPr id="22" name="&quot;AD DS&quot;"/>
              <p:cNvSpPr txBox="1"/>
              <p:nvPr/>
            </p:nvSpPr>
            <p:spPr>
              <a:xfrm>
                <a:off x="4114798" y="5162255"/>
                <a:ext cx="839356" cy="276999"/>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b="1" dirty="0"/>
                  <a:t>AD DS</a:t>
                </a:r>
                <a:r>
                  <a:rPr lang="fr-FR" dirty="0"/>
                  <a:t> </a:t>
                </a:r>
              </a:p>
            </p:txBody>
          </p:sp>
        </p:grpSp>
      </p:grpSp>
    </p:spTree>
    <p:extLst>
      <p:ext uri="{BB962C8B-B14F-4D97-AF65-F5344CB8AC3E}">
        <p14:creationId xmlns:p14="http://schemas.microsoft.com/office/powerpoint/2010/main" val="3238960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8f648336-29cd-4779-8edd-ff51c5d1ad7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80000"/>
              </a:lnSpc>
            </a:pPr>
            <a:r>
              <a:rPr lang="fr-FR" sz="2600" dirty="0"/>
              <a:t>Vue d’ensemble du contrôleur de domaine des enregistrements SRV</a:t>
            </a:r>
          </a:p>
        </p:txBody>
      </p:sp>
      <p:sp>
        <p:nvSpPr>
          <p:cNvPr id="4" name="text box on the left"/>
          <p:cNvSpPr/>
          <p:nvPr/>
        </p:nvSpPr>
        <p:spPr>
          <a:xfrm>
            <a:off x="290190" y="1144158"/>
            <a:ext cx="8233878" cy="5924699"/>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342900" lvl="0" indent="-342900">
              <a:spcBef>
                <a:spcPts val="400"/>
              </a:spcBef>
              <a:buClr>
                <a:srgbClr val="006699"/>
              </a:buClr>
              <a:buFont typeface="Arial" panose="020B0604020202020204" pitchFamily="34" charset="0"/>
              <a:buChar char="•"/>
            </a:pPr>
            <a:r>
              <a:rPr lang="fr-FR" sz="2400" b="0" dirty="0">
                <a:solidFill>
                  <a:srgbClr val="000000"/>
                </a:solidFill>
                <a:latin typeface="Segoe UI" pitchFamily="34" charset="0"/>
              </a:rPr>
              <a:t>Les clients trouvent les contrôleurs de domaine par le biais de la recherche DNS</a:t>
            </a:r>
          </a:p>
          <a:p>
            <a:pPr marL="342900" lvl="0" indent="-342900">
              <a:spcBef>
                <a:spcPts val="400"/>
              </a:spcBef>
              <a:buClr>
                <a:srgbClr val="006699"/>
              </a:buClr>
              <a:buFont typeface="Arial" panose="020B0604020202020204" pitchFamily="34" charset="0"/>
              <a:buChar char="•"/>
            </a:pPr>
            <a:r>
              <a:rPr lang="fr-FR" sz="2400" b="0" dirty="0">
                <a:solidFill>
                  <a:srgbClr val="000000"/>
                </a:solidFill>
                <a:latin typeface="Segoe UI" pitchFamily="34" charset="0"/>
              </a:rPr>
              <a:t>Les contrôleurs de domaine enregistrent dynamiquement leurs adresses avec DNS</a:t>
            </a:r>
          </a:p>
          <a:p>
            <a:pPr marL="342900" lvl="0" indent="-342900">
              <a:spcBef>
                <a:spcPts val="400"/>
              </a:spcBef>
              <a:buClr>
                <a:srgbClr val="006699"/>
              </a:buClr>
              <a:buFont typeface="Arial" panose="020B0604020202020204" pitchFamily="34" charset="0"/>
              <a:buChar char="•"/>
            </a:pPr>
            <a:r>
              <a:rPr lang="fr-FR" sz="2400" b="0" dirty="0">
                <a:solidFill>
                  <a:srgbClr val="000000"/>
                </a:solidFill>
                <a:latin typeface="Segoe UI" pitchFamily="34" charset="0"/>
              </a:rPr>
              <a:t>Les résultats des requêtes DNS pour les contrôleurs de domaine sont retournés dans cet ordre : </a:t>
            </a:r>
          </a:p>
          <a:p>
            <a:pPr marL="914400" lvl="1" indent="-457200">
              <a:spcBef>
                <a:spcPts val="400"/>
              </a:spcBef>
              <a:buClr>
                <a:srgbClr val="006699"/>
              </a:buClr>
              <a:buFont typeface="+mj-lt"/>
              <a:buAutoNum type="arabicPeriod"/>
            </a:pPr>
            <a:r>
              <a:rPr lang="fr-FR" sz="2400" b="0" dirty="0">
                <a:solidFill>
                  <a:srgbClr val="000000"/>
                </a:solidFill>
                <a:latin typeface="Segoe UI" pitchFamily="34" charset="0"/>
              </a:rPr>
              <a:t>Une liste des contrôleurs de domaine du même site que le client.</a:t>
            </a:r>
          </a:p>
          <a:p>
            <a:pPr marL="914400" lvl="1" indent="-457200">
              <a:spcBef>
                <a:spcPts val="400"/>
              </a:spcBef>
              <a:buClr>
                <a:srgbClr val="006699"/>
              </a:buClr>
              <a:buFont typeface="+mj-lt"/>
              <a:buAutoNum type="arabicPeriod"/>
            </a:pPr>
            <a:r>
              <a:rPr lang="fr-FR" sz="2400" b="0" dirty="0">
                <a:solidFill>
                  <a:srgbClr val="000000"/>
                </a:solidFill>
                <a:latin typeface="Segoe UI" pitchFamily="34" charset="0"/>
              </a:rPr>
              <a:t>Une liste des contrôleurs de domaine dans le prochain site le plus proche, si aucun n’est disponible sur le même site.</a:t>
            </a:r>
          </a:p>
          <a:p>
            <a:pPr marL="914400" lvl="1" indent="-457200">
              <a:spcBef>
                <a:spcPts val="400"/>
              </a:spcBef>
              <a:buClr>
                <a:srgbClr val="006699"/>
              </a:buClr>
              <a:buFont typeface="+mj-lt"/>
              <a:buAutoNum type="arabicPeriod"/>
            </a:pPr>
            <a:r>
              <a:rPr lang="fr-FR" sz="2400" b="0" dirty="0">
                <a:solidFill>
                  <a:srgbClr val="000000"/>
                </a:solidFill>
                <a:latin typeface="Segoe UI" pitchFamily="34" charset="0"/>
              </a:rPr>
              <a:t>Une liste aléatoire de contrôleurs de domaine sur d’autres sites, si aucun contrôleur de domaine n’est disponible sur le site le plus proche.</a:t>
            </a:r>
          </a:p>
          <a:p>
            <a:pPr lvl="0">
              <a:spcBef>
                <a:spcPts val="400"/>
              </a:spcBef>
              <a:buClr>
                <a:srgbClr val="006699"/>
              </a:buClr>
            </a:pPr>
            <a:endParaRPr lang="fr-FR" sz="23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443525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ab56711e-fe5c-4e54-b36a-dc5a14bd2d1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Démonstration : Affichage des enregistrements SRV dans DNS</a:t>
            </a:r>
          </a:p>
        </p:txBody>
      </p:sp>
      <p:sp>
        <p:nvSpPr>
          <p:cNvPr id="4" name="Content Placeholder 1"/>
          <p:cNvSpPr>
            <a:spLocks noGrp="1"/>
          </p:cNvSpPr>
          <p:nvPr/>
        </p:nvSpPr>
        <p:spPr bwMode="auto">
          <a:xfrm>
            <a:off x="360000" y="1049350"/>
            <a:ext cx="826501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fr-FR"/>
              <a:t>Dans cette démonstration, vous allez apprendre comment utiliser le Gestionnaire DNS pour afficher les enregistrements SRV</a:t>
            </a:r>
          </a:p>
        </p:txBody>
      </p:sp>
    </p:spTree>
    <p:extLst>
      <p:ext uri="{BB962C8B-B14F-4D97-AF65-F5344CB8AC3E}">
        <p14:creationId xmlns:p14="http://schemas.microsoft.com/office/powerpoint/2010/main" val="1400599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4437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6ab01ea-7327-4ef5-ac39-50d9d856545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Processus de connexion AD DS</a:t>
            </a:r>
          </a:p>
        </p:txBody>
      </p:sp>
      <p:sp>
        <p:nvSpPr>
          <p:cNvPr id="4" name="text box on the left"/>
          <p:cNvSpPr/>
          <p:nvPr/>
        </p:nvSpPr>
        <p:spPr>
          <a:xfrm>
            <a:off x="290190" y="1144158"/>
            <a:ext cx="5182749" cy="5304016"/>
          </a:xfrm>
          <a:prstGeom prst="rect">
            <a:avLst/>
          </a:prstGeom>
        </p:spPr>
        <p:txBody>
          <a:bodyPr wrap="square">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compte de l’utilisateur est authentifié auprès du contrôleur de domaine.</a:t>
            </a:r>
          </a:p>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contrôleur de domaine renvoie un TGT au client.</a:t>
            </a:r>
          </a:p>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client utilise le TGT pour demander l’accès au poste de travail.</a:t>
            </a:r>
          </a:p>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contrôleur de domaine accorde l’accès à la station de travail.</a:t>
            </a:r>
          </a:p>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client utilise le TGT pour demander l’accès au serveur.</a:t>
            </a:r>
          </a:p>
          <a:p>
            <a:pPr marL="342900" lvl="0" indent="-342900">
              <a:spcBef>
                <a:spcPts val="400"/>
              </a:spcBef>
              <a:buClr>
                <a:srgbClr val="006699"/>
              </a:buClr>
              <a:buFont typeface="+mj-lt"/>
              <a:buAutoNum type="arabicPeriod"/>
            </a:pPr>
            <a:r>
              <a:rPr lang="fr-FR" sz="2300" b="0" dirty="0">
                <a:solidFill>
                  <a:srgbClr val="000000"/>
                </a:solidFill>
                <a:latin typeface="Segoe UI" pitchFamily="34" charset="0"/>
              </a:rPr>
              <a:t>Le contrôleur de domaine rétablit l’accès au serveur.</a:t>
            </a:r>
            <a:endParaRPr lang="fr-FR" sz="2300" dirty="0">
              <a:solidFill>
                <a:srgbClr val="000000"/>
              </a:solidFill>
              <a:latin typeface="Segoe UI" pitchFamily="34" charset="0"/>
              <a:ea typeface="Segoe UI" pitchFamily="34" charset="0"/>
              <a:cs typeface="Segoe UI" pitchFamily="34" charset="0"/>
            </a:endParaRPr>
          </a:p>
        </p:txBody>
      </p:sp>
      <p:grpSp>
        <p:nvGrpSpPr>
          <p:cNvPr id="5" name="Group 4" descr="Illustration des étapes de l’authentification entre un poste de travail utilisateur, un contrôleur de domaine et un serveur.&#10;&#10;"/>
          <p:cNvGrpSpPr/>
          <p:nvPr/>
        </p:nvGrpSpPr>
        <p:grpSpPr>
          <a:xfrm>
            <a:off x="5341691" y="1524000"/>
            <a:ext cx="3457720" cy="4177006"/>
            <a:chOff x="5341691" y="2134597"/>
            <a:chExt cx="3457720" cy="4177006"/>
          </a:xfrm>
        </p:grpSpPr>
        <p:sp>
          <p:nvSpPr>
            <p:cNvPr id="6" name="Isosceles Triangle 5"/>
            <p:cNvSpPr/>
            <p:nvPr/>
          </p:nvSpPr>
          <p:spPr>
            <a:xfrm>
              <a:off x="5341691" y="2577487"/>
              <a:ext cx="3457720" cy="3339651"/>
            </a:xfrm>
            <a:prstGeom prst="triangle">
              <a:avLst/>
            </a:prstGeom>
            <a:noFill/>
            <a:ln>
              <a:solidFill>
                <a:srgbClr val="569A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CA" dirty="0"/>
            </a:p>
          </p:txBody>
        </p:sp>
        <p:sp>
          <p:nvSpPr>
            <p:cNvPr id="7" name="TextBox 20"/>
            <p:cNvSpPr txBox="1"/>
            <p:nvPr/>
          </p:nvSpPr>
          <p:spPr>
            <a:xfrm>
              <a:off x="7568076" y="2952199"/>
              <a:ext cx="1227162" cy="553998"/>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fr-FR" b="0" dirty="0">
                  <a:latin typeface="Segoe UI" pitchFamily="34" charset="0"/>
                </a:rPr>
                <a:t>Contrôleur de domaine</a:t>
              </a:r>
            </a:p>
          </p:txBody>
        </p:sp>
        <p:sp>
          <p:nvSpPr>
            <p:cNvPr id="8" name="TextBox 21"/>
            <p:cNvSpPr txBox="1"/>
            <p:nvPr/>
          </p:nvSpPr>
          <p:spPr>
            <a:xfrm>
              <a:off x="7453494" y="6025008"/>
              <a:ext cx="1052637" cy="276999"/>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fr-FR" b="0" dirty="0">
                  <a:latin typeface="Segoe UI" pitchFamily="34" charset="0"/>
                </a:rPr>
                <a:t>Serveur</a:t>
              </a:r>
            </a:p>
          </p:txBody>
        </p:sp>
        <p:sp>
          <p:nvSpPr>
            <p:cNvPr id="9" name="TextBox 22"/>
            <p:cNvSpPr txBox="1"/>
            <p:nvPr/>
          </p:nvSpPr>
          <p:spPr>
            <a:xfrm>
              <a:off x="5406085" y="6034604"/>
              <a:ext cx="1712259" cy="276999"/>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fr-FR" b="0" dirty="0">
                  <a:latin typeface="Segoe UI" pitchFamily="34" charset="0"/>
                </a:rPr>
                <a:t>Station de travail</a:t>
              </a:r>
            </a:p>
          </p:txBody>
        </p:sp>
        <p:grpSp>
          <p:nvGrpSpPr>
            <p:cNvPr id="10" name="Group 9"/>
            <p:cNvGrpSpPr/>
            <p:nvPr/>
          </p:nvGrpSpPr>
          <p:grpSpPr>
            <a:xfrm>
              <a:off x="5544323" y="5149455"/>
              <a:ext cx="1088722" cy="934217"/>
              <a:chOff x="11050842" y="539788"/>
              <a:chExt cx="1088722" cy="934217"/>
            </a:xfrm>
          </p:grpSpPr>
          <p:pic>
            <p:nvPicPr>
              <p:cNvPr id="68" name="Picture 67"/>
              <p:cNvPicPr>
                <a:picLocks noChangeAspect="1"/>
              </p:cNvPicPr>
              <p:nvPr/>
            </p:nvPicPr>
            <p:blipFill>
              <a:blip r:embed="rId3"/>
              <a:stretch>
                <a:fillRect/>
              </a:stretch>
            </p:blipFill>
            <p:spPr>
              <a:xfrm>
                <a:off x="11050842" y="539788"/>
                <a:ext cx="1044188" cy="616743"/>
              </a:xfrm>
              <a:prstGeom prst="rect">
                <a:avLst/>
              </a:prstGeom>
            </p:spPr>
          </p:pic>
          <p:pic>
            <p:nvPicPr>
              <p:cNvPr id="69" name="Picture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28082" y="752973"/>
                <a:ext cx="711482" cy="721032"/>
              </a:xfrm>
              <a:prstGeom prst="rect">
                <a:avLst/>
              </a:prstGeom>
            </p:spPr>
          </p:pic>
        </p:grpSp>
        <p:pic>
          <p:nvPicPr>
            <p:cNvPr id="11" name="Picture 10"/>
            <p:cNvPicPr>
              <a:picLocks noChangeAspect="1"/>
            </p:cNvPicPr>
            <p:nvPr/>
          </p:nvPicPr>
          <p:blipFill>
            <a:blip r:embed="rId5"/>
            <a:stretch>
              <a:fillRect/>
            </a:stretch>
          </p:blipFill>
          <p:spPr>
            <a:xfrm>
              <a:off x="7775911" y="5030390"/>
              <a:ext cx="454151" cy="854871"/>
            </a:xfrm>
            <a:prstGeom prst="rect">
              <a:avLst/>
            </a:prstGeom>
          </p:spPr>
        </p:pic>
        <p:grpSp>
          <p:nvGrpSpPr>
            <p:cNvPr id="12" name="Group 11"/>
            <p:cNvGrpSpPr/>
            <p:nvPr/>
          </p:nvGrpSpPr>
          <p:grpSpPr>
            <a:xfrm>
              <a:off x="6924564" y="2234168"/>
              <a:ext cx="387560" cy="755300"/>
              <a:chOff x="-1195515" y="1269120"/>
              <a:chExt cx="1688322" cy="3290299"/>
            </a:xfrm>
          </p:grpSpPr>
          <p:grpSp>
            <p:nvGrpSpPr>
              <p:cNvPr id="58" name="Group 57"/>
              <p:cNvGrpSpPr>
                <a:grpSpLocks noChangeAspect="1"/>
              </p:cNvGrpSpPr>
              <p:nvPr/>
            </p:nvGrpSpPr>
            <p:grpSpPr>
              <a:xfrm>
                <a:off x="-1195515" y="2823489"/>
                <a:ext cx="1684865" cy="1735930"/>
                <a:chOff x="808037" y="2079361"/>
                <a:chExt cx="1684865" cy="1735930"/>
              </a:xfrm>
            </p:grpSpPr>
            <p:sp>
              <p:nvSpPr>
                <p:cNvPr id="64" name="Flowchart: Magnetic Disk 63"/>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5" name="Oval 64"/>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6" name="Flowchart: Magnetic Disk 65"/>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7" name="Oval 66"/>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nvGrpSpPr>
              <p:cNvPr id="59" name="Group 58"/>
              <p:cNvGrpSpPr>
                <a:grpSpLocks noChangeAspect="1"/>
              </p:cNvGrpSpPr>
              <p:nvPr/>
            </p:nvGrpSpPr>
            <p:grpSpPr>
              <a:xfrm>
                <a:off x="-1192058" y="1269120"/>
                <a:ext cx="1684865" cy="1735930"/>
                <a:chOff x="808037" y="2079361"/>
                <a:chExt cx="1684865" cy="1735930"/>
              </a:xfrm>
            </p:grpSpPr>
            <p:sp>
              <p:nvSpPr>
                <p:cNvPr id="60" name="Flowchart: Magnetic Disk 59"/>
                <p:cNvSpPr/>
                <p:nvPr/>
              </p:nvSpPr>
              <p:spPr>
                <a:xfrm>
                  <a:off x="811740" y="2855915"/>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1" name="Oval 60"/>
                <p:cNvSpPr/>
                <p:nvPr/>
              </p:nvSpPr>
              <p:spPr bwMode="auto">
                <a:xfrm>
                  <a:off x="834586" y="2855915"/>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2" name="Flowchart: Magnetic Disk 61"/>
                <p:cNvSpPr/>
                <p:nvPr/>
              </p:nvSpPr>
              <p:spPr>
                <a:xfrm>
                  <a:off x="808037" y="2079361"/>
                  <a:ext cx="1681162" cy="959376"/>
                </a:xfrm>
                <a:prstGeom prst="flowChartMagneticDisk">
                  <a:avLst/>
                </a:prstGeom>
                <a:solidFill>
                  <a:srgbClr val="00B05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3" name="Oval 62"/>
                <p:cNvSpPr/>
                <p:nvPr/>
              </p:nvSpPr>
              <p:spPr bwMode="auto">
                <a:xfrm>
                  <a:off x="844284" y="2079361"/>
                  <a:ext cx="1608667" cy="319087"/>
                </a:xfrm>
                <a:prstGeom prst="ellipse">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grpSp>
        <p:pic>
          <p:nvPicPr>
            <p:cNvPr id="13" name="Picture 12"/>
            <p:cNvPicPr>
              <a:picLocks noChangeAspect="1"/>
            </p:cNvPicPr>
            <p:nvPr/>
          </p:nvPicPr>
          <p:blipFill>
            <a:blip r:embed="rId5"/>
            <a:stretch>
              <a:fillRect/>
            </a:stretch>
          </p:blipFill>
          <p:spPr>
            <a:xfrm>
              <a:off x="7214934" y="2134597"/>
              <a:ext cx="454151" cy="854871"/>
            </a:xfrm>
            <a:prstGeom prst="rect">
              <a:avLst/>
            </a:prstGeom>
          </p:spPr>
        </p:pic>
        <p:grpSp>
          <p:nvGrpSpPr>
            <p:cNvPr id="14" name="Group 13"/>
            <p:cNvGrpSpPr>
              <a:grpSpLocks noChangeAspect="1"/>
            </p:cNvGrpSpPr>
            <p:nvPr/>
          </p:nvGrpSpPr>
          <p:grpSpPr>
            <a:xfrm>
              <a:off x="6518050" y="2695927"/>
              <a:ext cx="488558" cy="493703"/>
              <a:chOff x="5121275" y="1295400"/>
              <a:chExt cx="1508125" cy="1524000"/>
            </a:xfrm>
          </p:grpSpPr>
          <p:grpSp>
            <p:nvGrpSpPr>
              <p:cNvPr id="18" name="Group 17"/>
              <p:cNvGrpSpPr/>
              <p:nvPr/>
            </p:nvGrpSpPr>
            <p:grpSpPr>
              <a:xfrm>
                <a:off x="5264150" y="1295400"/>
                <a:ext cx="1365250" cy="1370012"/>
                <a:chOff x="5264150" y="1295400"/>
                <a:chExt cx="1365250" cy="1370012"/>
              </a:xfrm>
            </p:grpSpPr>
            <p:grpSp>
              <p:nvGrpSpPr>
                <p:cNvPr id="32" name="Group 31"/>
                <p:cNvGrpSpPr/>
                <p:nvPr/>
              </p:nvGrpSpPr>
              <p:grpSpPr>
                <a:xfrm>
                  <a:off x="5264150" y="2057400"/>
                  <a:ext cx="1365250" cy="608012"/>
                  <a:chOff x="5264150" y="2057400"/>
                  <a:chExt cx="1365250" cy="608012"/>
                </a:xfrm>
              </p:grpSpPr>
              <p:grpSp>
                <p:nvGrpSpPr>
                  <p:cNvPr id="50" name="Group 49"/>
                  <p:cNvGrpSpPr/>
                  <p:nvPr/>
                </p:nvGrpSpPr>
                <p:grpSpPr>
                  <a:xfrm>
                    <a:off x="5410200" y="2057400"/>
                    <a:ext cx="1219200" cy="457200"/>
                    <a:chOff x="5257800" y="1447800"/>
                    <a:chExt cx="1219200" cy="457200"/>
                  </a:xfrm>
                </p:grpSpPr>
                <p:sp>
                  <p:nvSpPr>
                    <p:cNvPr id="55" name="Cube 54"/>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6" name="Cube 55"/>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7" name="Cube 56"/>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51" name="Group 50"/>
                  <p:cNvGrpSpPr/>
                  <p:nvPr/>
                </p:nvGrpSpPr>
                <p:grpSpPr>
                  <a:xfrm>
                    <a:off x="5264150" y="2208212"/>
                    <a:ext cx="1219200" cy="457200"/>
                    <a:chOff x="5257800" y="1447800"/>
                    <a:chExt cx="1219200" cy="457200"/>
                  </a:xfrm>
                </p:grpSpPr>
                <p:sp>
                  <p:nvSpPr>
                    <p:cNvPr id="52" name="Cube 51"/>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3" name="Cube 52"/>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4" name="Cube 53"/>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nvGrpSpPr>
                <p:cNvPr id="33" name="Group 32"/>
                <p:cNvGrpSpPr/>
                <p:nvPr/>
              </p:nvGrpSpPr>
              <p:grpSpPr>
                <a:xfrm>
                  <a:off x="5264150" y="1295400"/>
                  <a:ext cx="1365250" cy="990600"/>
                  <a:chOff x="5264150" y="1295400"/>
                  <a:chExt cx="1365250" cy="990600"/>
                </a:xfrm>
              </p:grpSpPr>
              <p:grpSp>
                <p:nvGrpSpPr>
                  <p:cNvPr id="34" name="Group 33"/>
                  <p:cNvGrpSpPr/>
                  <p:nvPr/>
                </p:nvGrpSpPr>
                <p:grpSpPr>
                  <a:xfrm>
                    <a:off x="5410200" y="1676400"/>
                    <a:ext cx="1219200" cy="457200"/>
                    <a:chOff x="5257800" y="1447800"/>
                    <a:chExt cx="1219200" cy="457200"/>
                  </a:xfrm>
                </p:grpSpPr>
                <p:sp>
                  <p:nvSpPr>
                    <p:cNvPr id="47" name="Cube 46"/>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8" name="Cube 47"/>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9" name="Cube 48"/>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35" name="Group 34"/>
                  <p:cNvGrpSpPr/>
                  <p:nvPr/>
                </p:nvGrpSpPr>
                <p:grpSpPr>
                  <a:xfrm>
                    <a:off x="5410200" y="1295400"/>
                    <a:ext cx="1219200" cy="457200"/>
                    <a:chOff x="5257800" y="1447800"/>
                    <a:chExt cx="1219200" cy="457200"/>
                  </a:xfrm>
                </p:grpSpPr>
                <p:sp>
                  <p:nvSpPr>
                    <p:cNvPr id="44" name="Cube 43"/>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5" name="Cube 44"/>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6" name="Cube 45"/>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36" name="Group 35"/>
                  <p:cNvGrpSpPr/>
                  <p:nvPr/>
                </p:nvGrpSpPr>
                <p:grpSpPr>
                  <a:xfrm>
                    <a:off x="5264150" y="1828800"/>
                    <a:ext cx="1219200" cy="457200"/>
                    <a:chOff x="5257800" y="1447800"/>
                    <a:chExt cx="1219200" cy="457200"/>
                  </a:xfrm>
                </p:grpSpPr>
                <p:sp>
                  <p:nvSpPr>
                    <p:cNvPr id="41" name="Cube 40"/>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2" name="Cube 41"/>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3" name="Cube 42"/>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37" name="Group 36"/>
                  <p:cNvGrpSpPr/>
                  <p:nvPr/>
                </p:nvGrpSpPr>
                <p:grpSpPr>
                  <a:xfrm>
                    <a:off x="5264150" y="1447800"/>
                    <a:ext cx="1219200" cy="457200"/>
                    <a:chOff x="5257800" y="1447800"/>
                    <a:chExt cx="1219200" cy="457200"/>
                  </a:xfrm>
                </p:grpSpPr>
                <p:sp>
                  <p:nvSpPr>
                    <p:cNvPr id="38" name="Cube 37"/>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9" name="Cube 38"/>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40" name="Cube 39"/>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grpSp>
            <p:nvGrpSpPr>
              <p:cNvPr id="19" name="Group 18"/>
              <p:cNvGrpSpPr/>
              <p:nvPr/>
            </p:nvGrpSpPr>
            <p:grpSpPr>
              <a:xfrm>
                <a:off x="5121275" y="1600200"/>
                <a:ext cx="1222375" cy="1219200"/>
                <a:chOff x="5121275" y="1600200"/>
                <a:chExt cx="1222375" cy="1219200"/>
              </a:xfrm>
            </p:grpSpPr>
            <p:grpSp>
              <p:nvGrpSpPr>
                <p:cNvPr id="20" name="Group 19"/>
                <p:cNvGrpSpPr/>
                <p:nvPr/>
              </p:nvGrpSpPr>
              <p:grpSpPr>
                <a:xfrm>
                  <a:off x="5121275" y="2362200"/>
                  <a:ext cx="1219200" cy="457200"/>
                  <a:chOff x="5257800" y="1447800"/>
                  <a:chExt cx="1219200" cy="457200"/>
                </a:xfrm>
              </p:grpSpPr>
              <p:sp>
                <p:nvSpPr>
                  <p:cNvPr id="29" name="Cube 28"/>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0" name="Cube 29"/>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31" name="Cube 30"/>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21" name="Group 20"/>
                <p:cNvGrpSpPr/>
                <p:nvPr/>
              </p:nvGrpSpPr>
              <p:grpSpPr>
                <a:xfrm>
                  <a:off x="5121275" y="1978025"/>
                  <a:ext cx="1219200" cy="457200"/>
                  <a:chOff x="5257800" y="1447800"/>
                  <a:chExt cx="1219200" cy="457200"/>
                </a:xfrm>
              </p:grpSpPr>
              <p:sp>
                <p:nvSpPr>
                  <p:cNvPr id="26" name="Cube 25"/>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7" name="Cube 26"/>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8" name="Cube 27"/>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nvGrpSpPr>
                <p:cNvPr id="22" name="Group 21"/>
                <p:cNvGrpSpPr/>
                <p:nvPr/>
              </p:nvGrpSpPr>
              <p:grpSpPr>
                <a:xfrm>
                  <a:off x="5124450" y="1600200"/>
                  <a:ext cx="1219200" cy="457200"/>
                  <a:chOff x="5257800" y="1447800"/>
                  <a:chExt cx="1219200" cy="457200"/>
                </a:xfrm>
              </p:grpSpPr>
              <p:sp>
                <p:nvSpPr>
                  <p:cNvPr id="23" name="Cube 22"/>
                  <p:cNvSpPr/>
                  <p:nvPr/>
                </p:nvSpPr>
                <p:spPr>
                  <a:xfrm>
                    <a:off x="5257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4" name="Cube 23"/>
                  <p:cNvSpPr/>
                  <p:nvPr/>
                </p:nvSpPr>
                <p:spPr>
                  <a:xfrm>
                    <a:off x="5638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25" name="Cube 24"/>
                  <p:cNvSpPr/>
                  <p:nvPr/>
                </p:nvSpPr>
                <p:spPr>
                  <a:xfrm>
                    <a:off x="6019800" y="1447800"/>
                    <a:ext cx="457200" cy="457200"/>
                  </a:xfrm>
                  <a:prstGeom prst="cube">
                    <a:avLst/>
                  </a:prstGeom>
                  <a:solidFill>
                    <a:srgbClr val="00C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grpSp>
          </p:grpSp>
        </p:grpSp>
        <p:cxnSp>
          <p:nvCxnSpPr>
            <p:cNvPr id="15" name="Straight Arrow Connector 14"/>
            <p:cNvCxnSpPr/>
            <p:nvPr/>
          </p:nvCxnSpPr>
          <p:spPr>
            <a:xfrm>
              <a:off x="6830443" y="5366372"/>
              <a:ext cx="73763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6506042" y="3489072"/>
              <a:ext cx="721250" cy="15301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6160606" y="3518673"/>
              <a:ext cx="719175" cy="14163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40088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40f0cde8-13e3-41b5-8297-4bc6021ddcd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Que sont les contrôleurs d’opérations ?</a:t>
            </a:r>
          </a:p>
        </p:txBody>
      </p:sp>
      <p:sp>
        <p:nvSpPr>
          <p:cNvPr id="4" name="AutoShape 3"/>
          <p:cNvSpPr>
            <a:spLocks noChangeArrowheads="1"/>
          </p:cNvSpPr>
          <p:nvPr/>
        </p:nvSpPr>
        <p:spPr bwMode="auto">
          <a:xfrm>
            <a:off x="341363" y="855896"/>
            <a:ext cx="7749222" cy="3128061"/>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342900" indent="-342900">
              <a:buClr>
                <a:srgbClr val="0070C0"/>
              </a:buClr>
              <a:buSzPct val="120000"/>
              <a:buFont typeface="Arial" panose="020B0604020202020204" pitchFamily="34" charset="0"/>
              <a:buChar char="•"/>
            </a:pPr>
            <a:r>
              <a:rPr lang="fr-FR" sz="2300" b="0" dirty="0">
                <a:latin typeface="Segoe UI" pitchFamily="34" charset="0"/>
              </a:rPr>
              <a:t>Dans le modèle de réplication multimaître, certaines opérations doivent être des opérations à maître unique</a:t>
            </a:r>
          </a:p>
          <a:p>
            <a:pPr marL="342900" indent="-342900">
              <a:buClr>
                <a:srgbClr val="0070C0"/>
              </a:buClr>
              <a:buSzPct val="120000"/>
              <a:buFont typeface="Arial" panose="020B0604020202020204" pitchFamily="34" charset="0"/>
              <a:buChar char="•"/>
            </a:pPr>
            <a:r>
              <a:rPr lang="fr-FR" sz="2300" b="0" dirty="0">
                <a:latin typeface="Segoe UI" pitchFamily="34" charset="0"/>
              </a:rPr>
              <a:t>De nombreux termes sont utilisés pour les opérations à maître unique dans AD DS, notamment :</a:t>
            </a:r>
          </a:p>
          <a:p>
            <a:pPr marL="800100" lvl="1" indent="-342900">
              <a:buClr>
                <a:srgbClr val="0070C0"/>
              </a:buClr>
              <a:buSzPct val="120000"/>
              <a:buFont typeface="Arial" panose="020B0604020202020204" pitchFamily="34" charset="0"/>
              <a:buChar char="•"/>
            </a:pPr>
            <a:r>
              <a:rPr lang="fr-FR" sz="2300" b="0" dirty="0">
                <a:latin typeface="Segoe UI" pitchFamily="34" charset="0"/>
              </a:rPr>
              <a:t>Maître d’opérations (ou rôle maître d’opérations) </a:t>
            </a:r>
          </a:p>
          <a:p>
            <a:pPr marL="800100" lvl="1" indent="-342900">
              <a:buClr>
                <a:srgbClr val="0070C0"/>
              </a:buClr>
              <a:buSzPct val="120000"/>
              <a:buFont typeface="Arial" panose="020B0604020202020204" pitchFamily="34" charset="0"/>
              <a:buChar char="•"/>
            </a:pPr>
            <a:r>
              <a:rPr lang="fr-FR" sz="2300" b="0" dirty="0">
                <a:latin typeface="Segoe UI" pitchFamily="34" charset="0"/>
              </a:rPr>
              <a:t>Rôle de maître unique </a:t>
            </a:r>
          </a:p>
          <a:p>
            <a:pPr marL="800100" lvl="1" indent="-342900">
              <a:buClr>
                <a:srgbClr val="0070C0"/>
              </a:buClr>
              <a:buSzPct val="120000"/>
              <a:buFont typeface="Arial" panose="020B0604020202020204" pitchFamily="34" charset="0"/>
              <a:buChar char="•"/>
            </a:pPr>
            <a:r>
              <a:rPr lang="fr-FR" sz="2300" b="0" dirty="0">
                <a:latin typeface="Segoe UI" pitchFamily="34" charset="0"/>
              </a:rPr>
              <a:t>Opérations à maître unique flottant (FMSO)</a:t>
            </a:r>
          </a:p>
          <a:p>
            <a:pPr>
              <a:buClr>
                <a:srgbClr val="0070C0"/>
              </a:buClr>
              <a:buSzPct val="120000"/>
            </a:pPr>
            <a:endParaRPr lang="fr-FR" sz="2300" dirty="0">
              <a:latin typeface="Segoe UI" pitchFamily="34" charset="0"/>
              <a:ea typeface="Segoe UI" pitchFamily="34" charset="0"/>
              <a:cs typeface="Segoe UI" pitchFamily="34" charset="0"/>
            </a:endParaRPr>
          </a:p>
          <a:p>
            <a:pPr algn="ctr">
              <a:buClr>
                <a:srgbClr val="0070C0"/>
              </a:buClr>
              <a:buSzPct val="120000"/>
            </a:pPr>
            <a:endParaRPr lang="fr-FR" sz="2300" dirty="0">
              <a:latin typeface="Segoe UI" pitchFamily="34" charset="0"/>
              <a:ea typeface="Segoe UI" pitchFamily="34" charset="0"/>
              <a:cs typeface="Segoe UI" pitchFamily="34" charset="0"/>
            </a:endParaRPr>
          </a:p>
          <a:p>
            <a:pPr>
              <a:buClr>
                <a:srgbClr val="0070C0"/>
              </a:buClr>
              <a:buSzPct val="120000"/>
            </a:pPr>
            <a:endParaRPr lang="fr-FR" sz="2300" dirty="0">
              <a:latin typeface="Segoe UI" pitchFamily="34" charset="0"/>
              <a:ea typeface="Segoe UI" pitchFamily="34" charset="0"/>
              <a:cs typeface="Segoe UI" pitchFamily="34" charset="0"/>
            </a:endParaRPr>
          </a:p>
          <a:p>
            <a:pPr>
              <a:buClr>
                <a:srgbClr val="0070C0"/>
              </a:buClr>
              <a:buSzPct val="120000"/>
            </a:pPr>
            <a:endParaRPr lang="fr-FR" sz="2300" dirty="0">
              <a:latin typeface="Segoe UI" pitchFamily="34" charset="0"/>
              <a:ea typeface="Segoe UI" pitchFamily="34" charset="0"/>
              <a:cs typeface="Segoe UI" pitchFamily="34" charset="0"/>
            </a:endParaRPr>
          </a:p>
        </p:txBody>
      </p:sp>
      <p:sp>
        <p:nvSpPr>
          <p:cNvPr id="5" name="AutoShape 3"/>
          <p:cNvSpPr>
            <a:spLocks noChangeArrowheads="1"/>
          </p:cNvSpPr>
          <p:nvPr/>
        </p:nvSpPr>
        <p:spPr bwMode="auto">
          <a:xfrm>
            <a:off x="610302" y="4038601"/>
            <a:ext cx="7771697" cy="51237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buClr>
                <a:srgbClr val="0070C0"/>
              </a:buClr>
              <a:buSzPct val="120000"/>
            </a:pPr>
            <a:r>
              <a:rPr lang="fr-FR" sz="2400" b="0" dirty="0">
                <a:latin typeface="Segoe UI" pitchFamily="34" charset="0"/>
              </a:rPr>
              <a:t>Les cinq FSMO :</a:t>
            </a:r>
          </a:p>
        </p:txBody>
      </p:sp>
      <p:sp>
        <p:nvSpPr>
          <p:cNvPr id="6" name="Rounded Rectangle 5"/>
          <p:cNvSpPr>
            <a:spLocks noChangeArrowheads="1"/>
          </p:cNvSpPr>
          <p:nvPr/>
        </p:nvSpPr>
        <p:spPr bwMode="auto">
          <a:xfrm>
            <a:off x="602901" y="4550970"/>
            <a:ext cx="3874612" cy="184983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lvl="1" eaLnBrk="0" hangingPunct="0">
              <a:lnSpc>
                <a:spcPct val="90000"/>
              </a:lnSpc>
              <a:spcBef>
                <a:spcPct val="40000"/>
              </a:spcBef>
              <a:buClr>
                <a:srgbClr val="006699"/>
              </a:buClr>
            </a:pPr>
            <a:r>
              <a:rPr lang="fr-FR" altLang="zh-TW" b="0" dirty="0">
                <a:solidFill>
                  <a:srgbClr val="000000"/>
                </a:solidFill>
                <a:latin typeface="Segoe UI" pitchFamily="34" charset="0"/>
              </a:rPr>
              <a:t>Forêt :</a:t>
            </a:r>
          </a:p>
          <a:p>
            <a:pPr marL="533037" lvl="2" indent="-342900" eaLnBrk="0" hangingPunct="0">
              <a:lnSpc>
                <a:spcPct val="90000"/>
              </a:lnSpc>
              <a:spcBef>
                <a:spcPct val="40000"/>
              </a:spcBef>
              <a:buClr>
                <a:srgbClr val="0070C0"/>
              </a:buClr>
              <a:buFont typeface="Arial" panose="020B0604020202020204" pitchFamily="34" charset="0"/>
              <a:buChar char="•"/>
            </a:pPr>
            <a:r>
              <a:rPr lang="fr-FR" altLang="zh-TW" b="0" dirty="0">
                <a:solidFill>
                  <a:srgbClr val="000000"/>
                </a:solidFill>
                <a:latin typeface="Segoe UI" pitchFamily="34" charset="0"/>
              </a:rPr>
              <a:t>Maître d’opérations des noms de domaine</a:t>
            </a:r>
          </a:p>
          <a:p>
            <a:pPr marL="533037" lvl="2" indent="-342900" eaLnBrk="0" hangingPunct="0">
              <a:lnSpc>
                <a:spcPct val="90000"/>
              </a:lnSpc>
              <a:spcBef>
                <a:spcPct val="40000"/>
              </a:spcBef>
              <a:buClr>
                <a:srgbClr val="0070C0"/>
              </a:buClr>
              <a:buFont typeface="Arial" panose="020B0604020202020204" pitchFamily="34" charset="0"/>
              <a:buChar char="•"/>
            </a:pPr>
            <a:r>
              <a:rPr lang="fr-FR" altLang="zh-TW" b="0" dirty="0">
                <a:solidFill>
                  <a:srgbClr val="000000"/>
                </a:solidFill>
                <a:latin typeface="Segoe UI" pitchFamily="34" charset="0"/>
              </a:rPr>
              <a:t>Contrôleur de schéma</a:t>
            </a:r>
          </a:p>
        </p:txBody>
      </p:sp>
      <p:sp>
        <p:nvSpPr>
          <p:cNvPr id="7" name="Rounded Rectangle 6"/>
          <p:cNvSpPr>
            <a:spLocks noChangeArrowheads="1"/>
          </p:cNvSpPr>
          <p:nvPr/>
        </p:nvSpPr>
        <p:spPr bwMode="auto">
          <a:xfrm>
            <a:off x="4484914" y="4550970"/>
            <a:ext cx="3897086" cy="1849830"/>
          </a:xfrm>
          <a:prstGeom prst="roundRect">
            <a:avLst>
              <a:gd name="adj" fmla="val 4167"/>
            </a:avLst>
          </a:prstGeom>
          <a:ln w="22225">
            <a:solidFill>
              <a:srgbClr val="569AD2"/>
            </a:solidFill>
            <a:headEnd/>
            <a:tailEnd/>
          </a:ln>
        </p:spPr>
        <p:style>
          <a:lnRef idx="2">
            <a:schemeClr val="dk1"/>
          </a:lnRef>
          <a:fillRef idx="1">
            <a:schemeClr val="lt1"/>
          </a:fillRef>
          <a:effectRef idx="0">
            <a:schemeClr val="dk1"/>
          </a:effectRef>
          <a:fontRef idx="minor">
            <a:schemeClr val="dk1"/>
          </a:fontRef>
        </p:style>
        <p:txBody>
          <a:bodyPr anchor="t" anchorCtr="0"/>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0" lvl="1" eaLnBrk="0" hangingPunct="0">
              <a:lnSpc>
                <a:spcPct val="90000"/>
              </a:lnSpc>
              <a:spcBef>
                <a:spcPct val="40000"/>
              </a:spcBef>
              <a:buClr>
                <a:srgbClr val="006699"/>
              </a:buClr>
            </a:pPr>
            <a:r>
              <a:rPr lang="fr-FR" altLang="zh-TW" b="0" dirty="0">
                <a:solidFill>
                  <a:srgbClr val="000000"/>
                </a:solidFill>
                <a:latin typeface="Segoe UI" pitchFamily="34" charset="0"/>
              </a:rPr>
              <a:t>Domaine :</a:t>
            </a:r>
          </a:p>
          <a:p>
            <a:pPr marL="360000" lvl="2" indent="-169863" eaLnBrk="0" hangingPunct="0">
              <a:spcBef>
                <a:spcPts val="600"/>
              </a:spcBef>
              <a:buClr>
                <a:srgbClr val="0070C0"/>
              </a:buClr>
              <a:buFontTx/>
              <a:buChar char="•"/>
            </a:pPr>
            <a:r>
              <a:rPr lang="fr-FR" altLang="zh-TW" b="0" dirty="0">
                <a:solidFill>
                  <a:srgbClr val="000000"/>
                </a:solidFill>
                <a:latin typeface="Segoe UI" pitchFamily="34" charset="0"/>
              </a:rPr>
              <a:t>Maître RID</a:t>
            </a:r>
          </a:p>
          <a:p>
            <a:pPr marL="360000" lvl="2" indent="-169863" eaLnBrk="0" hangingPunct="0">
              <a:spcBef>
                <a:spcPts val="600"/>
              </a:spcBef>
              <a:buClr>
                <a:srgbClr val="0070C0"/>
              </a:buClr>
              <a:buFontTx/>
              <a:buChar char="•"/>
            </a:pPr>
            <a:r>
              <a:rPr lang="fr-FR" altLang="zh-TW" b="0" dirty="0">
                <a:solidFill>
                  <a:srgbClr val="000000"/>
                </a:solidFill>
                <a:latin typeface="Segoe UI" pitchFamily="34" charset="0"/>
              </a:rPr>
              <a:t>Maître d’infrastructure</a:t>
            </a:r>
          </a:p>
          <a:p>
            <a:pPr marL="360000" lvl="2" indent="-169863" eaLnBrk="0" hangingPunct="0">
              <a:spcBef>
                <a:spcPts val="600"/>
              </a:spcBef>
              <a:buClr>
                <a:srgbClr val="0070C0"/>
              </a:buClr>
              <a:buFontTx/>
              <a:buChar char="•"/>
            </a:pPr>
            <a:r>
              <a:rPr lang="fr-FR" altLang="zh-TW" b="0" dirty="0">
                <a:solidFill>
                  <a:srgbClr val="000000"/>
                </a:solidFill>
                <a:latin typeface="Segoe UI" pitchFamily="34" charset="0"/>
              </a:rPr>
              <a:t>Maître d’émulateur de contrôleur de domaine principal</a:t>
            </a:r>
          </a:p>
        </p:txBody>
      </p:sp>
    </p:spTree>
    <p:extLst>
      <p:ext uri="{BB962C8B-B14F-4D97-AF65-F5344CB8AC3E}">
        <p14:creationId xmlns:p14="http://schemas.microsoft.com/office/powerpoint/2010/main" val="439633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79eccd3e-7fc3-4c58-a998-b64ee456c5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Le transfert et la prise de rôles</a:t>
            </a:r>
          </a:p>
        </p:txBody>
      </p:sp>
      <p:sp>
        <p:nvSpPr>
          <p:cNvPr id="4" name="AutoShape 3"/>
          <p:cNvSpPr>
            <a:spLocks noChangeArrowheads="1"/>
          </p:cNvSpPr>
          <p:nvPr/>
        </p:nvSpPr>
        <p:spPr bwMode="auto">
          <a:xfrm>
            <a:off x="341363" y="855896"/>
            <a:ext cx="7749222" cy="4533227"/>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342900" indent="-342900">
              <a:buClr>
                <a:srgbClr val="0070C0"/>
              </a:buClr>
              <a:buSzPct val="120000"/>
              <a:buFont typeface="Arial" panose="020B0604020202020204" pitchFamily="34" charset="0"/>
              <a:buChar char="•"/>
            </a:pPr>
            <a:r>
              <a:rPr lang="fr-FR" sz="2400" b="0" dirty="0">
                <a:latin typeface="Segoe UI" pitchFamily="34" charset="0"/>
              </a:rPr>
              <a:t>Le transfert est :</a:t>
            </a:r>
          </a:p>
          <a:p>
            <a:pPr marL="800100" lvl="1" indent="-342900">
              <a:buClr>
                <a:srgbClr val="0070C0"/>
              </a:buClr>
              <a:buSzPct val="120000"/>
              <a:buFont typeface="Arial" panose="020B0604020202020204" pitchFamily="34" charset="0"/>
              <a:buChar char="•"/>
            </a:pPr>
            <a:r>
              <a:rPr lang="fr-FR" sz="2400" b="0" dirty="0">
                <a:latin typeface="Segoe UI" pitchFamily="34" charset="0"/>
              </a:rPr>
              <a:t>Planifié </a:t>
            </a:r>
          </a:p>
          <a:p>
            <a:pPr marL="800100" lvl="1" indent="-342900">
              <a:buClr>
                <a:srgbClr val="0070C0"/>
              </a:buClr>
              <a:buSzPct val="120000"/>
              <a:buFont typeface="Arial" panose="020B0604020202020204" pitchFamily="34" charset="0"/>
              <a:buChar char="•"/>
            </a:pPr>
            <a:r>
              <a:rPr lang="fr-FR" sz="2400" b="0" dirty="0">
                <a:latin typeface="Segoe UI" pitchFamily="34" charset="0"/>
              </a:rPr>
              <a:t>Réalisé avec les dernières données </a:t>
            </a:r>
          </a:p>
          <a:p>
            <a:pPr marL="800100" lvl="1" indent="-342900">
              <a:buClr>
                <a:srgbClr val="0070C0"/>
              </a:buClr>
              <a:buSzPct val="120000"/>
              <a:buFont typeface="Arial" panose="020B0604020202020204" pitchFamily="34" charset="0"/>
              <a:buChar char="•"/>
            </a:pPr>
            <a:r>
              <a:rPr lang="fr-FR" sz="2400" b="0" dirty="0">
                <a:latin typeface="Segoe UI" pitchFamily="34" charset="0"/>
              </a:rPr>
              <a:t>Effectué grâce à des composants logiciels enfichables Windows PowerShell ou ntdsutil.exe</a:t>
            </a:r>
          </a:p>
          <a:p>
            <a:pPr marL="342900" indent="-342900">
              <a:buClr>
                <a:srgbClr val="0070C0"/>
              </a:buClr>
              <a:buSzPct val="120000"/>
              <a:buFont typeface="Arial" panose="020B0604020202020204" pitchFamily="34" charset="0"/>
              <a:buChar char="•"/>
            </a:pPr>
            <a:r>
              <a:rPr lang="fr-FR" sz="2400" b="0" dirty="0">
                <a:latin typeface="Segoe UI" pitchFamily="34" charset="0"/>
              </a:rPr>
              <a:t>La prise de rôle est :</a:t>
            </a:r>
          </a:p>
          <a:p>
            <a:pPr marL="800100" lvl="1" indent="-342900">
              <a:buClr>
                <a:srgbClr val="0070C0"/>
              </a:buClr>
              <a:buSzPct val="120000"/>
              <a:buFont typeface="Arial" panose="020B0604020202020204" pitchFamily="34" charset="0"/>
              <a:buChar char="•"/>
            </a:pPr>
            <a:r>
              <a:rPr lang="fr-FR" sz="2400" b="0" dirty="0">
                <a:latin typeface="Segoe UI" pitchFamily="34" charset="0"/>
              </a:rPr>
              <a:t>Non planifiée et utilisée en dernier recours  </a:t>
            </a:r>
          </a:p>
          <a:p>
            <a:pPr marL="800100" lvl="1" indent="-342900">
              <a:buClr>
                <a:srgbClr val="0070C0"/>
              </a:buClr>
              <a:buSzPct val="120000"/>
              <a:buFont typeface="Arial" panose="020B0604020202020204" pitchFamily="34" charset="0"/>
              <a:buChar char="•"/>
            </a:pPr>
            <a:r>
              <a:rPr lang="fr-FR" sz="2400" b="0" dirty="0">
                <a:latin typeface="Segoe UI" pitchFamily="34" charset="0"/>
              </a:rPr>
              <a:t>Faite avec des données incomplètes ou obsolètes </a:t>
            </a:r>
          </a:p>
          <a:p>
            <a:pPr marL="800100" lvl="1" indent="-342900">
              <a:buClr>
                <a:srgbClr val="0070C0"/>
              </a:buClr>
              <a:buSzPct val="120000"/>
              <a:buFont typeface="Arial" panose="020B0604020202020204" pitchFamily="34" charset="0"/>
              <a:buChar char="•"/>
            </a:pPr>
            <a:r>
              <a:rPr lang="fr-FR" sz="2400" b="0" dirty="0">
                <a:latin typeface="Segoe UI" pitchFamily="34" charset="0"/>
              </a:rPr>
              <a:t>Effectuée grâce à Windows PowerShell ou ntdsutil.exe</a:t>
            </a:r>
          </a:p>
          <a:p>
            <a:pPr algn="ctr">
              <a:buClr>
                <a:srgbClr val="0070C0"/>
              </a:buClr>
              <a:buSzPct val="120000"/>
            </a:pPr>
            <a:endParaRPr lang="fr-FR" sz="2400" dirty="0">
              <a:latin typeface="Segoe UI" pitchFamily="34" charset="0"/>
              <a:ea typeface="Segoe UI" pitchFamily="34" charset="0"/>
              <a:cs typeface="Segoe UI" pitchFamily="34" charset="0"/>
            </a:endParaRPr>
          </a:p>
          <a:p>
            <a:pPr>
              <a:buClr>
                <a:srgbClr val="0070C0"/>
              </a:buClr>
              <a:buSzPct val="120000"/>
            </a:pPr>
            <a:endParaRPr lang="fr-FR" sz="2400" dirty="0">
              <a:latin typeface="Segoe UI" pitchFamily="34" charset="0"/>
              <a:ea typeface="Segoe UI" pitchFamily="34" charset="0"/>
              <a:cs typeface="Segoe UI" pitchFamily="34" charset="0"/>
            </a:endParaRPr>
          </a:p>
          <a:p>
            <a:pPr>
              <a:buClr>
                <a:srgbClr val="0070C0"/>
              </a:buClr>
              <a:buSzPct val="120000"/>
            </a:pPr>
            <a:endParaRPr lang="fr-FR" sz="240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3951842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54016f2b-c6e7-49f6-87b6-dfea7cec3699">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302625" cy="740664"/>
          </a:xfrm>
        </p:spPr>
        <p:txBody>
          <a:bodyPr/>
          <a:lstStyle/>
          <a:p>
            <a:r>
              <a:rPr lang="fr-FR" sz="2700" dirty="0"/>
              <a:t>Leçon 3 : Déploiement d’un contrôleur de domaine</a:t>
            </a:r>
          </a:p>
        </p:txBody>
      </p:sp>
      <p:sp>
        <p:nvSpPr>
          <p:cNvPr id="3" name="Text Placeholder 2"/>
          <p:cNvSpPr>
            <a:spLocks noGrp="1"/>
          </p:cNvSpPr>
          <p:nvPr>
            <p:ph type="body" idx="1"/>
          </p:nvPr>
        </p:nvSpPr>
        <p:spPr/>
        <p:txBody>
          <a:bodyPr/>
          <a:lstStyle/>
          <a:p>
            <a:r>
              <a:rPr lang="fr-FR" sz="2700" dirty="0"/>
              <a:t>Installation d’un contrôleur de domaine depuis le Gestionnaire de serveur</a:t>
            </a:r>
            <a:r>
              <a:rPr lang="en-US" sz="2700" dirty="0"/>
              <a:t>
</a:t>
            </a:r>
            <a:r>
              <a:rPr lang="fr-FR" sz="2700" dirty="0"/>
              <a:t>Installation d’un contrôleur de domaine sur une installation minimale de Windows Server 2016</a:t>
            </a:r>
            <a:r>
              <a:rPr lang="en-US" sz="2700" dirty="0"/>
              <a:t>
</a:t>
            </a:r>
            <a:r>
              <a:rPr lang="fr-FR" sz="2700" dirty="0"/>
              <a:t>Mise à niveau d’un contrôleur de domaine</a:t>
            </a:r>
            <a:r>
              <a:rPr lang="en-US" sz="2700" dirty="0"/>
              <a:t>
</a:t>
            </a:r>
            <a:r>
              <a:rPr lang="fr-FR" sz="2700" dirty="0"/>
              <a:t>Installation d’un contrôleur de domaine en l’installant depuis un support</a:t>
            </a:r>
            <a:r>
              <a:rPr lang="en-US" sz="2700" dirty="0"/>
              <a:t>
</a:t>
            </a:r>
            <a:r>
              <a:rPr lang="fr-FR" sz="2700" dirty="0"/>
              <a:t>Clonage des contrôleurs de domaine</a:t>
            </a:r>
            <a:r>
              <a:rPr lang="en-US" sz="2700" dirty="0"/>
              <a:t>
</a:t>
            </a:r>
            <a:r>
              <a:rPr lang="fr-FR" sz="2700" dirty="0"/>
              <a:t>Démonstration : Le clonage d’un contrôleur de domaine</a:t>
            </a:r>
            <a:r>
              <a:rPr lang="en-US" sz="2700" dirty="0"/>
              <a:t>
</a:t>
            </a:r>
            <a:r>
              <a:rPr lang="fr-FR" sz="2700" dirty="0"/>
              <a:t>Les bonnes pratiques pour la virtualisation des contrôleurs de domaine</a:t>
            </a:r>
          </a:p>
        </p:txBody>
      </p:sp>
    </p:spTree>
    <p:extLst>
      <p:ext uri="{BB962C8B-B14F-4D97-AF65-F5344CB8AC3E}">
        <p14:creationId xmlns:p14="http://schemas.microsoft.com/office/powerpoint/2010/main" val="3046486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96016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f227a4b2-fd7a-4968-904c-0db7357a2877">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226425" cy="740664"/>
          </a:xfrm>
        </p:spPr>
        <p:txBody>
          <a:bodyPr/>
          <a:lstStyle/>
          <a:p>
            <a:r>
              <a:rPr lang="fr-FR"/>
              <a:t>Installer un contrôleur de domaine depuis le Gestionnaire de serveur</a:t>
            </a:r>
          </a:p>
        </p:txBody>
      </p:sp>
      <p:sp>
        <p:nvSpPr>
          <p:cNvPr id="4" name="TextBox 2"/>
          <p:cNvSpPr txBox="1"/>
          <p:nvPr/>
        </p:nvSpPr>
        <p:spPr>
          <a:xfrm>
            <a:off x="625643" y="917316"/>
            <a:ext cx="7964904" cy="830997"/>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400" b="0" dirty="0">
                <a:latin typeface="Segoe UI" pitchFamily="34" charset="0"/>
              </a:rPr>
              <a:t>La section Configuration du déploiement de l’Assistant Configuration des services de domaine Active Directory</a:t>
            </a:r>
            <a:endParaRPr lang="fr-FR" sz="2400" b="0" dirty="0">
              <a:latin typeface="Segoe UI" pitchFamily="34" charset="0"/>
              <a:ea typeface="Segoe UI" pitchFamily="34" charset="0"/>
              <a:cs typeface="Segoe UI" pitchFamily="34" charset="0"/>
            </a:endParaRPr>
          </a:p>
        </p:txBody>
      </p:sp>
      <p:pic>
        <p:nvPicPr>
          <p:cNvPr id="5" name="Picture 4" descr="Une capture d’écran de la section Configuration de déploiement de l’Assistant Configuration des services de domaine Active Directory. Dans cette section, vous pouvez choisir d’ajouter un contrôleur de domaine à un domaine existant, d’ajouter un domaine à une forêt ou d’ajouter une nouvelle forêt. Il y a des options pour sélectionner le domaine ou la forêt existant, selon l’option choisie et de fournir des informations d’identification appropriées pour effectuer l’opération.&#10;&#10;"/>
          <p:cNvPicPr/>
          <p:nvPr/>
        </p:nvPicPr>
        <p:blipFill>
          <a:blip r:embed="rId3">
            <a:extLst>
              <a:ext uri="{28A0092B-C50C-407E-A947-70E740481C1C}">
                <a14:useLocalDpi xmlns:a14="http://schemas.microsoft.com/office/drawing/2010/main" val="0"/>
              </a:ext>
            </a:extLst>
          </a:blip>
          <a:srcRect/>
          <a:stretch>
            <a:fillRect/>
          </a:stretch>
        </p:blipFill>
        <p:spPr bwMode="auto">
          <a:xfrm>
            <a:off x="1433944" y="2020824"/>
            <a:ext cx="6768223" cy="4077543"/>
          </a:xfrm>
          <a:prstGeom prst="rect">
            <a:avLst/>
          </a:prstGeom>
          <a:noFill/>
          <a:ln w="9525">
            <a:solidFill>
              <a:schemeClr val="tx1"/>
            </a:solidFill>
            <a:miter lim="800000"/>
            <a:headEnd/>
            <a:tailEnd/>
          </a:ln>
          <a:extLst/>
        </p:spPr>
      </p:pic>
    </p:spTree>
    <p:extLst>
      <p:ext uri="{BB962C8B-B14F-4D97-AF65-F5344CB8AC3E}">
        <p14:creationId xmlns:p14="http://schemas.microsoft.com/office/powerpoint/2010/main" val="4030661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0c24a83e-8dae-4b34-b51f-6aa6294410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Installer un contrôleur de domaine sur une installation Server Core de Windows Server 2016</a:t>
            </a:r>
          </a:p>
        </p:txBody>
      </p:sp>
      <p:sp>
        <p:nvSpPr>
          <p:cNvPr id="4" name="AutoShape 3"/>
          <p:cNvSpPr>
            <a:spLocks noChangeArrowheads="1"/>
          </p:cNvSpPr>
          <p:nvPr/>
        </p:nvSpPr>
        <p:spPr bwMode="auto">
          <a:xfrm>
            <a:off x="315352" y="687555"/>
            <a:ext cx="8396848" cy="569631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342900" indent="-342900">
              <a:spcBef>
                <a:spcPts val="600"/>
              </a:spcBef>
              <a:buClr>
                <a:srgbClr val="0070C0"/>
              </a:buClr>
              <a:buFont typeface="Arial" panose="020B0604020202020204" pitchFamily="34" charset="0"/>
              <a:buChar char="•"/>
            </a:pPr>
            <a:r>
              <a:rPr lang="fr-FR" sz="2300" b="0" dirty="0">
                <a:solidFill>
                  <a:srgbClr val="000000"/>
                </a:solidFill>
                <a:latin typeface="Segoe UI" pitchFamily="34" charset="0"/>
              </a:rPr>
              <a:t>Utilisation du Gestionnaire de serveur :</a:t>
            </a:r>
          </a:p>
          <a:p>
            <a:pPr marL="720000" lvl="1" indent="-457200">
              <a:spcBef>
                <a:spcPts val="600"/>
              </a:spcBef>
              <a:buClr>
                <a:srgbClr val="0070C0"/>
              </a:buClr>
              <a:buFont typeface="+mj-lt"/>
              <a:buAutoNum type="arabicPeriod"/>
            </a:pPr>
            <a:r>
              <a:rPr lang="fr-FR" sz="2300" b="0" dirty="0">
                <a:latin typeface="Segoe UI" pitchFamily="34" charset="0"/>
              </a:rPr>
              <a:t>Installation du rôle AD DS.</a:t>
            </a:r>
          </a:p>
          <a:p>
            <a:pPr marL="720000" lvl="1" indent="-457200">
              <a:spcBef>
                <a:spcPts val="600"/>
              </a:spcBef>
              <a:buClr>
                <a:srgbClr val="0070C0"/>
              </a:buClr>
              <a:buFont typeface="+mj-lt"/>
              <a:buAutoNum type="arabicPeriod"/>
            </a:pPr>
            <a:r>
              <a:rPr lang="fr-FR" sz="2300" b="0" dirty="0">
                <a:latin typeface="Segoe UI" pitchFamily="34" charset="0"/>
              </a:rPr>
              <a:t>Exécuter l’Assistant Configuration des services de domaine Active Directory.</a:t>
            </a:r>
          </a:p>
          <a:p>
            <a:pPr marL="342900" indent="-342900">
              <a:spcBef>
                <a:spcPts val="600"/>
              </a:spcBef>
              <a:buClr>
                <a:srgbClr val="0070C0"/>
              </a:buClr>
              <a:buFont typeface="Arial" panose="020B0604020202020204" pitchFamily="34" charset="0"/>
              <a:buChar char="•"/>
            </a:pPr>
            <a:r>
              <a:rPr lang="fr-FR" sz="2300" b="0" dirty="0">
                <a:solidFill>
                  <a:srgbClr val="000000"/>
                </a:solidFill>
                <a:latin typeface="Segoe UI" pitchFamily="34" charset="0"/>
              </a:rPr>
              <a:t>Utilisation de Windows PowerShell :</a:t>
            </a:r>
          </a:p>
          <a:p>
            <a:pPr marL="720000" lvl="1" indent="-457200">
              <a:spcBef>
                <a:spcPts val="600"/>
              </a:spcBef>
              <a:buClr>
                <a:srgbClr val="0070C0"/>
              </a:buClr>
              <a:buFont typeface="+mj-lt"/>
              <a:buAutoNum type="arabicPeriod"/>
            </a:pPr>
            <a:r>
              <a:rPr lang="fr-FR" sz="2300" b="0" dirty="0">
                <a:latin typeface="Segoe UI" pitchFamily="34" charset="0"/>
              </a:rPr>
              <a:t>Installez les fichiers en exécutant la commande</a:t>
            </a:r>
            <a:br>
              <a:rPr dirty="0"/>
            </a:br>
            <a:r>
              <a:rPr lang="fr-FR" sz="2300" dirty="0">
                <a:latin typeface="Segoe UI" pitchFamily="34" charset="0"/>
              </a:rPr>
              <a:t>Install-</a:t>
            </a:r>
            <a:r>
              <a:rPr lang="fr-FR" sz="2300" dirty="0" err="1">
                <a:latin typeface="Segoe UI" pitchFamily="34" charset="0"/>
              </a:rPr>
              <a:t>WindowsFeature</a:t>
            </a:r>
            <a:r>
              <a:rPr lang="fr-FR" sz="2300" dirty="0">
                <a:latin typeface="Segoe UI" pitchFamily="34" charset="0"/>
              </a:rPr>
              <a:t> AD-Domain-Services.</a:t>
            </a:r>
          </a:p>
          <a:p>
            <a:pPr marL="720000" lvl="1" indent="-457200">
              <a:spcBef>
                <a:spcPts val="600"/>
              </a:spcBef>
              <a:buClr>
                <a:srgbClr val="0070C0"/>
              </a:buClr>
              <a:buFont typeface="+mj-lt"/>
              <a:buAutoNum type="arabicPeriod"/>
            </a:pPr>
            <a:r>
              <a:rPr lang="fr-FR" sz="2300" b="0" dirty="0">
                <a:latin typeface="Segoe UI" pitchFamily="34" charset="0"/>
              </a:rPr>
              <a:t>Installer le rôle de contrôleur de domaine en exécutant la commande </a:t>
            </a:r>
            <a:r>
              <a:rPr lang="fr-FR" sz="2300" dirty="0">
                <a:latin typeface="Segoe UI" pitchFamily="34" charset="0"/>
              </a:rPr>
              <a:t>Install-</a:t>
            </a:r>
            <a:r>
              <a:rPr lang="fr-FR" sz="2300" dirty="0" err="1">
                <a:latin typeface="Segoe UI" pitchFamily="34" charset="0"/>
              </a:rPr>
              <a:t>ADDSDomainController</a:t>
            </a:r>
            <a:r>
              <a:rPr lang="fr-FR" sz="2300" dirty="0">
                <a:latin typeface="Segoe UI" pitchFamily="34" charset="0"/>
              </a:rPr>
              <a:t>.</a:t>
            </a:r>
            <a:endParaRPr lang="fr-FR" sz="23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760019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ffe63282-d2f0-48e7-bbdd-4a86c74dbc8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Mise à niveau d’un contrôleur de domaine</a:t>
            </a:r>
          </a:p>
        </p:txBody>
      </p:sp>
      <p:sp>
        <p:nvSpPr>
          <p:cNvPr id="4" name="Rounded Rectangle 3"/>
          <p:cNvSpPr>
            <a:spLocks noChangeArrowheads="1"/>
          </p:cNvSpPr>
          <p:nvPr/>
        </p:nvSpPr>
        <p:spPr bwMode="auto">
          <a:xfrm>
            <a:off x="205908" y="743712"/>
            <a:ext cx="8375515" cy="5795350"/>
          </a:xfrm>
          <a:prstGeom prst="roundRect">
            <a:avLst>
              <a:gd name="adj" fmla="val 8866"/>
            </a:avLst>
          </a:prstGeom>
          <a:noFill/>
          <a:ln w="9525" algn="ctr">
            <a:noFill/>
            <a:round/>
            <a:headEnd/>
            <a:tailEnd/>
          </a:ln>
          <a:effectLst/>
        </p:spPr>
        <p:txBody>
          <a:bodyPr tIns="0" bIns="0" numCol="1" spcCol="274320" anchor="t" anchorCtr="0"/>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90000"/>
              </a:lnSpc>
              <a:spcBef>
                <a:spcPts val="600"/>
              </a:spcBef>
              <a:buClr>
                <a:srgbClr val="006699"/>
              </a:buClr>
            </a:pPr>
            <a:r>
              <a:rPr lang="fr-FR" sz="2000" b="0" dirty="0">
                <a:latin typeface="Segoe UI" pitchFamily="34" charset="0"/>
              </a:rPr>
              <a:t>Options de mise à niveau d’AD DS pour Windows Server 2016 :</a:t>
            </a:r>
            <a:endParaRPr lang="fr-FR" sz="2000" b="0" dirty="0">
              <a:solidFill>
                <a:srgbClr val="000000"/>
              </a:solidFill>
              <a:latin typeface="Segoe UI" pitchFamily="34" charset="0"/>
              <a:ea typeface="Segoe UI" pitchFamily="34" charset="0"/>
              <a:cs typeface="Segoe UI" pitchFamily="34" charset="0"/>
            </a:endParaRPr>
          </a:p>
          <a:p>
            <a:pPr marL="180000" indent="-180000">
              <a:spcBef>
                <a:spcPts val="600"/>
              </a:spcBef>
              <a:buClr>
                <a:srgbClr val="006699"/>
              </a:buClr>
              <a:buFont typeface="Arial" pitchFamily="34" charset="0"/>
              <a:buChar char="•"/>
            </a:pPr>
            <a:r>
              <a:rPr lang="fr-FR" sz="2000" b="0" dirty="0">
                <a:solidFill>
                  <a:srgbClr val="000000"/>
                </a:solidFill>
                <a:latin typeface="Segoe UI" pitchFamily="34" charset="0"/>
              </a:rPr>
              <a:t>Effectuer une mise à niveau sur place de Windows Server 2008 à Windows Server</a:t>
            </a:r>
            <a:r>
              <a:rPr lang="fr-FR" sz="2000" b="0">
                <a:solidFill>
                  <a:srgbClr val="000000"/>
                </a:solidFill>
                <a:latin typeface="Segoe UI" pitchFamily="34" charset="0"/>
              </a:rPr>
              <a:t> 2016.</a:t>
            </a:r>
            <a:endParaRPr lang="fr-FR" sz="2000" b="0" dirty="0">
              <a:solidFill>
                <a:srgbClr val="000000"/>
              </a:solidFill>
              <a:latin typeface="Segoe UI" pitchFamily="34" charset="0"/>
            </a:endParaRPr>
          </a:p>
          <a:p>
            <a:pPr marL="571500" lvl="1" indent="-228600">
              <a:spcBef>
                <a:spcPts val="300"/>
              </a:spcBef>
              <a:buClr>
                <a:srgbClr val="006699"/>
              </a:buClr>
              <a:buFont typeface="Arial" pitchFamily="34" charset="0"/>
              <a:buChar char="•"/>
            </a:pPr>
            <a:r>
              <a:rPr lang="fr-FR" sz="2000" b="0" dirty="0">
                <a:solidFill>
                  <a:srgbClr val="000000"/>
                </a:solidFill>
                <a:latin typeface="Segoe UI" pitchFamily="34" charset="0"/>
              </a:rPr>
              <a:t>Avantage : sauf pour les contrôles préalables, tous les fichiers et programmes restent en place et aucun travail supplémentaire n’est nécessaire</a:t>
            </a:r>
          </a:p>
          <a:p>
            <a:pPr marL="571500" lvl="1" indent="-228600">
              <a:spcBef>
                <a:spcPts val="300"/>
              </a:spcBef>
              <a:buClr>
                <a:srgbClr val="006699"/>
              </a:buClr>
              <a:buFont typeface="Arial" pitchFamily="34" charset="0"/>
              <a:buChar char="•"/>
            </a:pPr>
            <a:r>
              <a:rPr lang="fr-FR" sz="2000" b="0" dirty="0">
                <a:solidFill>
                  <a:srgbClr val="000000"/>
                </a:solidFill>
                <a:latin typeface="Segoe UI" pitchFamily="34" charset="0"/>
              </a:rPr>
              <a:t>Risque : Il peut laisser des fichiers obsolètes et des bibliothèques de liaisons dynamiques (DLL)</a:t>
            </a:r>
          </a:p>
          <a:p>
            <a:pPr marL="571500" lvl="1" indent="-228600">
              <a:spcBef>
                <a:spcPts val="300"/>
              </a:spcBef>
              <a:buClr>
                <a:srgbClr val="006699"/>
              </a:buClr>
              <a:buFont typeface="Arial" pitchFamily="34" charset="0"/>
              <a:buChar char="•"/>
            </a:pPr>
            <a:endParaRPr lang="fr-FR" sz="2000" b="0" dirty="0">
              <a:solidFill>
                <a:srgbClr val="000000"/>
              </a:solidFill>
              <a:latin typeface="Segoe UI" pitchFamily="34" charset="0"/>
              <a:ea typeface="Segoe UI" pitchFamily="34" charset="0"/>
              <a:cs typeface="Segoe UI" pitchFamily="34" charset="0"/>
            </a:endParaRPr>
          </a:p>
          <a:p>
            <a:pPr marL="180000" indent="-180000">
              <a:spcBef>
                <a:spcPts val="600"/>
              </a:spcBef>
              <a:buClr>
                <a:srgbClr val="006699"/>
              </a:buClr>
              <a:buFont typeface="Arial" pitchFamily="34" charset="0"/>
              <a:buChar char="•"/>
            </a:pPr>
            <a:r>
              <a:rPr lang="fr-FR" sz="2000" b="0" dirty="0">
                <a:solidFill>
                  <a:srgbClr val="000000"/>
                </a:solidFill>
                <a:latin typeface="Segoe UI" pitchFamily="34" charset="0"/>
              </a:rPr>
              <a:t>Introduire un nouveau serveur exécutant Windows Server 2016 dans le domaine, puis le promouvoir afin qu’il soit contrôleur de domaine (cette option est généralement préférée) :</a:t>
            </a:r>
          </a:p>
          <a:p>
            <a:pPr marL="571500" lvl="1" indent="-228600">
              <a:spcBef>
                <a:spcPts val="300"/>
              </a:spcBef>
              <a:buClr>
                <a:srgbClr val="006699"/>
              </a:buClr>
              <a:buFont typeface="Arial" pitchFamily="34" charset="0"/>
              <a:buChar char="•"/>
            </a:pPr>
            <a:r>
              <a:rPr lang="fr-FR" sz="2000" b="0" dirty="0">
                <a:solidFill>
                  <a:srgbClr val="000000"/>
                </a:solidFill>
                <a:latin typeface="Segoe UI" pitchFamily="34" charset="0"/>
              </a:rPr>
              <a:t>Avantage : le nouveau serveur n’a pas les fichiers et paramètres obsolètes</a:t>
            </a:r>
          </a:p>
          <a:p>
            <a:pPr marL="571500" lvl="1" indent="-228600">
              <a:spcBef>
                <a:spcPts val="300"/>
              </a:spcBef>
              <a:buClr>
                <a:srgbClr val="006699"/>
              </a:buClr>
              <a:buFont typeface="Arial" pitchFamily="34" charset="0"/>
              <a:buChar char="•"/>
            </a:pPr>
            <a:r>
              <a:rPr lang="fr-FR" sz="2000" b="0" dirty="0">
                <a:solidFill>
                  <a:srgbClr val="000000"/>
                </a:solidFill>
                <a:latin typeface="Segoe UI" pitchFamily="34" charset="0"/>
              </a:rPr>
              <a:t>Risque : la migration des fichiers et des paramètres des administrateurs peut demander un travail supplémentaire</a:t>
            </a:r>
          </a:p>
        </p:txBody>
      </p:sp>
    </p:spTree>
    <p:extLst>
      <p:ext uri="{BB962C8B-B14F-4D97-AF65-F5344CB8AC3E}">
        <p14:creationId xmlns:p14="http://schemas.microsoft.com/office/powerpoint/2010/main" val="1367373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f008e909-817d-4a45-aab5-d12af99dfd76">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9064626" cy="740664"/>
          </a:xfrm>
        </p:spPr>
        <p:txBody>
          <a:bodyPr/>
          <a:lstStyle/>
          <a:p>
            <a:r>
              <a:rPr lang="fr-FR"/>
              <a:t>Installer un contrôleur de domaine en installant des médias</a:t>
            </a:r>
          </a:p>
        </p:txBody>
      </p:sp>
      <p:sp>
        <p:nvSpPr>
          <p:cNvPr id="4" name="TextBox 1"/>
          <p:cNvSpPr txBox="1"/>
          <p:nvPr/>
        </p:nvSpPr>
        <p:spPr>
          <a:xfrm>
            <a:off x="609600" y="994527"/>
            <a:ext cx="8085667" cy="1200329"/>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fr-FR" sz="2400" b="0" dirty="0">
                <a:latin typeface="Segoe UI" pitchFamily="34" charset="0"/>
              </a:rPr>
              <a:t>La section </a:t>
            </a:r>
            <a:r>
              <a:rPr lang="fr-FR" sz="2400" dirty="0">
                <a:latin typeface="Segoe UI" pitchFamily="34" charset="0"/>
              </a:rPr>
              <a:t>Installation à partir d’un support </a:t>
            </a:r>
            <a:r>
              <a:rPr lang="fr-FR" sz="2400" b="0" dirty="0">
                <a:latin typeface="Segoe UI" pitchFamily="34" charset="0"/>
              </a:rPr>
              <a:t>de la page </a:t>
            </a:r>
            <a:r>
              <a:rPr lang="fr-FR" sz="2400" dirty="0">
                <a:latin typeface="Segoe UI" pitchFamily="34" charset="0"/>
              </a:rPr>
              <a:t>Options supplémentaires </a:t>
            </a:r>
            <a:r>
              <a:rPr lang="fr-FR" sz="2400" b="0" dirty="0">
                <a:latin typeface="Segoe UI" pitchFamily="34" charset="0"/>
              </a:rPr>
              <a:t>de l’Assistant de configuration des services de domaine Active Directory</a:t>
            </a:r>
          </a:p>
        </p:txBody>
      </p:sp>
      <p:pic>
        <p:nvPicPr>
          <p:cNvPr id="5" name="Picture 4" descr="La section Installation à partir d’un support de la page Options supplémentaires de l’Assistant de configuration des services de domaine Active Directory. Sous Spécifiez les options IFM, la case Installation depuis un chemin d’accès de support est cochée.&#10;&#10;"/>
          <p:cNvPicPr>
            <a:picLocks noChangeAspect="1"/>
          </p:cNvPicPr>
          <p:nvPr/>
        </p:nvPicPr>
        <p:blipFill>
          <a:blip r:embed="rId3"/>
          <a:stretch>
            <a:fillRect/>
          </a:stretch>
        </p:blipFill>
        <p:spPr>
          <a:xfrm>
            <a:off x="692227" y="2462069"/>
            <a:ext cx="8120063" cy="3052763"/>
          </a:xfrm>
          <a:prstGeom prst="rect">
            <a:avLst/>
          </a:prstGeom>
          <a:ln>
            <a:solidFill>
              <a:schemeClr val="tx1">
                <a:lumMod val="50000"/>
                <a:lumOff val="50000"/>
              </a:schemeClr>
            </a:solidFill>
          </a:ln>
        </p:spPr>
      </p:pic>
    </p:spTree>
    <p:extLst>
      <p:ext uri="{BB962C8B-B14F-4D97-AF65-F5344CB8AC3E}">
        <p14:creationId xmlns:p14="http://schemas.microsoft.com/office/powerpoint/2010/main" val="2509228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006b7d6-5d6e-41ac-9e3e-74b274a3a73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Cloner des contrôleurs de domaine</a:t>
            </a:r>
          </a:p>
        </p:txBody>
      </p:sp>
      <p:sp>
        <p:nvSpPr>
          <p:cNvPr id="4" name="Text Placeholder 2"/>
          <p:cNvSpPr txBox="1">
            <a:spLocks/>
          </p:cNvSpPr>
          <p:nvPr/>
        </p:nvSpPr>
        <p:spPr>
          <a:xfrm>
            <a:off x="381000" y="914400"/>
            <a:ext cx="8534400" cy="5105400"/>
          </a:xfrm>
          <a:prstGeom prst="rect">
            <a:avLst/>
          </a:prstGeom>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85750"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Vous pouvez cloner des contrôleurs de domaine pour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Un déploiement rapide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Les clouds privés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Les stratégies de récupération </a:t>
            </a:r>
          </a:p>
          <a:p>
            <a:pPr marL="285750"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Pour cloner un contrôleur de domaine source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Ajouter le contrôleur de domaine au groupe des Contrôleurs de domaine clonables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Vérifier la compatibilité des applications et des services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Créer un fichier DCCloneConfig.xml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Exporter une fois, puis créer autant de clones que nécessaire </a:t>
            </a:r>
          </a:p>
          <a:p>
            <a:pPr marL="742950" lvl="1" indent="-285750">
              <a:spcBef>
                <a:spcPts val="800"/>
              </a:spcBef>
              <a:buClr>
                <a:srgbClr val="0070C0"/>
              </a:buClr>
              <a:buFont typeface="Arial" panose="020B0604020202020204" pitchFamily="34" charset="0"/>
              <a:buChar char="•"/>
            </a:pPr>
            <a:r>
              <a:rPr lang="fr-FR" sz="2400" b="0" kern="0" dirty="0">
                <a:latin typeface="Segoe UI" panose="020B0502040204020203" pitchFamily="34" charset="0"/>
              </a:rPr>
              <a:t>Démarrer les clones</a:t>
            </a:r>
          </a:p>
          <a:p>
            <a:pPr marL="342900" indent="-342900">
              <a:buClr>
                <a:srgbClr val="0070C0"/>
              </a:buClr>
              <a:buFont typeface="Arial" panose="020B0604020202020204" pitchFamily="34" charset="0"/>
              <a:buChar char="•"/>
            </a:pPr>
            <a:endParaRPr lang="fr-FR" sz="2400" b="0" kern="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66645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0acf0dd9-39e1-43e6-8b21-2f1eb2dfcc2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Cloner des contrôleurs de domaine</a:t>
            </a:r>
          </a:p>
        </p:txBody>
      </p:sp>
      <p:grpSp>
        <p:nvGrpSpPr>
          <p:cNvPr id="4" name="Group 3" descr="Organigramme illustrant le processus qui se produit lorsqu’un contrôleur de domaine nouvellement cloné démarre. Ce qui suit est une description des étapes :&#10;1 Le clone vérifie si un identificateur de génération d’ordinateur virtuel existe. C’est nécessaire et s’il n’y a pas d’identifiant pour la génération de l’ordinateur virtuel, l’ordinateur démarre normalement en l’absence de DCCloneConfig ou alors il renomme DCCloneConfig et redémarre dans Mode restauration des services d’annuaire (DSRM). Une sauvegarde est démarrée dans le DSRM et un administrateur de domaine a besoin de suivre de près le problème et de la résoudre afin de faire fonctionner le contrôleur de domaine comme prévu.&#10;2. Le clone vérifie si l’identificateur de génération d’ordinateur virtuel a changé et prend l’une des actions suivantes, en conséquence :&#10;• S’il n’a pas changé, il est le contrôleur de domaine source d’origine. Si DCCloneConfig existe, il est renommé. Dans les deux cas, un démarrage normal se produit et le contrôleur de domaine est à nouveau fonctionnel.&#10;• S’il a changé, les protections de virtualisation se déclenchent et le processus continue.&#10;3. Le clone vérifie si DCCloneConfig existe. Sinon, une vérification est effectuée pour savoir si une adresse IP existe en double et déterminer s’il faut démarrer normalement ou en DSRM. Si le fichier DCCloneConfig existe, l’ordinateur obtient le nom de l’ordinateur et les paramètres de l’adresse IP à partir du fichier. La base de données AD DS est modifiée et les étapes d’initialisation sont effectuées pour qu’un nouveau contrôleur de domaine soit créé.&#10;"/>
          <p:cNvGrpSpPr/>
          <p:nvPr/>
        </p:nvGrpSpPr>
        <p:grpSpPr>
          <a:xfrm>
            <a:off x="533400" y="862880"/>
            <a:ext cx="8534400" cy="5156920"/>
            <a:chOff x="248972" y="1161654"/>
            <a:chExt cx="8534400" cy="5156920"/>
          </a:xfrm>
        </p:grpSpPr>
        <p:cxnSp>
          <p:nvCxnSpPr>
            <p:cNvPr id="5" name="Straight Arrow Connector 4"/>
            <p:cNvCxnSpPr>
              <a:cxnSpLocks/>
            </p:cNvCxnSpPr>
            <p:nvPr/>
          </p:nvCxnSpPr>
          <p:spPr bwMode="auto">
            <a:xfrm>
              <a:off x="2714464" y="1509499"/>
              <a:ext cx="33119" cy="4373683"/>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cxnSp>
          <p:nvCxnSpPr>
            <p:cNvPr id="6" name="Straight Arrow Connector 5"/>
            <p:cNvCxnSpPr>
              <a:stCxn id="66" idx="1"/>
              <a:endCxn id="64" idx="3"/>
            </p:cNvCxnSpPr>
            <p:nvPr/>
          </p:nvCxnSpPr>
          <p:spPr bwMode="auto">
            <a:xfrm flipH="1">
              <a:off x="1141455" y="5274597"/>
              <a:ext cx="1317317" cy="20734"/>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a:off x="5924499" y="4747214"/>
              <a:ext cx="19551" cy="929162"/>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cxnSp>
          <p:nvCxnSpPr>
            <p:cNvPr id="8" name="Straight Arrow Connector 7"/>
            <p:cNvCxnSpPr>
              <a:endCxn id="61" idx="1"/>
            </p:cNvCxnSpPr>
            <p:nvPr/>
          </p:nvCxnSpPr>
          <p:spPr bwMode="auto">
            <a:xfrm>
              <a:off x="2920669" y="4567106"/>
              <a:ext cx="4877155" cy="41741"/>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cxnSp>
          <p:nvCxnSpPr>
            <p:cNvPr id="9" name="Straight Arrow Connector 8"/>
            <p:cNvCxnSpPr/>
            <p:nvPr/>
          </p:nvCxnSpPr>
          <p:spPr bwMode="auto">
            <a:xfrm>
              <a:off x="6073651" y="2019954"/>
              <a:ext cx="18553" cy="1577996"/>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2896875" y="1849889"/>
              <a:ext cx="4952489" cy="1"/>
            </a:xfrm>
            <a:prstGeom prst="straightConnector1">
              <a:avLst/>
            </a:prstGeom>
            <a:gradFill rotWithShape="1">
              <a:gsLst>
                <a:gs pos="0">
                  <a:srgbClr val="E4CD9A"/>
                </a:gs>
                <a:gs pos="100000">
                  <a:srgbClr val="EEEFD7"/>
                </a:gs>
              </a:gsLst>
              <a:lin ang="2700000" scaled="1"/>
            </a:gradFill>
            <a:ln w="9525" cap="flat" cmpd="sng" algn="ctr">
              <a:solidFill>
                <a:schemeClr val="tx1"/>
              </a:solidFill>
              <a:prstDash val="solid"/>
              <a:round/>
              <a:headEnd type="none" w="med" len="med"/>
              <a:tailEnd type="arrow"/>
            </a:ln>
            <a:effectLst/>
          </p:spPr>
        </p:cxnSp>
        <p:sp>
          <p:nvSpPr>
            <p:cNvPr id="11" name="TextBox 77"/>
            <p:cNvSpPr txBox="1"/>
            <p:nvPr/>
          </p:nvSpPr>
          <p:spPr>
            <a:xfrm>
              <a:off x="1099734" y="1258819"/>
              <a:ext cx="1130438" cy="323165"/>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Démarrage</a:t>
              </a:r>
            </a:p>
          </p:txBody>
        </p:sp>
        <p:sp>
          <p:nvSpPr>
            <p:cNvPr id="12" name="TextBox 78"/>
            <p:cNvSpPr txBox="1"/>
            <p:nvPr/>
          </p:nvSpPr>
          <p:spPr>
            <a:xfrm>
              <a:off x="5170569" y="1693154"/>
              <a:ext cx="574196" cy="338554"/>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itchFamily="34" charset="0"/>
                </a:rPr>
                <a:t>Non</a:t>
              </a:r>
            </a:p>
          </p:txBody>
        </p:sp>
        <p:sp>
          <p:nvSpPr>
            <p:cNvPr id="13" name="TextBox 79"/>
            <p:cNvSpPr txBox="1"/>
            <p:nvPr/>
          </p:nvSpPr>
          <p:spPr>
            <a:xfrm>
              <a:off x="2901449" y="2320550"/>
              <a:ext cx="2986323" cy="553998"/>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Génération d’ordinateur virtuel </a:t>
              </a:r>
            </a:p>
            <a:p>
              <a:pPr fontAlgn="auto">
                <a:spcBef>
                  <a:spcPts val="0"/>
                </a:spcBef>
                <a:spcAft>
                  <a:spcPts val="0"/>
                </a:spcAft>
              </a:pPr>
              <a:r>
                <a:rPr lang="fr-FR" sz="1500" b="0" dirty="0">
                  <a:solidFill>
                    <a:prstClr val="black"/>
                  </a:solidFill>
                  <a:latin typeface="Segoe UI" pitchFamily="34" charset="0"/>
                </a:rPr>
                <a:t>identifiant changé ?</a:t>
              </a:r>
            </a:p>
          </p:txBody>
        </p:sp>
        <p:sp>
          <p:nvSpPr>
            <p:cNvPr id="14" name="TextBox 80"/>
            <p:cNvSpPr txBox="1"/>
            <p:nvPr/>
          </p:nvSpPr>
          <p:spPr>
            <a:xfrm>
              <a:off x="7106251" y="1670374"/>
              <a:ext cx="574196" cy="338554"/>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anose="020B0502040204020203" pitchFamily="34" charset="0"/>
                  <a:cs typeface="Segoe UI" panose="020B0502040204020203" pitchFamily="34" charset="0"/>
                </a:rPr>
                <a:t>Non</a:t>
              </a:r>
              <a:endParaRPr lang="fr-FR" sz="1400" b="0" dirty="0">
                <a:solidFill>
                  <a:prstClr val="black"/>
                </a:solidFill>
                <a:latin typeface="Segoe UI" panose="020B0502040204020203" pitchFamily="34" charset="0"/>
                <a:cs typeface="Segoe UI" panose="020B0502040204020203" pitchFamily="34" charset="0"/>
              </a:endParaRPr>
            </a:p>
          </p:txBody>
        </p:sp>
        <p:sp>
          <p:nvSpPr>
            <p:cNvPr id="15" name="TextBox 81"/>
            <p:cNvSpPr txBox="1"/>
            <p:nvPr/>
          </p:nvSpPr>
          <p:spPr>
            <a:xfrm>
              <a:off x="5832276" y="2404466"/>
              <a:ext cx="463588"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anose="020B0502040204020203" pitchFamily="34" charset="0"/>
                  <a:cs typeface="Segoe UI" panose="020B0502040204020203" pitchFamily="34" charset="0"/>
                </a:rPr>
                <a:t>Oui</a:t>
              </a:r>
            </a:p>
          </p:txBody>
        </p:sp>
        <p:sp>
          <p:nvSpPr>
            <p:cNvPr id="16" name="TextBox 82"/>
            <p:cNvSpPr txBox="1"/>
            <p:nvPr/>
          </p:nvSpPr>
          <p:spPr>
            <a:xfrm>
              <a:off x="6073651" y="1953758"/>
              <a:ext cx="1481111"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DCCloneConfig</a:t>
              </a:r>
            </a:p>
            <a:p>
              <a:pPr fontAlgn="auto">
                <a:spcBef>
                  <a:spcPts val="0"/>
                </a:spcBef>
                <a:spcAft>
                  <a:spcPts val="0"/>
                </a:spcAft>
              </a:pPr>
              <a:r>
                <a:rPr lang="fr-FR" sz="1500" b="0" dirty="0">
                  <a:solidFill>
                    <a:prstClr val="black"/>
                  </a:solidFill>
                  <a:latin typeface="Segoe UI" pitchFamily="34" charset="0"/>
                </a:rPr>
                <a:t>existe ?</a:t>
              </a:r>
            </a:p>
          </p:txBody>
        </p:sp>
        <p:sp>
          <p:nvSpPr>
            <p:cNvPr id="17" name="TextBox 83"/>
            <p:cNvSpPr txBox="1"/>
            <p:nvPr/>
          </p:nvSpPr>
          <p:spPr>
            <a:xfrm>
              <a:off x="6364796" y="3038306"/>
              <a:ext cx="1502334"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Renommer </a:t>
              </a:r>
            </a:p>
            <a:p>
              <a:pPr fontAlgn="auto">
                <a:spcBef>
                  <a:spcPts val="0"/>
                </a:spcBef>
                <a:spcAft>
                  <a:spcPts val="0"/>
                </a:spcAft>
              </a:pPr>
              <a:r>
                <a:rPr lang="fr-FR" sz="1500" b="0" dirty="0">
                  <a:solidFill>
                    <a:prstClr val="black"/>
                  </a:solidFill>
                  <a:latin typeface="Segoe UI" pitchFamily="34" charset="0"/>
                </a:rPr>
                <a:t>DDCloneConfig</a:t>
              </a:r>
            </a:p>
          </p:txBody>
        </p:sp>
        <p:sp>
          <p:nvSpPr>
            <p:cNvPr id="18" name="TextBox 84"/>
            <p:cNvSpPr txBox="1"/>
            <p:nvPr/>
          </p:nvSpPr>
          <p:spPr>
            <a:xfrm>
              <a:off x="7652934" y="1981920"/>
              <a:ext cx="1130438"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Normale</a:t>
              </a:r>
            </a:p>
            <a:p>
              <a:pPr fontAlgn="auto">
                <a:spcBef>
                  <a:spcPts val="0"/>
                </a:spcBef>
                <a:spcAft>
                  <a:spcPts val="0"/>
                </a:spcAft>
              </a:pPr>
              <a:r>
                <a:rPr lang="fr-FR" sz="1500" b="0" dirty="0">
                  <a:solidFill>
                    <a:prstClr val="black"/>
                  </a:solidFill>
                  <a:latin typeface="Segoe UI" pitchFamily="34" charset="0"/>
                </a:rPr>
                <a:t>Démarrage</a:t>
              </a:r>
            </a:p>
          </p:txBody>
        </p:sp>
        <p:sp>
          <p:nvSpPr>
            <p:cNvPr id="19" name="TextBox 85"/>
            <p:cNvSpPr txBox="1"/>
            <p:nvPr/>
          </p:nvSpPr>
          <p:spPr>
            <a:xfrm>
              <a:off x="5744306" y="3982330"/>
              <a:ext cx="1173847"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Redémarrer</a:t>
              </a:r>
            </a:p>
            <a:p>
              <a:pPr fontAlgn="auto">
                <a:spcBef>
                  <a:spcPts val="0"/>
                </a:spcBef>
                <a:spcAft>
                  <a:spcPts val="0"/>
                </a:spcAft>
              </a:pPr>
              <a:r>
                <a:rPr lang="fr-FR" sz="1500" b="0" dirty="0">
                  <a:solidFill>
                    <a:prstClr val="black"/>
                  </a:solidFill>
                  <a:latin typeface="Segoe UI" pitchFamily="34" charset="0"/>
                </a:rPr>
                <a:t>DSRM </a:t>
              </a:r>
            </a:p>
          </p:txBody>
        </p:sp>
        <p:sp>
          <p:nvSpPr>
            <p:cNvPr id="20" name="TextBox 86"/>
            <p:cNvSpPr txBox="1"/>
            <p:nvPr/>
          </p:nvSpPr>
          <p:spPr>
            <a:xfrm>
              <a:off x="2516763" y="3038306"/>
              <a:ext cx="463588"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Oui</a:t>
              </a:r>
            </a:p>
          </p:txBody>
        </p:sp>
        <p:sp>
          <p:nvSpPr>
            <p:cNvPr id="21" name="TextBox 87"/>
            <p:cNvSpPr txBox="1"/>
            <p:nvPr/>
          </p:nvSpPr>
          <p:spPr>
            <a:xfrm>
              <a:off x="3012573" y="3283794"/>
              <a:ext cx="1405321" cy="784830"/>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Protections de</a:t>
              </a:r>
            </a:p>
            <a:p>
              <a:pPr fontAlgn="auto">
                <a:spcBef>
                  <a:spcPts val="0"/>
                </a:spcBef>
                <a:spcAft>
                  <a:spcPts val="0"/>
                </a:spcAft>
              </a:pPr>
              <a:r>
                <a:rPr lang="fr-FR" sz="1500" b="0" dirty="0">
                  <a:solidFill>
                    <a:prstClr val="black"/>
                  </a:solidFill>
                  <a:latin typeface="Segoe UI" pitchFamily="34" charset="0"/>
                </a:rPr>
                <a:t>virtualisation </a:t>
              </a:r>
            </a:p>
            <a:p>
              <a:pPr fontAlgn="auto">
                <a:spcBef>
                  <a:spcPts val="0"/>
                </a:spcBef>
                <a:spcAft>
                  <a:spcPts val="0"/>
                </a:spcAft>
              </a:pPr>
              <a:r>
                <a:rPr lang="fr-FR" sz="1500" b="0" dirty="0">
                  <a:solidFill>
                    <a:prstClr val="black"/>
                  </a:solidFill>
                  <a:latin typeface="Segoe UI" pitchFamily="34" charset="0"/>
                </a:rPr>
                <a:t>déclenchées</a:t>
              </a:r>
            </a:p>
          </p:txBody>
        </p:sp>
        <p:sp>
          <p:nvSpPr>
            <p:cNvPr id="22" name="TextBox 88"/>
            <p:cNvSpPr txBox="1"/>
            <p:nvPr/>
          </p:nvSpPr>
          <p:spPr>
            <a:xfrm>
              <a:off x="2901270" y="4309089"/>
              <a:ext cx="1481111"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DCCloneConfig</a:t>
              </a:r>
            </a:p>
            <a:p>
              <a:pPr fontAlgn="auto">
                <a:spcBef>
                  <a:spcPts val="0"/>
                </a:spcBef>
                <a:spcAft>
                  <a:spcPts val="0"/>
                </a:spcAft>
              </a:pPr>
              <a:r>
                <a:rPr lang="fr-FR" sz="1500" b="0" dirty="0">
                  <a:solidFill>
                    <a:prstClr val="black"/>
                  </a:solidFill>
                  <a:latin typeface="Segoe UI" pitchFamily="34" charset="0"/>
                </a:rPr>
                <a:t>existe ?</a:t>
              </a:r>
            </a:p>
          </p:txBody>
        </p:sp>
        <p:sp>
          <p:nvSpPr>
            <p:cNvPr id="23" name="TextBox 89"/>
            <p:cNvSpPr txBox="1"/>
            <p:nvPr/>
          </p:nvSpPr>
          <p:spPr>
            <a:xfrm>
              <a:off x="4744772" y="4413574"/>
              <a:ext cx="574196" cy="338554"/>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itchFamily="34" charset="0"/>
                </a:rPr>
                <a:t>Non</a:t>
              </a:r>
            </a:p>
          </p:txBody>
        </p:sp>
        <p:sp>
          <p:nvSpPr>
            <p:cNvPr id="24" name="TextBox 90"/>
            <p:cNvSpPr txBox="1"/>
            <p:nvPr/>
          </p:nvSpPr>
          <p:spPr>
            <a:xfrm>
              <a:off x="6735514" y="4413574"/>
              <a:ext cx="574196" cy="338554"/>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anose="020B0502040204020203" pitchFamily="34" charset="0"/>
                  <a:cs typeface="Segoe UI" panose="020B0502040204020203" pitchFamily="34" charset="0"/>
                </a:rPr>
                <a:t>Non</a:t>
              </a:r>
              <a:endParaRPr lang="fr-FR" sz="1400" b="0" dirty="0">
                <a:solidFill>
                  <a:prstClr val="black"/>
                </a:solidFill>
                <a:latin typeface="Segoe UI" panose="020B0502040204020203" pitchFamily="34" charset="0"/>
                <a:cs typeface="Segoe UI" panose="020B0502040204020203" pitchFamily="34" charset="0"/>
              </a:endParaRPr>
            </a:p>
          </p:txBody>
        </p:sp>
        <p:sp>
          <p:nvSpPr>
            <p:cNvPr id="25" name="TextBox 91"/>
            <p:cNvSpPr txBox="1"/>
            <p:nvPr/>
          </p:nvSpPr>
          <p:spPr>
            <a:xfrm>
              <a:off x="7640372" y="4773976"/>
              <a:ext cx="1130438"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Normale</a:t>
              </a:r>
            </a:p>
            <a:p>
              <a:pPr fontAlgn="auto">
                <a:spcBef>
                  <a:spcPts val="0"/>
                </a:spcBef>
                <a:spcAft>
                  <a:spcPts val="0"/>
                </a:spcAft>
              </a:pPr>
              <a:r>
                <a:rPr lang="fr-FR" sz="1500" b="0" dirty="0">
                  <a:solidFill>
                    <a:prstClr val="black"/>
                  </a:solidFill>
                  <a:latin typeface="Segoe UI" pitchFamily="34" charset="0"/>
                </a:rPr>
                <a:t>Démarrage</a:t>
              </a:r>
            </a:p>
          </p:txBody>
        </p:sp>
        <p:sp>
          <p:nvSpPr>
            <p:cNvPr id="26" name="TextBox 92"/>
            <p:cNvSpPr txBox="1"/>
            <p:nvPr/>
          </p:nvSpPr>
          <p:spPr>
            <a:xfrm>
              <a:off x="6175303" y="4757473"/>
              <a:ext cx="1290738"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Dupliquer IP </a:t>
              </a:r>
            </a:p>
            <a:p>
              <a:pPr fontAlgn="auto">
                <a:spcBef>
                  <a:spcPts val="0"/>
                </a:spcBef>
                <a:spcAft>
                  <a:spcPts val="0"/>
                </a:spcAft>
              </a:pPr>
              <a:r>
                <a:rPr lang="fr-FR" sz="1500" b="0" dirty="0">
                  <a:solidFill>
                    <a:prstClr val="black"/>
                  </a:solidFill>
                  <a:latin typeface="Segoe UI" pitchFamily="34" charset="0"/>
                </a:rPr>
                <a:t>Adresse ?</a:t>
              </a:r>
            </a:p>
          </p:txBody>
        </p:sp>
        <p:sp>
          <p:nvSpPr>
            <p:cNvPr id="27" name="TextBox 93"/>
            <p:cNvSpPr txBox="1"/>
            <p:nvPr/>
          </p:nvSpPr>
          <p:spPr>
            <a:xfrm>
              <a:off x="5758947" y="5173409"/>
              <a:ext cx="439544"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Calibri"/>
                </a:rPr>
                <a:t>Oui</a:t>
              </a:r>
            </a:p>
          </p:txBody>
        </p:sp>
        <p:sp>
          <p:nvSpPr>
            <p:cNvPr id="28" name="TextBox 94"/>
            <p:cNvSpPr txBox="1"/>
            <p:nvPr/>
          </p:nvSpPr>
          <p:spPr>
            <a:xfrm>
              <a:off x="6243602" y="5707065"/>
              <a:ext cx="1173847"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Redémarrer</a:t>
              </a:r>
            </a:p>
            <a:p>
              <a:pPr fontAlgn="auto">
                <a:spcBef>
                  <a:spcPts val="0"/>
                </a:spcBef>
                <a:spcAft>
                  <a:spcPts val="0"/>
                </a:spcAft>
              </a:pPr>
              <a:r>
                <a:rPr lang="fr-FR" sz="1500" b="0" dirty="0">
                  <a:solidFill>
                    <a:prstClr val="black"/>
                  </a:solidFill>
                  <a:latin typeface="Segoe UI" pitchFamily="34" charset="0"/>
                </a:rPr>
                <a:t>DSRM </a:t>
              </a:r>
            </a:p>
          </p:txBody>
        </p:sp>
        <p:sp>
          <p:nvSpPr>
            <p:cNvPr id="29" name="TextBox 95"/>
            <p:cNvSpPr txBox="1"/>
            <p:nvPr/>
          </p:nvSpPr>
          <p:spPr>
            <a:xfrm>
              <a:off x="2991423" y="5172971"/>
              <a:ext cx="639919" cy="307777"/>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Clone</a:t>
              </a:r>
            </a:p>
          </p:txBody>
        </p:sp>
        <p:sp>
          <p:nvSpPr>
            <p:cNvPr id="30" name="TextBox 96"/>
            <p:cNvSpPr txBox="1"/>
            <p:nvPr/>
          </p:nvSpPr>
          <p:spPr>
            <a:xfrm>
              <a:off x="2490727" y="2027246"/>
              <a:ext cx="463588"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Oui</a:t>
              </a:r>
            </a:p>
          </p:txBody>
        </p:sp>
        <p:sp>
          <p:nvSpPr>
            <p:cNvPr id="31" name="TextBox 97"/>
            <p:cNvSpPr txBox="1"/>
            <p:nvPr/>
          </p:nvSpPr>
          <p:spPr>
            <a:xfrm>
              <a:off x="2325899" y="5493377"/>
              <a:ext cx="713850" cy="323165"/>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Réussi</a:t>
              </a:r>
            </a:p>
          </p:txBody>
        </p:sp>
        <p:sp>
          <p:nvSpPr>
            <p:cNvPr id="32" name="TextBox 98"/>
            <p:cNvSpPr txBox="1"/>
            <p:nvPr/>
          </p:nvSpPr>
          <p:spPr>
            <a:xfrm>
              <a:off x="3028664" y="5883182"/>
              <a:ext cx="1173847" cy="323165"/>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Redémarrer</a:t>
              </a:r>
            </a:p>
          </p:txBody>
        </p:sp>
        <p:sp>
          <p:nvSpPr>
            <p:cNvPr id="33" name="TextBox 99"/>
            <p:cNvSpPr txBox="1"/>
            <p:nvPr/>
          </p:nvSpPr>
          <p:spPr>
            <a:xfrm>
              <a:off x="1680906" y="5131075"/>
              <a:ext cx="638316"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Échec</a:t>
              </a:r>
            </a:p>
          </p:txBody>
        </p:sp>
        <p:sp>
          <p:nvSpPr>
            <p:cNvPr id="34" name="TextBox 100"/>
            <p:cNvSpPr txBox="1"/>
            <p:nvPr/>
          </p:nvSpPr>
          <p:spPr>
            <a:xfrm>
              <a:off x="776232" y="5572691"/>
              <a:ext cx="1173847"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Redémarrer</a:t>
              </a:r>
            </a:p>
            <a:p>
              <a:pPr fontAlgn="auto">
                <a:spcBef>
                  <a:spcPts val="0"/>
                </a:spcBef>
                <a:spcAft>
                  <a:spcPts val="0"/>
                </a:spcAft>
              </a:pPr>
              <a:r>
                <a:rPr lang="fr-FR" sz="1500" b="0" dirty="0">
                  <a:solidFill>
                    <a:prstClr val="black"/>
                  </a:solidFill>
                  <a:latin typeface="Segoe UI" pitchFamily="34" charset="0"/>
                </a:rPr>
                <a:t>DSRM </a:t>
              </a:r>
            </a:p>
          </p:txBody>
        </p:sp>
        <p:cxnSp>
          <p:nvCxnSpPr>
            <p:cNvPr id="35" name="Straight Connector 34"/>
            <p:cNvCxnSpPr/>
            <p:nvPr/>
          </p:nvCxnSpPr>
          <p:spPr>
            <a:xfrm flipH="1">
              <a:off x="2325899" y="2592403"/>
              <a:ext cx="206765" cy="0"/>
            </a:xfrm>
            <a:prstGeom prst="line">
              <a:avLst/>
            </a:prstGeom>
            <a:noFill/>
            <a:ln w="9525" cap="flat" cmpd="sng" algn="ctr">
              <a:solidFill>
                <a:sysClr val="windowText" lastClr="000000"/>
              </a:solidFill>
              <a:prstDash val="solid"/>
            </a:ln>
            <a:effectLst/>
          </p:spPr>
        </p:cxnSp>
        <p:sp>
          <p:nvSpPr>
            <p:cNvPr id="36" name="TextBox 102"/>
            <p:cNvSpPr txBox="1"/>
            <p:nvPr/>
          </p:nvSpPr>
          <p:spPr>
            <a:xfrm>
              <a:off x="1808376" y="2429397"/>
              <a:ext cx="574196" cy="33855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itchFamily="34" charset="0"/>
                </a:rPr>
                <a:t>Non</a:t>
              </a:r>
            </a:p>
          </p:txBody>
        </p:sp>
        <p:cxnSp>
          <p:nvCxnSpPr>
            <p:cNvPr id="37" name="Straight Arrow Connector 36"/>
            <p:cNvCxnSpPr>
              <a:cxnSpLocks/>
            </p:cNvCxnSpPr>
            <p:nvPr/>
          </p:nvCxnSpPr>
          <p:spPr>
            <a:xfrm flipH="1">
              <a:off x="1167822" y="2604319"/>
              <a:ext cx="681350" cy="0"/>
            </a:xfrm>
            <a:prstGeom prst="straightConnector1">
              <a:avLst/>
            </a:prstGeom>
            <a:noFill/>
            <a:ln w="9525" cap="flat" cmpd="sng" algn="ctr">
              <a:solidFill>
                <a:sysClr val="windowText" lastClr="000000"/>
              </a:solidFill>
              <a:prstDash val="solid"/>
              <a:tailEnd type="arrow"/>
            </a:ln>
            <a:effectLst/>
          </p:spPr>
        </p:cxnSp>
        <p:cxnSp>
          <p:nvCxnSpPr>
            <p:cNvPr id="38" name="Straight Connector 37"/>
            <p:cNvCxnSpPr/>
            <p:nvPr/>
          </p:nvCxnSpPr>
          <p:spPr>
            <a:xfrm>
              <a:off x="966291" y="2724433"/>
              <a:ext cx="0" cy="316410"/>
            </a:xfrm>
            <a:prstGeom prst="line">
              <a:avLst/>
            </a:prstGeom>
            <a:noFill/>
            <a:ln w="9525" cap="flat" cmpd="sng" algn="ctr">
              <a:solidFill>
                <a:sysClr val="windowText" lastClr="000000"/>
              </a:solidFill>
              <a:prstDash val="solid"/>
            </a:ln>
            <a:effectLst/>
          </p:spPr>
        </p:cxnSp>
        <p:sp>
          <p:nvSpPr>
            <p:cNvPr id="39" name="TextBox 105"/>
            <p:cNvSpPr txBox="1"/>
            <p:nvPr/>
          </p:nvSpPr>
          <p:spPr>
            <a:xfrm>
              <a:off x="751192" y="3020938"/>
              <a:ext cx="474425" cy="33855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itchFamily="34" charset="0"/>
                </a:rPr>
                <a:t>Oui</a:t>
              </a:r>
            </a:p>
          </p:txBody>
        </p:sp>
        <p:cxnSp>
          <p:nvCxnSpPr>
            <p:cNvPr id="40" name="Straight Arrow Connector 39"/>
            <p:cNvCxnSpPr>
              <a:cxnSpLocks/>
              <a:stCxn id="39" idx="2"/>
            </p:cNvCxnSpPr>
            <p:nvPr/>
          </p:nvCxnSpPr>
          <p:spPr>
            <a:xfrm flipH="1">
              <a:off x="966291" y="3359492"/>
              <a:ext cx="22114" cy="154917"/>
            </a:xfrm>
            <a:prstGeom prst="straightConnector1">
              <a:avLst/>
            </a:prstGeom>
            <a:noFill/>
            <a:ln w="9525" cap="flat" cmpd="sng" algn="ctr">
              <a:solidFill>
                <a:sysClr val="windowText" lastClr="000000"/>
              </a:solidFill>
              <a:prstDash val="solid"/>
              <a:tailEnd type="arrow"/>
            </a:ln>
            <a:effectLst/>
          </p:spPr>
        </p:cxnSp>
        <p:sp>
          <p:nvSpPr>
            <p:cNvPr id="41" name="TextBox 107"/>
            <p:cNvSpPr txBox="1"/>
            <p:nvPr/>
          </p:nvSpPr>
          <p:spPr>
            <a:xfrm>
              <a:off x="1192812" y="3475340"/>
              <a:ext cx="1502334"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Renommer </a:t>
              </a:r>
            </a:p>
            <a:p>
              <a:pPr fontAlgn="auto">
                <a:spcBef>
                  <a:spcPts val="0"/>
                </a:spcBef>
                <a:spcAft>
                  <a:spcPts val="0"/>
                </a:spcAft>
              </a:pPr>
              <a:r>
                <a:rPr lang="fr-FR" sz="1500" b="0" dirty="0">
                  <a:solidFill>
                    <a:prstClr val="black"/>
                  </a:solidFill>
                  <a:latin typeface="Segoe UI" pitchFamily="34" charset="0"/>
                </a:rPr>
                <a:t>DDCloneConfig</a:t>
              </a:r>
            </a:p>
          </p:txBody>
        </p:sp>
        <p:cxnSp>
          <p:nvCxnSpPr>
            <p:cNvPr id="42" name="Straight Arrow Connector 41"/>
            <p:cNvCxnSpPr/>
            <p:nvPr/>
          </p:nvCxnSpPr>
          <p:spPr>
            <a:xfrm>
              <a:off x="966291" y="3728648"/>
              <a:ext cx="0" cy="440734"/>
            </a:xfrm>
            <a:prstGeom prst="straightConnector1">
              <a:avLst/>
            </a:prstGeom>
            <a:noFill/>
            <a:ln w="9525" cap="flat" cmpd="sng" algn="ctr">
              <a:solidFill>
                <a:sysClr val="windowText" lastClr="000000"/>
              </a:solidFill>
              <a:prstDash val="solid"/>
              <a:tailEnd type="arrow"/>
            </a:ln>
            <a:effectLst/>
          </p:spPr>
        </p:cxnSp>
        <p:sp>
          <p:nvSpPr>
            <p:cNvPr id="43" name="TextBox 109"/>
            <p:cNvSpPr txBox="1"/>
            <p:nvPr/>
          </p:nvSpPr>
          <p:spPr>
            <a:xfrm>
              <a:off x="1263057" y="4133726"/>
              <a:ext cx="1130438" cy="553998"/>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Normale</a:t>
              </a:r>
            </a:p>
            <a:p>
              <a:pPr fontAlgn="auto">
                <a:spcBef>
                  <a:spcPts val="0"/>
                </a:spcBef>
                <a:spcAft>
                  <a:spcPts val="0"/>
                </a:spcAft>
              </a:pPr>
              <a:r>
                <a:rPr lang="fr-FR" sz="1500" b="0" dirty="0">
                  <a:solidFill>
                    <a:prstClr val="black"/>
                  </a:solidFill>
                  <a:latin typeface="Segoe UI" pitchFamily="34" charset="0"/>
                </a:rPr>
                <a:t>Démarrage</a:t>
              </a:r>
            </a:p>
          </p:txBody>
        </p:sp>
        <p:cxnSp>
          <p:nvCxnSpPr>
            <p:cNvPr id="44" name="Elbow Connector 43"/>
            <p:cNvCxnSpPr/>
            <p:nvPr/>
          </p:nvCxnSpPr>
          <p:spPr>
            <a:xfrm rot="10800000" flipV="1">
              <a:off x="549298" y="2592402"/>
              <a:ext cx="245181" cy="739207"/>
            </a:xfrm>
            <a:prstGeom prst="bentConnector2">
              <a:avLst/>
            </a:prstGeom>
            <a:noFill/>
            <a:ln w="9525" cap="flat" cmpd="sng" algn="ctr">
              <a:solidFill>
                <a:sysClr val="windowText" lastClr="000000"/>
              </a:solidFill>
              <a:prstDash val="solid"/>
            </a:ln>
            <a:effectLst/>
          </p:spPr>
        </p:cxnSp>
        <p:sp>
          <p:nvSpPr>
            <p:cNvPr id="45" name="TextBox 111"/>
            <p:cNvSpPr txBox="1"/>
            <p:nvPr/>
          </p:nvSpPr>
          <p:spPr>
            <a:xfrm>
              <a:off x="248972" y="3228617"/>
              <a:ext cx="574196" cy="338554"/>
            </a:xfrm>
            <a:prstGeom prst="rect">
              <a:avLst/>
            </a:prstGeom>
            <a:no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600" b="0" dirty="0">
                  <a:solidFill>
                    <a:prstClr val="black"/>
                  </a:solidFill>
                  <a:latin typeface="Segoe UI" pitchFamily="34" charset="0"/>
                </a:rPr>
                <a:t>Non</a:t>
              </a:r>
            </a:p>
          </p:txBody>
        </p:sp>
        <p:cxnSp>
          <p:nvCxnSpPr>
            <p:cNvPr id="46" name="Elbow Connector 45"/>
            <p:cNvCxnSpPr/>
            <p:nvPr/>
          </p:nvCxnSpPr>
          <p:spPr>
            <a:xfrm rot="16200000" flipH="1">
              <a:off x="304260" y="3842331"/>
              <a:ext cx="683461" cy="194698"/>
            </a:xfrm>
            <a:prstGeom prst="bentConnector2">
              <a:avLst/>
            </a:prstGeom>
            <a:noFill/>
            <a:ln w="9525" cap="flat" cmpd="sng" algn="ctr">
              <a:solidFill>
                <a:sysClr val="windowText" lastClr="000000"/>
              </a:solidFill>
              <a:prstDash val="solid"/>
              <a:tailEnd type="arrow"/>
            </a:ln>
            <a:effectLst/>
          </p:spPr>
        </p:cxnSp>
        <p:cxnSp>
          <p:nvCxnSpPr>
            <p:cNvPr id="47" name="Straight Connector 46"/>
            <p:cNvCxnSpPr>
              <a:stCxn id="30" idx="0"/>
              <a:endCxn id="30" idx="0"/>
            </p:cNvCxnSpPr>
            <p:nvPr/>
          </p:nvCxnSpPr>
          <p:spPr bwMode="auto">
            <a:xfrm>
              <a:off x="2722521" y="2027246"/>
              <a:ext cx="0" cy="0"/>
            </a:xfrm>
            <a:prstGeom prst="line">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p:spPr>
        </p:cxnSp>
        <p:cxnSp>
          <p:nvCxnSpPr>
            <p:cNvPr id="48" name="Straight Connector 47"/>
            <p:cNvCxnSpPr/>
            <p:nvPr/>
          </p:nvCxnSpPr>
          <p:spPr bwMode="auto">
            <a:xfrm>
              <a:off x="2688575" y="1418802"/>
              <a:ext cx="824698" cy="792183"/>
            </a:xfrm>
            <a:prstGeom prst="line">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p:spPr>
        </p:cxnSp>
        <p:sp>
          <p:nvSpPr>
            <p:cNvPr id="49" name="TextBox 115"/>
            <p:cNvSpPr txBox="1"/>
            <p:nvPr/>
          </p:nvSpPr>
          <p:spPr>
            <a:xfrm>
              <a:off x="2551991" y="3994424"/>
              <a:ext cx="463588" cy="307777"/>
            </a:xfrm>
            <a:prstGeom prst="rect">
              <a:avLst/>
            </a:prstGeom>
            <a:solidFill>
              <a:schemeClr val="bg1"/>
            </a:solidFill>
          </p:spPr>
          <p:txBody>
            <a:bodyPr wrap="non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Oui</a:t>
              </a:r>
            </a:p>
          </p:txBody>
        </p:sp>
        <p:sp>
          <p:nvSpPr>
            <p:cNvPr id="50" name="TextBox 116"/>
            <p:cNvSpPr txBox="1"/>
            <p:nvPr/>
          </p:nvSpPr>
          <p:spPr>
            <a:xfrm>
              <a:off x="2551990" y="4863348"/>
              <a:ext cx="882621" cy="307777"/>
            </a:xfrm>
            <a:prstGeom prst="rect">
              <a:avLst/>
            </a:prstGeom>
            <a:solidFill>
              <a:schemeClr val="bg1"/>
            </a:solid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400" b="0" dirty="0">
                  <a:solidFill>
                    <a:prstClr val="black"/>
                  </a:solidFill>
                  <a:latin typeface="Segoe UI" pitchFamily="34" charset="0"/>
                </a:rPr>
                <a:t>Oui</a:t>
              </a:r>
            </a:p>
          </p:txBody>
        </p:sp>
        <p:cxnSp>
          <p:nvCxnSpPr>
            <p:cNvPr id="51" name="Straight Arrow Connector 50"/>
            <p:cNvCxnSpPr/>
            <p:nvPr/>
          </p:nvCxnSpPr>
          <p:spPr bwMode="auto">
            <a:xfrm>
              <a:off x="6067763" y="2000364"/>
              <a:ext cx="824698" cy="792183"/>
            </a:xfrm>
            <a:prstGeom prst="straightConnector1">
              <a:avLst/>
            </a:prstGeom>
            <a:gradFill rotWithShape="1">
              <a:gsLst>
                <a:gs pos="0">
                  <a:srgbClr val="E4CD9A"/>
                </a:gs>
                <a:gs pos="100000">
                  <a:srgbClr val="EEEFD7"/>
                </a:gs>
              </a:gsLst>
              <a:lin ang="2700000" scaled="1"/>
            </a:gradFill>
            <a:ln w="9525" cap="flat" cmpd="sng" algn="ctr">
              <a:noFill/>
              <a:prstDash val="solid"/>
              <a:round/>
              <a:headEnd type="none" w="med" len="med"/>
              <a:tailEnd type="arrow"/>
            </a:ln>
            <a:effectLst>
              <a:outerShdw dist="35921" dir="2700000" algn="ctr" rotWithShape="0">
                <a:srgbClr val="AFAFAF"/>
              </a:outerShdw>
            </a:effectLst>
          </p:spPr>
        </p:cxnSp>
        <p:sp>
          <p:nvSpPr>
            <p:cNvPr id="52" name="Oval 51"/>
            <p:cNvSpPr/>
            <p:nvPr/>
          </p:nvSpPr>
          <p:spPr>
            <a:xfrm>
              <a:off x="2516763" y="1161654"/>
              <a:ext cx="404162" cy="379155"/>
            </a:xfrm>
            <a:prstGeom prst="ellipse">
              <a:avLst/>
            </a:prstGeom>
            <a:solidFill>
              <a:srgbClr val="7FB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3" name="Isosceles Triangle 52"/>
            <p:cNvSpPr/>
            <p:nvPr/>
          </p:nvSpPr>
          <p:spPr>
            <a:xfrm>
              <a:off x="2527735" y="1674443"/>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4" name="Isosceles Triangle 53"/>
            <p:cNvSpPr/>
            <p:nvPr/>
          </p:nvSpPr>
          <p:spPr>
            <a:xfrm>
              <a:off x="776232" y="2331132"/>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5" name="Isosceles Triangle 54"/>
            <p:cNvSpPr/>
            <p:nvPr/>
          </p:nvSpPr>
          <p:spPr>
            <a:xfrm>
              <a:off x="2552604" y="2297490"/>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6" name="Isosceles Triangle 55"/>
            <p:cNvSpPr/>
            <p:nvPr/>
          </p:nvSpPr>
          <p:spPr>
            <a:xfrm>
              <a:off x="5869761" y="1637865"/>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7" name="Isosceles Triangle 56"/>
            <p:cNvSpPr/>
            <p:nvPr/>
          </p:nvSpPr>
          <p:spPr>
            <a:xfrm>
              <a:off x="2566743" y="4252943"/>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8" name="Isosceles Triangle 57"/>
            <p:cNvSpPr/>
            <p:nvPr/>
          </p:nvSpPr>
          <p:spPr>
            <a:xfrm>
              <a:off x="5740466" y="4457804"/>
              <a:ext cx="368065" cy="382089"/>
            </a:xfrm>
            <a:prstGeom prst="triangle">
              <a:avLst/>
            </a:prstGeom>
            <a:solidFill>
              <a:srgbClr val="FCD1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59" name="Rectangle 58"/>
            <p:cNvSpPr/>
            <p:nvPr/>
          </p:nvSpPr>
          <p:spPr>
            <a:xfrm>
              <a:off x="7911527" y="1637865"/>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0" name="Rectangle 59"/>
            <p:cNvSpPr/>
            <p:nvPr/>
          </p:nvSpPr>
          <p:spPr>
            <a:xfrm>
              <a:off x="5905730" y="3607629"/>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1" name="Rectangle 60"/>
            <p:cNvSpPr/>
            <p:nvPr/>
          </p:nvSpPr>
          <p:spPr>
            <a:xfrm>
              <a:off x="7797824" y="4410801"/>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2" name="Rectangle 61"/>
            <p:cNvSpPr/>
            <p:nvPr/>
          </p:nvSpPr>
          <p:spPr>
            <a:xfrm>
              <a:off x="5771972" y="5731637"/>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3" name="Rectangle 62"/>
            <p:cNvSpPr/>
            <p:nvPr/>
          </p:nvSpPr>
          <p:spPr>
            <a:xfrm>
              <a:off x="2547998" y="5922483"/>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4" name="Rectangle 63"/>
            <p:cNvSpPr/>
            <p:nvPr/>
          </p:nvSpPr>
          <p:spPr>
            <a:xfrm>
              <a:off x="735904" y="5097285"/>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5" name="Rectangle 64"/>
            <p:cNvSpPr/>
            <p:nvPr/>
          </p:nvSpPr>
          <p:spPr>
            <a:xfrm>
              <a:off x="775838" y="4194853"/>
              <a:ext cx="405551" cy="396091"/>
            </a:xfrm>
            <a:prstGeom prst="rect">
              <a:avLst/>
            </a:prstGeom>
            <a:solidFill>
              <a:srgbClr val="FF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6" name="Rectangle 65"/>
            <p:cNvSpPr/>
            <p:nvPr/>
          </p:nvSpPr>
          <p:spPr>
            <a:xfrm>
              <a:off x="2458772" y="5175574"/>
              <a:ext cx="581069" cy="198046"/>
            </a:xfrm>
            <a:prstGeom prst="rect">
              <a:avLst/>
            </a:prstGeom>
            <a:solidFill>
              <a:schemeClr val="bg1"/>
            </a:solidFill>
            <a:ln>
              <a:solidFill>
                <a:srgbClr val="BAD8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7" name="Rectangle 66"/>
            <p:cNvSpPr/>
            <p:nvPr/>
          </p:nvSpPr>
          <p:spPr>
            <a:xfrm>
              <a:off x="2460239" y="3542302"/>
              <a:ext cx="581069" cy="198046"/>
            </a:xfrm>
            <a:prstGeom prst="rect">
              <a:avLst/>
            </a:prstGeom>
            <a:solidFill>
              <a:schemeClr val="bg1"/>
            </a:solidFill>
            <a:ln>
              <a:solidFill>
                <a:srgbClr val="BAD8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8" name="Rectangle 67"/>
            <p:cNvSpPr/>
            <p:nvPr/>
          </p:nvSpPr>
          <p:spPr>
            <a:xfrm>
              <a:off x="645990" y="3514409"/>
              <a:ext cx="581069" cy="198046"/>
            </a:xfrm>
            <a:prstGeom prst="rect">
              <a:avLst/>
            </a:prstGeom>
            <a:solidFill>
              <a:schemeClr val="bg1"/>
            </a:solidFill>
            <a:ln>
              <a:solidFill>
                <a:srgbClr val="BAD8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69" name="Rectangle 68"/>
            <p:cNvSpPr/>
            <p:nvPr/>
          </p:nvSpPr>
          <p:spPr>
            <a:xfrm>
              <a:off x="5792392" y="3116196"/>
              <a:ext cx="581069" cy="198046"/>
            </a:xfrm>
            <a:prstGeom prst="rect">
              <a:avLst/>
            </a:prstGeom>
            <a:solidFill>
              <a:schemeClr val="bg1"/>
            </a:solidFill>
            <a:ln>
              <a:solidFill>
                <a:srgbClr val="BAD8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a:endParaRPr lang="en-US" dirty="0"/>
            </a:p>
          </p:txBody>
        </p:sp>
        <p:sp>
          <p:nvSpPr>
            <p:cNvPr id="70" name="TextBox 136"/>
            <p:cNvSpPr txBox="1"/>
            <p:nvPr/>
          </p:nvSpPr>
          <p:spPr>
            <a:xfrm>
              <a:off x="2872528" y="1161654"/>
              <a:ext cx="3624844" cy="553998"/>
            </a:xfrm>
            <a:prstGeom prst="rect">
              <a:avLst/>
            </a:prstGeom>
            <a:noFill/>
          </p:spPr>
          <p:txBody>
            <a:bodyPr wrap="square"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fontAlgn="auto">
                <a:spcBef>
                  <a:spcPts val="0"/>
                </a:spcBef>
                <a:spcAft>
                  <a:spcPts val="0"/>
                </a:spcAft>
              </a:pPr>
              <a:r>
                <a:rPr lang="fr-FR" sz="1500" b="0" dirty="0">
                  <a:solidFill>
                    <a:prstClr val="black"/>
                  </a:solidFill>
                  <a:latin typeface="Segoe UI" pitchFamily="34" charset="0"/>
                </a:rPr>
                <a:t>Ordinateur virtuel</a:t>
              </a:r>
            </a:p>
            <a:p>
              <a:pPr fontAlgn="auto">
                <a:spcBef>
                  <a:spcPts val="0"/>
                </a:spcBef>
                <a:spcAft>
                  <a:spcPts val="0"/>
                </a:spcAft>
              </a:pPr>
              <a:r>
                <a:rPr lang="fr-FR" sz="1500" b="0" dirty="0">
                  <a:solidFill>
                    <a:prstClr val="black"/>
                  </a:solidFill>
                  <a:latin typeface="Segoe UI" pitchFamily="34" charset="0"/>
                </a:rPr>
                <a:t>identificateur de génération existe-t-il ?</a:t>
              </a:r>
            </a:p>
          </p:txBody>
        </p:sp>
      </p:grpSp>
    </p:spTree>
    <p:extLst>
      <p:ext uri="{BB962C8B-B14F-4D97-AF65-F5344CB8AC3E}">
        <p14:creationId xmlns:p14="http://schemas.microsoft.com/office/powerpoint/2010/main" val="3506302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0cee28e0-1dee-4161-a633-05e3ee2f6490">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117569" cy="740664"/>
          </a:xfrm>
        </p:spPr>
        <p:txBody>
          <a:bodyPr/>
          <a:lstStyle/>
          <a:p>
            <a:r>
              <a:rPr lang="fr-FR" dirty="0"/>
              <a:t>Démonstration : Cloner un contrôleur de domaine</a:t>
            </a:r>
          </a:p>
        </p:txBody>
      </p:sp>
      <p:sp>
        <p:nvSpPr>
          <p:cNvPr id="4" name="Content Placeholder 2"/>
          <p:cNvSpPr>
            <a:spLocks noGrp="1"/>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spcBef>
                <a:spcPts val="800"/>
              </a:spcBef>
              <a:buNone/>
            </a:pPr>
            <a:r>
              <a:rPr lang="fr-FR" dirty="0"/>
              <a:t>Dans cette démonstration, vous apprendrez à :</a:t>
            </a:r>
          </a:p>
          <a:p>
            <a:pPr lvl="1">
              <a:spcBef>
                <a:spcPts val="800"/>
              </a:spcBef>
            </a:pPr>
            <a:r>
              <a:rPr lang="fr-FR" dirty="0"/>
              <a:t>Préparer un contrôleur de domaine source à cloner </a:t>
            </a:r>
          </a:p>
          <a:p>
            <a:pPr lvl="1"/>
            <a:r>
              <a:rPr lang="fr-FR" dirty="0"/>
              <a:t>Exporter l’ordinateur virtuel source </a:t>
            </a:r>
          </a:p>
          <a:p>
            <a:pPr lvl="1"/>
            <a:r>
              <a:rPr lang="fr-FR" dirty="0"/>
              <a:t>Créer et démarrer le contrôleur de domaine cloné</a:t>
            </a:r>
          </a:p>
          <a:p>
            <a:endParaRPr lang="fr-FR" dirty="0"/>
          </a:p>
        </p:txBody>
      </p:sp>
    </p:spTree>
    <p:extLst>
      <p:ext uri="{BB962C8B-B14F-4D97-AF65-F5344CB8AC3E}">
        <p14:creationId xmlns:p14="http://schemas.microsoft.com/office/powerpoint/2010/main" val="2168870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25845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86960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2196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66aa9692-4cb2-4f20-a7b5-aea97cec76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Meilleures pratiques pour la virtualisation du contrôleur de domaine</a:t>
            </a:r>
          </a:p>
        </p:txBody>
      </p:sp>
      <p:sp>
        <p:nvSpPr>
          <p:cNvPr id="4" name="Content Placeholder 2"/>
          <p:cNvSpPr>
            <a:spLocks noGrp="1"/>
          </p:cNvSpPr>
          <p:nvPr/>
        </p:nvSpPr>
        <p:spPr bwMode="auto">
          <a:xfrm>
            <a:off x="434512" y="1231608"/>
            <a:ext cx="8119156" cy="37449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spcBef>
                <a:spcPts val="800"/>
              </a:spcBef>
            </a:pPr>
            <a:r>
              <a:rPr lang="fr-FR" sz="2000" dirty="0"/>
              <a:t>Éviter les points de défaillance uniques</a:t>
            </a:r>
          </a:p>
          <a:p>
            <a:pPr>
              <a:spcBef>
                <a:spcPts val="800"/>
              </a:spcBef>
            </a:pPr>
            <a:r>
              <a:rPr lang="fr-FR" sz="2000" dirty="0"/>
              <a:t>Utiliser les services de temps</a:t>
            </a:r>
          </a:p>
          <a:p>
            <a:pPr>
              <a:spcBef>
                <a:spcPts val="800"/>
              </a:spcBef>
            </a:pPr>
            <a:r>
              <a:rPr lang="fr-FR" sz="2000" dirty="0"/>
              <a:t>Utiliser la technologie de virtualisation avec la fonction d’identification de génération d’ordinateur virtuel</a:t>
            </a:r>
          </a:p>
          <a:p>
            <a:pPr>
              <a:spcBef>
                <a:spcPts val="800"/>
              </a:spcBef>
            </a:pPr>
            <a:r>
              <a:rPr lang="fr-FR" sz="2000" dirty="0"/>
              <a:t>Utiliser Windows Server 2012 ou une version ultérieure en tant qu’invités de virtualisation</a:t>
            </a:r>
          </a:p>
          <a:p>
            <a:pPr>
              <a:spcBef>
                <a:spcPts val="800"/>
              </a:spcBef>
            </a:pPr>
            <a:r>
              <a:rPr lang="fr-FR" sz="2000" dirty="0"/>
              <a:t>Éviter ou désactiver les points de contrôle</a:t>
            </a:r>
          </a:p>
          <a:p>
            <a:pPr>
              <a:spcBef>
                <a:spcPts val="800"/>
              </a:spcBef>
            </a:pPr>
            <a:r>
              <a:rPr lang="fr-FR" sz="2000" dirty="0"/>
              <a:t>Penser à améliorer la sécurité</a:t>
            </a:r>
          </a:p>
          <a:p>
            <a:pPr>
              <a:spcBef>
                <a:spcPts val="800"/>
              </a:spcBef>
            </a:pPr>
            <a:r>
              <a:rPr lang="fr-FR" sz="2000" dirty="0"/>
              <a:t>Envisager de tirer profit du clonage dans votre déploiement ou dans votre stratégie de récupération</a:t>
            </a:r>
          </a:p>
          <a:p>
            <a:pPr>
              <a:spcBef>
                <a:spcPts val="800"/>
              </a:spcBef>
            </a:pPr>
            <a:r>
              <a:rPr lang="fr-FR" sz="2000" dirty="0"/>
              <a:t>Lancer au maximum 10 nouveaux clones en même temps</a:t>
            </a:r>
          </a:p>
          <a:p>
            <a:pPr>
              <a:spcBef>
                <a:spcPts val="800"/>
              </a:spcBef>
            </a:pPr>
            <a:r>
              <a:rPr lang="fr-FR" sz="2000" dirty="0"/>
              <a:t>Penser à utiliser les technologies de virtualisation qui permettent aux ordinateurs virtuels invités de se déplacer entre les sites</a:t>
            </a:r>
          </a:p>
          <a:p>
            <a:pPr>
              <a:spcBef>
                <a:spcPts val="800"/>
              </a:spcBef>
            </a:pPr>
            <a:r>
              <a:rPr lang="fr-FR" sz="2000" dirty="0"/>
              <a:t>Ajuster votre stratégie de nommage pour autoriser les clones de contrôleurs de domaine</a:t>
            </a:r>
          </a:p>
          <a:p>
            <a:pPr lvl="1"/>
            <a:endParaRPr lang="fr-FR" sz="2000" dirty="0"/>
          </a:p>
        </p:txBody>
      </p:sp>
    </p:spTree>
    <p:extLst>
      <p:ext uri="{BB962C8B-B14F-4D97-AF65-F5344CB8AC3E}">
        <p14:creationId xmlns:p14="http://schemas.microsoft.com/office/powerpoint/2010/main" val="563208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479ec194-dd4d-46ce-83b2-ce6a4b250fc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600"/>
              <a:t>Atelier pratique : Déploiement et administration d’AD DS</a:t>
            </a:r>
          </a:p>
        </p:txBody>
      </p:sp>
      <p:sp>
        <p:nvSpPr>
          <p:cNvPr id="3" name="Text Placeholder 2"/>
          <p:cNvSpPr>
            <a:spLocks noGrp="1"/>
          </p:cNvSpPr>
          <p:nvPr>
            <p:ph type="body" idx="1"/>
          </p:nvPr>
        </p:nvSpPr>
        <p:spPr>
          <a:xfrm>
            <a:off x="458788" y="838200"/>
            <a:ext cx="8119156" cy="5147356"/>
          </a:xfrm>
        </p:spPr>
        <p:txBody>
          <a:bodyPr/>
          <a:lstStyle/>
          <a:p>
            <a:r>
              <a:rPr lang="fr-FR" sz="2600" dirty="0"/>
              <a:t>Exercice 1 : Déploiement d’AD DS</a:t>
            </a:r>
            <a:r>
              <a:rPr lang="en-US" sz="2600" dirty="0"/>
              <a:t>
</a:t>
            </a:r>
            <a:r>
              <a:rPr lang="fr-FR" sz="2600" dirty="0"/>
              <a:t>Exercice 2 : Déploiement de contrôleurs de domaine en procédant à un clonage du contrôleur de domaine</a:t>
            </a:r>
            <a:r>
              <a:rPr lang="en-US" sz="2600" dirty="0"/>
              <a:t>
</a:t>
            </a:r>
            <a:r>
              <a:rPr lang="fr-FR" sz="2600" dirty="0"/>
              <a:t>Exercice 3 : Administration AD DS</a:t>
            </a:r>
          </a:p>
        </p:txBody>
      </p:sp>
      <p:sp>
        <p:nvSpPr>
          <p:cNvPr id="4" name="TextBox 3"/>
          <p:cNvSpPr txBox="1"/>
          <p:nvPr/>
        </p:nvSpPr>
        <p:spPr>
          <a:xfrm>
            <a:off x="458788" y="2971800"/>
            <a:ext cx="5435462" cy="492443"/>
          </a:xfrm>
          <a:prstGeom prst="rect">
            <a:avLst/>
          </a:prstGeom>
          <a:noFill/>
        </p:spPr>
        <p:txBody>
          <a:bodyPr vert="horz" wrap="none" rtlCol="0">
            <a:spAutoFit/>
          </a:bodyPr>
          <a:lstStyle/>
          <a:p>
            <a:r>
              <a:rPr lang="fr-FR" sz="2600" dirty="0">
                <a:latin typeface="Segoe UI"/>
              </a:rPr>
              <a:t>Informations d’ouverture de session</a:t>
            </a:r>
          </a:p>
        </p:txBody>
      </p:sp>
      <p:sp>
        <p:nvSpPr>
          <p:cNvPr id="5" name="TextBox 4"/>
          <p:cNvSpPr txBox="1"/>
          <p:nvPr/>
        </p:nvSpPr>
        <p:spPr>
          <a:xfrm>
            <a:off x="458788" y="3581400"/>
            <a:ext cx="7475444" cy="2092881"/>
          </a:xfrm>
          <a:prstGeom prst="rect">
            <a:avLst/>
          </a:prstGeom>
          <a:noFill/>
        </p:spPr>
        <p:txBody>
          <a:bodyPr vert="horz" wrap="none" rtlCol="0">
            <a:spAutoFit/>
          </a:bodyPr>
          <a:lstStyle/>
          <a:p>
            <a:r>
              <a:rPr lang="fr-FR" sz="2600" b="0" i="0" u="none" strike="noStrike" baseline="0" dirty="0">
                <a:latin typeface="Segoe UI"/>
              </a:rPr>
              <a:t>Ordinateurs virtuels : </a:t>
            </a:r>
            <a:r>
              <a:rPr lang="en-US" sz="2600" b="0" i="0" u="none" strike="noStrike" baseline="0" dirty="0">
                <a:latin typeface="Segoe UI"/>
              </a:rPr>
              <a:t>	</a:t>
            </a:r>
            <a:r>
              <a:rPr lang="fr-FR" sz="2600" b="1" i="0" u="none" strike="noStrike" baseline="0" dirty="0">
                <a:latin typeface="Segoe UI"/>
              </a:rPr>
              <a:t>22742A-LON-DC1 </a:t>
            </a:r>
          </a:p>
          <a:p>
            <a:r>
              <a:rPr lang="en-US" sz="2600" dirty="0"/>
              <a:t>			        </a:t>
            </a:r>
            <a:r>
              <a:rPr lang="fr-FR" sz="2600" b="1" i="0" u="none" strike="noStrike" baseline="0" dirty="0">
                <a:latin typeface="Segoe UI"/>
              </a:rPr>
              <a:t>22742A-LON-DC2</a:t>
            </a:r>
            <a:endParaRPr lang="fr-FR" sz="2600" b="0" i="0" u="none" strike="noStrike" baseline="0" dirty="0">
              <a:latin typeface="Segoe UI"/>
            </a:endParaRPr>
          </a:p>
          <a:p>
            <a:r>
              <a:rPr lang="en-US" sz="2600" dirty="0"/>
              <a:t>			        </a:t>
            </a:r>
            <a:r>
              <a:rPr lang="fr-FR" sz="2600" b="1" i="0" u="none" strike="noStrike" baseline="0" dirty="0">
                <a:latin typeface="Segoe UI"/>
              </a:rPr>
              <a:t>22742A-LON-SVR1</a:t>
            </a:r>
            <a:endParaRPr lang="fr-FR" sz="2600" b="0" i="0" u="none" strike="noStrike" baseline="0" dirty="0">
              <a:latin typeface="Segoe UI"/>
            </a:endParaRPr>
          </a:p>
          <a:p>
            <a:r>
              <a:rPr lang="fr-FR" sz="2600" b="0" i="0" u="none" strike="noStrike" baseline="0" dirty="0">
                <a:latin typeface="Segoe UI"/>
              </a:rPr>
              <a:t>Nom d’utilisateur : </a:t>
            </a:r>
            <a:r>
              <a:rPr lang="en-US" sz="2600" b="0" i="0" u="none" strike="noStrike" baseline="0" dirty="0">
                <a:latin typeface="Segoe UI"/>
              </a:rPr>
              <a:t>	</a:t>
            </a:r>
            <a:r>
              <a:rPr lang="fr-FR" sz="2600" b="1" i="0" u="none" strike="noStrike" baseline="0" dirty="0" err="1">
                <a:latin typeface="Segoe UI"/>
              </a:rPr>
              <a:t>Adatum</a:t>
            </a:r>
            <a:r>
              <a:rPr lang="fr-FR" sz="2600" b="1" i="0" u="none" strike="noStrike" baseline="0" dirty="0">
                <a:latin typeface="Segoe UI"/>
              </a:rPr>
              <a:t>\Administrator</a:t>
            </a:r>
            <a:endParaRPr lang="fr-FR" sz="2600" b="0" i="0" u="none" strike="noStrike" baseline="0" dirty="0">
              <a:latin typeface="Segoe UI"/>
            </a:endParaRPr>
          </a:p>
          <a:p>
            <a:r>
              <a:rPr lang="fr-FR" sz="2600" b="0" i="0" u="none" strike="noStrike" baseline="0" dirty="0">
                <a:latin typeface="Segoe UI"/>
              </a:rPr>
              <a:t>Mot de passe : </a:t>
            </a:r>
            <a:r>
              <a:rPr lang="en-US" sz="2600" b="0" i="0" u="none" strike="noStrike" baseline="0" dirty="0">
                <a:latin typeface="Segoe UI"/>
              </a:rPr>
              <a:t>		</a:t>
            </a:r>
            <a:r>
              <a:rPr lang="fr-FR" sz="2600" b="1" i="0" u="none" strike="noStrike" baseline="0" dirty="0">
                <a:latin typeface="Segoe UI"/>
              </a:rPr>
              <a:t>Pa$$w0rd</a:t>
            </a:r>
            <a:endParaRPr lang="fr-FR" sz="2600" b="0" i="0" u="none" strike="noStrike" baseline="0" dirty="0">
              <a:latin typeface="Segoe UI"/>
            </a:endParaRPr>
          </a:p>
        </p:txBody>
      </p:sp>
      <p:sp>
        <p:nvSpPr>
          <p:cNvPr id="6" name="TextBox 5"/>
          <p:cNvSpPr txBox="1"/>
          <p:nvPr/>
        </p:nvSpPr>
        <p:spPr>
          <a:xfrm>
            <a:off x="458788" y="6163356"/>
            <a:ext cx="5114092" cy="492443"/>
          </a:xfrm>
          <a:prstGeom prst="rect">
            <a:avLst/>
          </a:prstGeom>
          <a:noFill/>
        </p:spPr>
        <p:txBody>
          <a:bodyPr vert="horz" wrap="none" rtlCol="0">
            <a:spAutoFit/>
          </a:bodyPr>
          <a:lstStyle/>
          <a:p>
            <a:r>
              <a:rPr lang="fr-FR" sz="2600" dirty="0">
                <a:latin typeface="Segoe UI"/>
              </a:rPr>
              <a:t>Durée approximative : 45 minutes</a:t>
            </a:r>
          </a:p>
        </p:txBody>
      </p:sp>
    </p:spTree>
    <p:extLst>
      <p:ext uri="{BB962C8B-B14F-4D97-AF65-F5344CB8AC3E}">
        <p14:creationId xmlns:p14="http://schemas.microsoft.com/office/powerpoint/2010/main" val="1811185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Lab Scenario36763611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2600" dirty="0"/>
              <a:t>Scénario de l’atelier pratique</a:t>
            </a:r>
          </a:p>
        </p:txBody>
      </p:sp>
      <p:sp>
        <p:nvSpPr>
          <p:cNvPr id="4" name="TextBox 3"/>
          <p:cNvSpPr txBox="1"/>
          <p:nvPr/>
        </p:nvSpPr>
        <p:spPr>
          <a:xfrm>
            <a:off x="458788" y="1021215"/>
            <a:ext cx="8119156" cy="5899051"/>
          </a:xfrm>
          <a:prstGeom prst="rect">
            <a:avLst/>
          </a:prstGeom>
          <a:noFill/>
        </p:spPr>
        <p:txBody>
          <a:bodyPr vert="horz" wrap="square" rtlCol="0">
            <a:spAutoFit/>
          </a:bodyPr>
          <a:lstStyle/>
          <a:p>
            <a:pPr>
              <a:spcBef>
                <a:spcPts val="600"/>
              </a:spcBef>
              <a:spcAft>
                <a:spcPts val="1000"/>
              </a:spcAft>
            </a:pPr>
            <a:r>
              <a:rPr lang="fr-FR" sz="2600" dirty="0">
                <a:effectLst/>
                <a:latin typeface="Segoe UI"/>
              </a:rPr>
              <a:t>Vous êtes administrateur informatique à A. Datum Corporation. La société étend ses activités et possède plusieurs nouveaux emplacements. L’équipe d’administration AD DS évalue actuellement les méthodes disponibles dans Windows Server 2016 pour un déploiement rapide et à distance du contrôleur de domaine. En outre, l’équipe cherche un moyen d’automatiser certaines tâches administratives AD DS. L’équipe veut un déploiement rapide et transparent des nouveaux contrôleurs de domaine pour les nouveaux emplacements et elle veut faire la promotion de serveurs auprès de contrôleurs de domaine à partir d’un emplacement central.</a:t>
            </a:r>
          </a:p>
          <a:p>
            <a:pPr>
              <a:spcBef>
                <a:spcPts val="600"/>
              </a:spcBef>
              <a:spcAft>
                <a:spcPts val="1000"/>
              </a:spcAft>
            </a:pPr>
            <a:r>
              <a:rPr lang="fr-FR" sz="2600" dirty="0">
                <a:solidFill>
                  <a:srgbClr val="000000"/>
                </a:solidFill>
                <a:latin typeface="Segoe UI"/>
              </a:rPr>
              <a:t> </a:t>
            </a:r>
            <a:endParaRPr lang="fr-FR" sz="2600" dirty="0">
              <a:effectLst/>
              <a:latin typeface="Segoe UI"/>
              <a:ea typeface="Calibri"/>
              <a:cs typeface="Times New Roman"/>
            </a:endParaRPr>
          </a:p>
        </p:txBody>
      </p:sp>
    </p:spTree>
    <p:extLst>
      <p:ext uri="{BB962C8B-B14F-4D97-AF65-F5344CB8AC3E}">
        <p14:creationId xmlns:p14="http://schemas.microsoft.com/office/powerpoint/2010/main" val="4211983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Contrôle des acquis et éléments à retenir</a:t>
            </a:r>
          </a:p>
        </p:txBody>
      </p:sp>
      <p:sp>
        <p:nvSpPr>
          <p:cNvPr id="3" name="Text Placeholder 2"/>
          <p:cNvSpPr>
            <a:spLocks noGrp="1"/>
          </p:cNvSpPr>
          <p:nvPr>
            <p:ph type="body" idx="1"/>
          </p:nvPr>
        </p:nvSpPr>
        <p:spPr/>
        <p:txBody>
          <a:bodyPr/>
          <a:lstStyle/>
          <a:p>
            <a:r>
              <a:rPr lang="fr-FR" dirty="0"/>
              <a:t>Questions de contrôle des acquis </a:t>
            </a:r>
          </a:p>
          <a:p>
            <a:r>
              <a:rPr lang="fr-FR" dirty="0"/>
              <a:t>Problèmes courants et conseils de résolution des problèmes</a:t>
            </a:r>
          </a:p>
        </p:txBody>
      </p:sp>
    </p:spTree>
    <p:extLst>
      <p:ext uri="{BB962C8B-B14F-4D97-AF65-F5344CB8AC3E}">
        <p14:creationId xmlns:p14="http://schemas.microsoft.com/office/powerpoint/2010/main" val="1995696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6444266"/>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0</TotalTime>
  <Words>2448</Words>
  <Application>Microsoft Office PowerPoint</Application>
  <PresentationFormat>On-screen Show (4:3)</PresentationFormat>
  <Paragraphs>647</Paragraphs>
  <Slides>40</Slides>
  <Notes>40</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Segoe UI</vt:lpstr>
      <vt:lpstr>Arial</vt:lpstr>
      <vt:lpstr>Times New Roman</vt:lpstr>
      <vt:lpstr>Verdana</vt:lpstr>
      <vt:lpstr>Courier New</vt:lpstr>
      <vt:lpstr>Wingdings</vt:lpstr>
      <vt:lpstr>Symbol</vt:lpstr>
      <vt:lpstr>Calibri</vt:lpstr>
      <vt:lpstr>NG_MOC_Core_ModuleNew2</vt:lpstr>
      <vt:lpstr>Module 1</vt:lpstr>
      <vt:lpstr>Vue d’ensemble du module</vt:lpstr>
      <vt:lpstr>Leçon 1 : Vue d’ensemble d’AD DS</vt:lpstr>
      <vt:lpstr>Vue d’ensemble d’AD DS</vt:lpstr>
      <vt:lpstr>Qu’est-ce que le schéma AD DS ?</vt:lpstr>
      <vt:lpstr>Qu’est-ce qu’une forêt AD DS ?</vt:lpstr>
      <vt:lpstr>Qu’est-ce qu’un domaine AD DS ?</vt:lpstr>
      <vt:lpstr>Que sont les UO ?</vt:lpstr>
      <vt:lpstr>Nouveautés d’AD DS dans Windows Server 2016</vt:lpstr>
      <vt:lpstr>Qu’est-ce qu’AD Azure ?</vt:lpstr>
      <vt:lpstr>Vue d’ensemble des outils d’administration AD DS</vt:lpstr>
      <vt:lpstr>Démonstration : Utiliser le Centre d’administration Active Directory pour administrer et gérer AD DS</vt:lpstr>
      <vt:lpstr>PowerPoint Presentation</vt:lpstr>
      <vt:lpstr>PowerPoint Presentation</vt:lpstr>
      <vt:lpstr>Leçon 2 : Vue d’ensemble des contrôleurs de domaine AD DS</vt:lpstr>
      <vt:lpstr>Qu’est-ce qu’un contrôleur de domaine ?</vt:lpstr>
      <vt:lpstr>Qu’est-ce qu’un catalogue global ?</vt:lpstr>
      <vt:lpstr>Vue d’ensemble du contrôleur de domaine des enregistrements SRV</vt:lpstr>
      <vt:lpstr>Démonstration : Affichage des enregistrements SRV dans DNS</vt:lpstr>
      <vt:lpstr>PowerPoint Presentation</vt:lpstr>
      <vt:lpstr>Processus de connexion AD DS</vt:lpstr>
      <vt:lpstr>Que sont les contrôleurs d’opérations ?</vt:lpstr>
      <vt:lpstr>Le transfert et la prise de rôles</vt:lpstr>
      <vt:lpstr>Leçon 3 : Déploiement d’un contrôleur de domaine</vt:lpstr>
      <vt:lpstr>PowerPoint Presentation</vt:lpstr>
      <vt:lpstr>Installer un contrôleur de domaine depuis le Gestionnaire de serveur</vt:lpstr>
      <vt:lpstr>Installer un contrôleur de domaine sur une installation Server Core de Windows Server 2016</vt:lpstr>
      <vt:lpstr>Mise à niveau d’un contrôleur de domaine</vt:lpstr>
      <vt:lpstr>Installer un contrôleur de domaine en installant des médias</vt:lpstr>
      <vt:lpstr>Cloner des contrôleurs de domaine</vt:lpstr>
      <vt:lpstr>Cloner des contrôleurs de domaine</vt:lpstr>
      <vt:lpstr>Démonstration : Cloner un contrôleur de domaine</vt:lpstr>
      <vt:lpstr>PowerPoint Presentation</vt:lpstr>
      <vt:lpstr>PowerPoint Presentation</vt:lpstr>
      <vt:lpstr>PowerPoint Presentation</vt:lpstr>
      <vt:lpstr>Meilleures pratiques pour la virtualisation du contrôleur de domaine</vt:lpstr>
      <vt:lpstr>Atelier pratique : Déploiement et administration d’AD DS</vt:lpstr>
      <vt:lpstr>Scénario de l’atelier pratique</vt:lpstr>
      <vt:lpstr>Contrôle des acquis et éléments à retenir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2016-08-23T03:31:43Z</dcterms:created>
  <dcterms:modified xsi:type="dcterms:W3CDTF">2017-03-16T15:24:56Z</dcterms:modified>
</cp:coreProperties>
</file>